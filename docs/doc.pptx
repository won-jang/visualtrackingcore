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77" r:id="rId6"/>
    <p:sldId id="260" r:id="rId7"/>
    <p:sldId id="261" r:id="rId8"/>
    <p:sldId id="262" r:id="rId9"/>
    <p:sldId id="263" r:id="rId10"/>
    <p:sldId id="264" r:id="rId11"/>
    <p:sldId id="265" r:id="rId12"/>
    <p:sldId id="266" r:id="rId13"/>
    <p:sldId id="267" r:id="rId14"/>
    <p:sldId id="268" r:id="rId15"/>
    <p:sldId id="269" r:id="rId16"/>
    <p:sldId id="271" r:id="rId17"/>
    <p:sldId id="272" r:id="rId18"/>
    <p:sldId id="273" r:id="rId19"/>
    <p:sldId id="274" r:id="rId20"/>
    <p:sldId id="275" r:id="rId21"/>
    <p:sldId id="276" r:id="rId22"/>
    <p:sldId id="278" r:id="rId23"/>
    <p:sldId id="279" r:id="rId24"/>
    <p:sldId id="280" r:id="rId25"/>
    <p:sldId id="281" r:id="rId26"/>
    <p:sldId id="282" r:id="rId27"/>
    <p:sldId id="283" r:id="rId28"/>
    <p:sldId id="284" r:id="rId29"/>
    <p:sldId id="285" r:id="rId30"/>
    <p:sldId id="286"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4232"/>
  </p:normalViewPr>
  <p:slideViewPr>
    <p:cSldViewPr snapToGrid="0">
      <p:cViewPr varScale="1">
        <p:scale>
          <a:sx n="109" d="100"/>
          <a:sy n="109" d="100"/>
        </p:scale>
        <p:origin x="168" y="6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277BCF-4664-F249-B601-020BB9DD71F4}" type="datetimeFigureOut">
              <a:rPr lang="en-US" smtClean="0"/>
              <a:t>9/17/2026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1216D2-D6F4-114F-8434-85056A76A144}" type="slidenum">
              <a:rPr lang="en-US" smtClean="0"/>
              <a:t>‹#›</a:t>
            </a:fld>
            <a:endParaRPr lang="en-US"/>
          </a:p>
        </p:txBody>
      </p:sp>
    </p:spTree>
    <p:extLst>
      <p:ext uri="{BB962C8B-B14F-4D97-AF65-F5344CB8AC3E}">
        <p14:creationId xmlns:p14="http://schemas.microsoft.com/office/powerpoint/2010/main" val="10531560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calibrate each webcam once at the intended operating resolution. That calibration estimates the lens and camera projection characteristics. During tracking, we combine that calibration with the known physical marker size and detected marker corners to estimate 3D head pose.</a:t>
            </a:r>
          </a:p>
        </p:txBody>
      </p:sp>
      <p:sp>
        <p:nvSpPr>
          <p:cNvPr id="4" name="Slide Number Placeholder 3"/>
          <p:cNvSpPr>
            <a:spLocks noGrp="1"/>
          </p:cNvSpPr>
          <p:nvPr>
            <p:ph type="sldNum" sz="quarter" idx="5"/>
          </p:nvPr>
        </p:nvSpPr>
        <p:spPr/>
        <p:txBody>
          <a:bodyPr/>
          <a:lstStyle/>
          <a:p>
            <a:fld id="{6B1216D2-D6F4-114F-8434-85056A76A144}" type="slidenum">
              <a:rPr lang="en-US" smtClean="0"/>
              <a:t>3</a:t>
            </a:fld>
            <a:endParaRPr lang="en-US"/>
          </a:p>
        </p:txBody>
      </p:sp>
    </p:spTree>
    <p:extLst>
      <p:ext uri="{BB962C8B-B14F-4D97-AF65-F5344CB8AC3E}">
        <p14:creationId xmlns:p14="http://schemas.microsoft.com/office/powerpoint/2010/main" val="28054891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MediaPipe</a:t>
            </a:r>
            <a:r>
              <a:rPr lang="en-US" dirty="0"/>
              <a:t> is currently a </a:t>
            </a:r>
            <a:r>
              <a:rPr lang="en-US" dirty="0" err="1"/>
              <a:t>markerless</a:t>
            </a:r>
            <a:r>
              <a:rPr lang="en-US" dirty="0"/>
              <a:t> proof-of-concept. It estimates head yaw from facial landmarks using an approximate camera model. Zero reference removes the forward-facing offset, but its angular accuracy has not yet been calibrated the same way as the </a:t>
            </a:r>
            <a:r>
              <a:rPr lang="en-US" dirty="0" err="1"/>
              <a:t>AprilTag</a:t>
            </a:r>
            <a:r>
              <a:rPr lang="en-US" dirty="0"/>
              <a:t>/</a:t>
            </a:r>
            <a:r>
              <a:rPr lang="en-US" dirty="0" err="1"/>
              <a:t>ArUco</a:t>
            </a:r>
            <a:r>
              <a:rPr lang="en-US" dirty="0"/>
              <a:t> 3D mode.”</a:t>
            </a:r>
          </a:p>
        </p:txBody>
      </p:sp>
      <p:sp>
        <p:nvSpPr>
          <p:cNvPr id="4" name="Slide Number Placeholder 3"/>
          <p:cNvSpPr>
            <a:spLocks noGrp="1"/>
          </p:cNvSpPr>
          <p:nvPr>
            <p:ph type="sldNum" sz="quarter" idx="5"/>
          </p:nvPr>
        </p:nvSpPr>
        <p:spPr/>
        <p:txBody>
          <a:bodyPr/>
          <a:lstStyle/>
          <a:p>
            <a:fld id="{6B1216D2-D6F4-114F-8434-85056A76A144}" type="slidenum">
              <a:rPr lang="en-US" smtClean="0"/>
              <a:t>16</a:t>
            </a:fld>
            <a:endParaRPr lang="en-US"/>
          </a:p>
        </p:txBody>
      </p:sp>
    </p:spTree>
    <p:extLst>
      <p:ext uri="{BB962C8B-B14F-4D97-AF65-F5344CB8AC3E}">
        <p14:creationId xmlns:p14="http://schemas.microsoft.com/office/powerpoint/2010/main" val="2356230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“How can we measure where the participant's head/response is pointing?”</a:t>
            </a:r>
          </a:p>
        </p:txBody>
      </p:sp>
      <p:sp>
        <p:nvSpPr>
          <p:cNvPr id="4" name="Slide Number Placeholder 3"/>
          <p:cNvSpPr>
            <a:spLocks noGrp="1"/>
          </p:cNvSpPr>
          <p:nvPr>
            <p:ph type="sldNum" sz="quarter" idx="5"/>
          </p:nvPr>
        </p:nvSpPr>
        <p:spPr/>
        <p:txBody>
          <a:bodyPr/>
          <a:lstStyle/>
          <a:p>
            <a:fld id="{6B1216D2-D6F4-114F-8434-85056A76A144}" type="slidenum">
              <a:rPr lang="en-US" smtClean="0"/>
              <a:t>19</a:t>
            </a:fld>
            <a:endParaRPr lang="en-US"/>
          </a:p>
        </p:txBody>
      </p:sp>
    </p:spTree>
    <p:extLst>
      <p:ext uri="{BB962C8B-B14F-4D97-AF65-F5344CB8AC3E}">
        <p14:creationId xmlns:p14="http://schemas.microsoft.com/office/powerpoint/2010/main" val="3207534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FE8B8-086B-1075-756B-7CB5C16936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C1BAEA1-C737-9122-1BF4-F8E85DBB2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F35E96A-40A3-5916-FA52-B789C7F5D1A9}"/>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5" name="Footer Placeholder 4">
            <a:extLst>
              <a:ext uri="{FF2B5EF4-FFF2-40B4-BE49-F238E27FC236}">
                <a16:creationId xmlns:a16="http://schemas.microsoft.com/office/drawing/2014/main" id="{76A47947-73C7-5FC2-BFD3-C30281F9CD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3054E8-8C6B-F39C-A151-404DFA3E140D}"/>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2230784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886530-700A-07F1-4966-95F52519D83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81EE81-E0B9-61D9-64FC-E9B752CF81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08897C-50CD-C132-2262-584AAEE6C527}"/>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5" name="Footer Placeholder 4">
            <a:extLst>
              <a:ext uri="{FF2B5EF4-FFF2-40B4-BE49-F238E27FC236}">
                <a16:creationId xmlns:a16="http://schemas.microsoft.com/office/drawing/2014/main" id="{D49D0B79-0D12-0E58-C6E8-E82EA2AE0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492400-357C-3618-54A0-59ABD06B7189}"/>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17497121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5F61C-0537-F716-4BA0-BDFFA1AA8C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137EE0-C3A4-9151-F0D7-3F8666DBB0F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25DFD0-E40E-8EAB-2250-D66ABD278D7B}"/>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5" name="Footer Placeholder 4">
            <a:extLst>
              <a:ext uri="{FF2B5EF4-FFF2-40B4-BE49-F238E27FC236}">
                <a16:creationId xmlns:a16="http://schemas.microsoft.com/office/drawing/2014/main" id="{1CED5A97-3B64-9405-078B-5AEFA4A375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C25ABD-8954-3643-50D4-F810D12EB8EB}"/>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19102060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DC8B1-47F6-C223-0437-62AB83E2A6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817F24-62F0-9CD9-2C7E-491E6A5BA1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82FEBD9-6863-836E-C0FD-5B3F1D3311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262634E-D4B7-377A-BF0B-199E710B93EB}"/>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6" name="Footer Placeholder 5">
            <a:extLst>
              <a:ext uri="{FF2B5EF4-FFF2-40B4-BE49-F238E27FC236}">
                <a16:creationId xmlns:a16="http://schemas.microsoft.com/office/drawing/2014/main" id="{72C999EE-D909-46FC-BFF9-863DF3CF93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E7AD1A-AD58-2BD3-C903-7A23E053E626}"/>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26411224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56DD7-D11F-85E3-92B3-81BEC21259A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F76F1A-BC29-A56E-5103-216FE6B99E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92106F-F746-CEDE-0121-16CA53D277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1C35A8-552A-8462-71F7-0AF170E66E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EA91F7-A02C-EFB5-D91E-4C3E46DE33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0FF884-C4AA-CABD-BDC2-52768603B8A5}"/>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8" name="Footer Placeholder 7">
            <a:extLst>
              <a:ext uri="{FF2B5EF4-FFF2-40B4-BE49-F238E27FC236}">
                <a16:creationId xmlns:a16="http://schemas.microsoft.com/office/drawing/2014/main" id="{4760C4B5-87D2-0A49-AE35-A4C60CC425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1C323B0-9EB4-0740-8BE2-E2A95E3058AB}"/>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29100107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53E4E-0B2C-9A09-6685-5044015EC77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C5E6141-17BD-099C-0BC6-9EB9550C10D3}"/>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4" name="Footer Placeholder 3">
            <a:extLst>
              <a:ext uri="{FF2B5EF4-FFF2-40B4-BE49-F238E27FC236}">
                <a16:creationId xmlns:a16="http://schemas.microsoft.com/office/drawing/2014/main" id="{7C3AB18A-0703-DE71-2327-01BFFA8B6A3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E42F7E-566C-AB57-8F52-020441AD1768}"/>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41865103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31634D-F30C-7D70-F7C8-9284A35668B0}"/>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3" name="Footer Placeholder 2">
            <a:extLst>
              <a:ext uri="{FF2B5EF4-FFF2-40B4-BE49-F238E27FC236}">
                <a16:creationId xmlns:a16="http://schemas.microsoft.com/office/drawing/2014/main" id="{7FB8C0FD-21EE-F856-824F-E80E806A984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75175A1-99F2-5F29-5248-D2AF4290DF17}"/>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3523138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278EB-63E6-ED0A-230F-E580D456E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23BC4B0-18AA-DC26-0D2D-8BF249F652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D3B8C9-3D50-B2F4-5B3A-E4F8604BA2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7155B9-CC5E-0D45-04E3-37568C8A0DA8}"/>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6" name="Footer Placeholder 5">
            <a:extLst>
              <a:ext uri="{FF2B5EF4-FFF2-40B4-BE49-F238E27FC236}">
                <a16:creationId xmlns:a16="http://schemas.microsoft.com/office/drawing/2014/main" id="{C2D00DB2-33DD-5266-C94A-60CC076B5F5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DCBFDC-2EEA-6C20-F3C8-91E7DD75FFC7}"/>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2992836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ABB80-F92E-48FD-B56C-96B370E4CB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ECB7EF8-B482-0CD7-270F-F08AE811DE7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B18191-7058-7B01-C21B-06AEFE143D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CA8ADA-E3E2-D76E-A503-A0EADEF2C4D8}"/>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6" name="Footer Placeholder 5">
            <a:extLst>
              <a:ext uri="{FF2B5EF4-FFF2-40B4-BE49-F238E27FC236}">
                <a16:creationId xmlns:a16="http://schemas.microsoft.com/office/drawing/2014/main" id="{15AD14C6-406C-A150-7547-CDB3F2ADA1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256C21-880C-24C9-5C9D-F857E6ECA770}"/>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3537802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6275B-945E-4F19-DE1A-A658D0C89B0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0C74387-D527-4FFC-D3D8-FCEA09A1DFB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52FA60-8782-9404-EC09-E71AB2E46DBA}"/>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5" name="Footer Placeholder 4">
            <a:extLst>
              <a:ext uri="{FF2B5EF4-FFF2-40B4-BE49-F238E27FC236}">
                <a16:creationId xmlns:a16="http://schemas.microsoft.com/office/drawing/2014/main" id="{1CB1987E-9F05-EAFA-F831-04A3C98008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E38657-D28E-C39B-BCCB-94745C293112}"/>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2401604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BD8B26-8988-5DFC-7F10-F46B75ACE2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021BBE-D48C-1157-55F4-73B135185EB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0D3403-723C-0F5F-0BEC-3B590D0467BF}"/>
              </a:ext>
            </a:extLst>
          </p:cNvPr>
          <p:cNvSpPr>
            <a:spLocks noGrp="1"/>
          </p:cNvSpPr>
          <p:nvPr>
            <p:ph type="dt" sz="half" idx="10"/>
          </p:nvPr>
        </p:nvSpPr>
        <p:spPr/>
        <p:txBody>
          <a:bodyPr/>
          <a:lstStyle/>
          <a:p>
            <a:fld id="{C201A91A-3286-664F-B181-3F299156E507}" type="datetimeFigureOut">
              <a:rPr lang="en-US" smtClean="0"/>
              <a:t>9/17/2026</a:t>
            </a:fld>
            <a:endParaRPr lang="en-US"/>
          </a:p>
        </p:txBody>
      </p:sp>
      <p:sp>
        <p:nvSpPr>
          <p:cNvPr id="5" name="Footer Placeholder 4">
            <a:extLst>
              <a:ext uri="{FF2B5EF4-FFF2-40B4-BE49-F238E27FC236}">
                <a16:creationId xmlns:a16="http://schemas.microsoft.com/office/drawing/2014/main" id="{6D24AEAD-BF53-87D5-63FD-D6C55CFC4C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AC32DF-FBE9-A520-8AC3-7D4AFCA80808}"/>
              </a:ext>
            </a:extLst>
          </p:cNvPr>
          <p:cNvSpPr>
            <a:spLocks noGrp="1"/>
          </p:cNvSpPr>
          <p:nvPr>
            <p:ph type="sldNum" sz="quarter" idx="12"/>
          </p:nvPr>
        </p:nvSpPr>
        <p:spPr/>
        <p:txBody>
          <a:bodyPr/>
          <a:lstStyle/>
          <a:p>
            <a:fld id="{77BEBD50-BC7A-DC4A-A628-929E83651B68}" type="slidenum">
              <a:rPr lang="en-US" smtClean="0"/>
              <a:t>‹#›</a:t>
            </a:fld>
            <a:endParaRPr lang="en-US"/>
          </a:p>
        </p:txBody>
      </p:sp>
    </p:spTree>
    <p:extLst>
      <p:ext uri="{BB962C8B-B14F-4D97-AF65-F5344CB8AC3E}">
        <p14:creationId xmlns:p14="http://schemas.microsoft.com/office/powerpoint/2010/main" val="2681313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F47A23-FE88-FF41-4F5E-9FA585F019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E35F59F-13F1-3D2F-9457-E197C48EE0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664F0E-AC31-51E7-AA71-FC370E39F6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01A91A-3286-664F-B181-3F299156E507}" type="datetimeFigureOut">
              <a:rPr lang="en-US" smtClean="0"/>
              <a:t>9/17/2026</a:t>
            </a:fld>
            <a:endParaRPr lang="en-US"/>
          </a:p>
        </p:txBody>
      </p:sp>
      <p:sp>
        <p:nvSpPr>
          <p:cNvPr id="5" name="Footer Placeholder 4">
            <a:extLst>
              <a:ext uri="{FF2B5EF4-FFF2-40B4-BE49-F238E27FC236}">
                <a16:creationId xmlns:a16="http://schemas.microsoft.com/office/drawing/2014/main" id="{C8E42A33-180C-9493-3269-C998F27309C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ACA4F2-E0D5-E457-D8AB-0CC721C24C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BEBD50-BC7A-DC4A-A628-929E83651B68}" type="slidenum">
              <a:rPr lang="en-US" smtClean="0"/>
              <a:t>‹#›</a:t>
            </a:fld>
            <a:endParaRPr lang="en-US"/>
          </a:p>
        </p:txBody>
      </p:sp>
    </p:spTree>
    <p:extLst>
      <p:ext uri="{BB962C8B-B14F-4D97-AF65-F5344CB8AC3E}">
        <p14:creationId xmlns:p14="http://schemas.microsoft.com/office/powerpoint/2010/main" val="10481326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docs.opencv.org/3.4.20/df/d4a/tutorial_charuco_detection.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opentrack/opentrack/tree/master/tracker-pt" TargetMode="External"/><Relationship Id="rId2" Type="http://schemas.openxmlformats.org/officeDocument/2006/relationships/hyperlink" Target="https://github.com/opentrack/opentrack"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8DC55-CA29-9EB9-4D5A-F39760F6F59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4F56C11-9B2C-A165-0C7A-0F06E1AF1B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36744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D9FE2-47A1-3372-F7E1-1652B7730906}"/>
              </a:ext>
            </a:extLst>
          </p:cNvPr>
          <p:cNvSpPr>
            <a:spLocks noGrp="1"/>
          </p:cNvSpPr>
          <p:nvPr>
            <p:ph type="title"/>
          </p:nvPr>
        </p:nvSpPr>
        <p:spPr>
          <a:xfrm>
            <a:off x="0" y="18255"/>
            <a:ext cx="12192000" cy="587801"/>
          </a:xfrm>
        </p:spPr>
        <p:txBody>
          <a:bodyPr>
            <a:normAutofit fontScale="90000"/>
          </a:bodyPr>
          <a:lstStyle/>
          <a:p>
            <a:endParaRPr lang="en-US"/>
          </a:p>
        </p:txBody>
      </p:sp>
      <p:sp>
        <p:nvSpPr>
          <p:cNvPr id="5" name="TextBox 4">
            <a:extLst>
              <a:ext uri="{FF2B5EF4-FFF2-40B4-BE49-F238E27FC236}">
                <a16:creationId xmlns:a16="http://schemas.microsoft.com/office/drawing/2014/main" id="{13C5081F-647D-9BF6-A015-FC1F57D042E4}"/>
              </a:ext>
            </a:extLst>
          </p:cNvPr>
          <p:cNvSpPr txBox="1"/>
          <p:nvPr/>
        </p:nvSpPr>
        <p:spPr>
          <a:xfrm>
            <a:off x="523653" y="1222491"/>
            <a:ext cx="2740542" cy="2031325"/>
          </a:xfrm>
          <a:prstGeom prst="rect">
            <a:avLst/>
          </a:prstGeom>
          <a:noFill/>
        </p:spPr>
        <p:txBody>
          <a:bodyPr wrap="square">
            <a:spAutoFit/>
          </a:bodyPr>
          <a:lstStyle/>
          <a:p>
            <a:r>
              <a:rPr lang="en-US" dirty="0"/>
              <a:t>4 detected image corners</a:t>
            </a:r>
          </a:p>
          <a:p>
            <a:r>
              <a:rPr lang="en-US" dirty="0"/>
              <a:t>        +</a:t>
            </a:r>
          </a:p>
          <a:p>
            <a:r>
              <a:rPr lang="en-US" dirty="0"/>
              <a:t>known tag size</a:t>
            </a:r>
          </a:p>
          <a:p>
            <a:r>
              <a:rPr lang="en-US" dirty="0"/>
              <a:t>        +</a:t>
            </a:r>
          </a:p>
          <a:p>
            <a:r>
              <a:rPr lang="en-US" dirty="0"/>
              <a:t>camera calibration</a:t>
            </a:r>
          </a:p>
          <a:p>
            <a:r>
              <a:rPr lang="en-US" dirty="0"/>
              <a:t>        ↓</a:t>
            </a:r>
          </a:p>
          <a:p>
            <a:r>
              <a:rPr lang="en-US" dirty="0"/>
              <a:t>3D pose</a:t>
            </a:r>
          </a:p>
        </p:txBody>
      </p:sp>
    </p:spTree>
    <p:extLst>
      <p:ext uri="{BB962C8B-B14F-4D97-AF65-F5344CB8AC3E}">
        <p14:creationId xmlns:p14="http://schemas.microsoft.com/office/powerpoint/2010/main" val="13132830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08150-4C32-78A7-268A-9DC50F52FE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20ABA-9C63-65FF-0723-11FDE6A8C885}"/>
              </a:ext>
            </a:extLst>
          </p:cNvPr>
          <p:cNvSpPr>
            <a:spLocks noGrp="1"/>
          </p:cNvSpPr>
          <p:nvPr>
            <p:ph type="title"/>
          </p:nvPr>
        </p:nvSpPr>
        <p:spPr>
          <a:xfrm>
            <a:off x="0" y="18255"/>
            <a:ext cx="12192000" cy="587801"/>
          </a:xfrm>
        </p:spPr>
        <p:txBody>
          <a:bodyPr>
            <a:normAutofit fontScale="90000"/>
          </a:bodyPr>
          <a:lstStyle/>
          <a:p>
            <a:r>
              <a:rPr lang="en-US" dirty="0"/>
              <a:t>Camera Calibration</a:t>
            </a:r>
          </a:p>
        </p:txBody>
      </p:sp>
      <p:sp>
        <p:nvSpPr>
          <p:cNvPr id="5" name="TextBox 4">
            <a:extLst>
              <a:ext uri="{FF2B5EF4-FFF2-40B4-BE49-F238E27FC236}">
                <a16:creationId xmlns:a16="http://schemas.microsoft.com/office/drawing/2014/main" id="{75E30AD2-B224-EBB7-1C49-8A90029B7AD6}"/>
              </a:ext>
            </a:extLst>
          </p:cNvPr>
          <p:cNvSpPr txBox="1"/>
          <p:nvPr/>
        </p:nvSpPr>
        <p:spPr>
          <a:xfrm>
            <a:off x="523653" y="1222491"/>
            <a:ext cx="11193426" cy="372393"/>
          </a:xfrm>
          <a:prstGeom prst="rect">
            <a:avLst/>
          </a:prstGeom>
          <a:noFill/>
        </p:spPr>
        <p:txBody>
          <a:bodyPr wrap="square">
            <a:spAutoFit/>
          </a:bodyPr>
          <a:lstStyle/>
          <a:p>
            <a:r>
              <a:rPr lang="en-US" dirty="0"/>
              <a:t>Camera calibration teaches the program how your specific webcam turns real 3D rays into distorted 2D pixels.</a:t>
            </a:r>
          </a:p>
        </p:txBody>
      </p:sp>
      <p:sp>
        <p:nvSpPr>
          <p:cNvPr id="11" name="TextBox 10">
            <a:extLst>
              <a:ext uri="{FF2B5EF4-FFF2-40B4-BE49-F238E27FC236}">
                <a16:creationId xmlns:a16="http://schemas.microsoft.com/office/drawing/2014/main" id="{B3DAB173-181A-A346-EB0A-4146036769BA}"/>
              </a:ext>
            </a:extLst>
          </p:cNvPr>
          <p:cNvSpPr txBox="1"/>
          <p:nvPr/>
        </p:nvSpPr>
        <p:spPr>
          <a:xfrm>
            <a:off x="3213247" y="2317645"/>
            <a:ext cx="5765506" cy="3693319"/>
          </a:xfrm>
          <a:prstGeom prst="rect">
            <a:avLst/>
          </a:prstGeom>
          <a:noFill/>
        </p:spPr>
        <p:txBody>
          <a:bodyPr wrap="square">
            <a:spAutoFit/>
          </a:bodyPr>
          <a:lstStyle/>
          <a:p>
            <a:pPr algn="ctr"/>
            <a:r>
              <a:rPr lang="en-US" dirty="0"/>
              <a:t>Print calibration board</a:t>
            </a:r>
          </a:p>
          <a:p>
            <a:pPr algn="ctr"/>
            <a:r>
              <a:rPr lang="en-US" dirty="0"/>
              <a:t>        ↓</a:t>
            </a:r>
          </a:p>
          <a:p>
            <a:pPr algn="ctr"/>
            <a:r>
              <a:rPr lang="en-US" dirty="0"/>
              <a:t>Show board to webcam at many positions/angles</a:t>
            </a:r>
          </a:p>
          <a:p>
            <a:pPr algn="ctr"/>
            <a:r>
              <a:rPr lang="en-US" dirty="0"/>
              <a:t>        ↓</a:t>
            </a:r>
          </a:p>
          <a:p>
            <a:pPr algn="ctr"/>
            <a:r>
              <a:rPr lang="en-US" dirty="0"/>
              <a:t>Detect known board geometry</a:t>
            </a:r>
          </a:p>
          <a:p>
            <a:pPr algn="ctr"/>
            <a:r>
              <a:rPr lang="en-US" dirty="0"/>
              <a:t>        ↓</a:t>
            </a:r>
          </a:p>
          <a:p>
            <a:pPr algn="ctr"/>
            <a:r>
              <a:rPr lang="en-US" dirty="0"/>
              <a:t>Compare known geometry vs observed image points</a:t>
            </a:r>
          </a:p>
          <a:p>
            <a:pPr algn="ctr"/>
            <a:r>
              <a:rPr lang="en-US" dirty="0"/>
              <a:t>        ↓</a:t>
            </a:r>
          </a:p>
          <a:p>
            <a:pPr algn="ctr"/>
            <a:r>
              <a:rPr lang="en-US" dirty="0"/>
              <a:t>Estimate camera parameters</a:t>
            </a:r>
          </a:p>
          <a:p>
            <a:pPr algn="ctr"/>
            <a:r>
              <a:rPr lang="en-US" dirty="0"/>
              <a:t>        ↓</a:t>
            </a:r>
          </a:p>
          <a:p>
            <a:pPr algn="ctr"/>
            <a:r>
              <a:rPr lang="en-US" dirty="0"/>
              <a:t>Save calibration file</a:t>
            </a:r>
          </a:p>
          <a:p>
            <a:pPr algn="ctr"/>
            <a:r>
              <a:rPr lang="en-US" dirty="0"/>
              <a:t>        ↓</a:t>
            </a:r>
          </a:p>
          <a:p>
            <a:pPr algn="ctr"/>
            <a:r>
              <a:rPr lang="en-US" dirty="0"/>
              <a:t>Use those parameters later for </a:t>
            </a:r>
            <a:r>
              <a:rPr lang="en-US" dirty="0" err="1"/>
              <a:t>AprilTag</a:t>
            </a:r>
            <a:r>
              <a:rPr lang="en-US" dirty="0"/>
              <a:t>/</a:t>
            </a:r>
            <a:r>
              <a:rPr lang="en-US" dirty="0" err="1"/>
              <a:t>ArUco</a:t>
            </a:r>
            <a:r>
              <a:rPr lang="en-US" dirty="0"/>
              <a:t> 3D pose</a:t>
            </a:r>
          </a:p>
        </p:txBody>
      </p:sp>
    </p:spTree>
    <p:extLst>
      <p:ext uri="{BB962C8B-B14F-4D97-AF65-F5344CB8AC3E}">
        <p14:creationId xmlns:p14="http://schemas.microsoft.com/office/powerpoint/2010/main" val="37749356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E9459-D9B6-6C6D-6B02-0DE5BA9DB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521748-4BED-86F3-3DB7-711099896717}"/>
              </a:ext>
            </a:extLst>
          </p:cNvPr>
          <p:cNvSpPr>
            <a:spLocks noGrp="1"/>
          </p:cNvSpPr>
          <p:nvPr>
            <p:ph type="title"/>
          </p:nvPr>
        </p:nvSpPr>
        <p:spPr>
          <a:xfrm>
            <a:off x="0" y="18255"/>
            <a:ext cx="12192000" cy="587801"/>
          </a:xfrm>
        </p:spPr>
        <p:txBody>
          <a:bodyPr>
            <a:normAutofit fontScale="90000"/>
          </a:bodyPr>
          <a:lstStyle/>
          <a:p>
            <a:r>
              <a:rPr lang="en-US" dirty="0"/>
              <a:t>Camera Calibration</a:t>
            </a:r>
          </a:p>
        </p:txBody>
      </p:sp>
      <p:sp>
        <p:nvSpPr>
          <p:cNvPr id="4" name="TextBox 3">
            <a:extLst>
              <a:ext uri="{FF2B5EF4-FFF2-40B4-BE49-F238E27FC236}">
                <a16:creationId xmlns:a16="http://schemas.microsoft.com/office/drawing/2014/main" id="{C3DA62D1-9E61-1A2D-BA8D-F8D42EEB6BFF}"/>
              </a:ext>
            </a:extLst>
          </p:cNvPr>
          <p:cNvSpPr txBox="1"/>
          <p:nvPr/>
        </p:nvSpPr>
        <p:spPr>
          <a:xfrm>
            <a:off x="2134043" y="1747675"/>
            <a:ext cx="7923914" cy="369332"/>
          </a:xfrm>
          <a:prstGeom prst="rect">
            <a:avLst/>
          </a:prstGeom>
          <a:noFill/>
        </p:spPr>
        <p:txBody>
          <a:bodyPr wrap="square">
            <a:spAutoFit/>
          </a:bodyPr>
          <a:lstStyle/>
          <a:p>
            <a:r>
              <a:rPr lang="en-US" dirty="0">
                <a:hlinkClick r:id="rId2"/>
              </a:rPr>
              <a:t>https://</a:t>
            </a:r>
            <a:r>
              <a:rPr lang="en-US" dirty="0" err="1">
                <a:hlinkClick r:id="rId2"/>
              </a:rPr>
              <a:t>docs.opencv.org</a:t>
            </a:r>
            <a:r>
              <a:rPr lang="en-US" dirty="0">
                <a:hlinkClick r:id="rId2"/>
              </a:rPr>
              <a:t>/3.4.20/</a:t>
            </a:r>
            <a:r>
              <a:rPr lang="en-US" dirty="0" err="1">
                <a:hlinkClick r:id="rId2"/>
              </a:rPr>
              <a:t>df</a:t>
            </a:r>
            <a:r>
              <a:rPr lang="en-US" dirty="0">
                <a:hlinkClick r:id="rId2"/>
              </a:rPr>
              <a:t>/d4a/</a:t>
            </a:r>
            <a:r>
              <a:rPr lang="en-US" dirty="0" err="1">
                <a:hlinkClick r:id="rId2"/>
              </a:rPr>
              <a:t>tutorial_charuco_detection.html</a:t>
            </a:r>
            <a:endParaRPr lang="en-US" dirty="0"/>
          </a:p>
        </p:txBody>
      </p:sp>
      <p:sp>
        <p:nvSpPr>
          <p:cNvPr id="7" name="TextBox 6">
            <a:extLst>
              <a:ext uri="{FF2B5EF4-FFF2-40B4-BE49-F238E27FC236}">
                <a16:creationId xmlns:a16="http://schemas.microsoft.com/office/drawing/2014/main" id="{88862C1A-963A-B313-A02C-EC6C225320CC}"/>
              </a:ext>
            </a:extLst>
          </p:cNvPr>
          <p:cNvSpPr txBox="1"/>
          <p:nvPr/>
        </p:nvSpPr>
        <p:spPr>
          <a:xfrm>
            <a:off x="808517" y="1206501"/>
            <a:ext cx="3713421" cy="910506"/>
          </a:xfrm>
          <a:prstGeom prst="rect">
            <a:avLst/>
          </a:prstGeom>
          <a:noFill/>
        </p:spPr>
        <p:txBody>
          <a:bodyPr wrap="square">
            <a:spAutoFit/>
          </a:bodyPr>
          <a:lstStyle/>
          <a:p>
            <a:pPr marL="19050" marR="19050" indent="0" algn="l">
              <a:lnSpc>
                <a:spcPct val="100000"/>
              </a:lnSpc>
              <a:spcBef>
                <a:spcPts val="750"/>
              </a:spcBef>
              <a:spcAft>
                <a:spcPts val="750"/>
              </a:spcAft>
              <a:buNone/>
            </a:pPr>
            <a:r>
              <a:rPr lang="en-US" sz="1800" b="1" dirty="0">
                <a:solidFill>
                  <a:schemeClr val="tx1"/>
                </a:solidFill>
                <a:effectLst/>
                <a:latin typeface="+mn-lt"/>
              </a:rPr>
              <a:t>Detection of </a:t>
            </a:r>
            <a:r>
              <a:rPr lang="en-US" sz="1800" b="1" dirty="0" err="1">
                <a:solidFill>
                  <a:schemeClr val="tx1"/>
                </a:solidFill>
                <a:effectLst/>
                <a:latin typeface="+mn-lt"/>
              </a:rPr>
              <a:t>ChArUco</a:t>
            </a:r>
            <a:r>
              <a:rPr lang="en-US" sz="1800" b="1" dirty="0">
                <a:solidFill>
                  <a:schemeClr val="tx1"/>
                </a:solidFill>
                <a:effectLst/>
                <a:latin typeface="+mn-lt"/>
              </a:rPr>
              <a:t> Boards</a:t>
            </a:r>
          </a:p>
          <a:p>
            <a:pPr indent="0" algn="l">
              <a:lnSpc>
                <a:spcPct val="100000"/>
              </a:lnSpc>
              <a:buNone/>
            </a:pPr>
            <a:br>
              <a:rPr lang="en-US" sz="1800" b="0" dirty="0">
                <a:solidFill>
                  <a:schemeClr val="tx1"/>
                </a:solidFill>
                <a:effectLst/>
                <a:latin typeface="+mn-lt"/>
              </a:rPr>
            </a:br>
            <a:endParaRPr lang="en-US" sz="1050" b="0" dirty="0">
              <a:solidFill>
                <a:srgbClr val="000000"/>
              </a:solidFill>
              <a:effectLst/>
              <a:latin typeface="Helvetica" pitchFamily="2" charset="0"/>
            </a:endParaRPr>
          </a:p>
        </p:txBody>
      </p:sp>
      <p:sp>
        <p:nvSpPr>
          <p:cNvPr id="9" name="TextBox 8">
            <a:extLst>
              <a:ext uri="{FF2B5EF4-FFF2-40B4-BE49-F238E27FC236}">
                <a16:creationId xmlns:a16="http://schemas.microsoft.com/office/drawing/2014/main" id="{41A7755E-5790-B303-B3EB-D16A417AC92D}"/>
              </a:ext>
            </a:extLst>
          </p:cNvPr>
          <p:cNvSpPr txBox="1"/>
          <p:nvPr/>
        </p:nvSpPr>
        <p:spPr>
          <a:xfrm>
            <a:off x="28353" y="6311256"/>
            <a:ext cx="11642209" cy="369332"/>
          </a:xfrm>
          <a:prstGeom prst="rect">
            <a:avLst/>
          </a:prstGeom>
          <a:noFill/>
        </p:spPr>
        <p:txBody>
          <a:bodyPr wrap="square">
            <a:spAutoFit/>
          </a:bodyPr>
          <a:lstStyle/>
          <a:p>
            <a:r>
              <a:rPr lang="en-US" dirty="0"/>
              <a:t>planned calibration utility uses a collection of roughly </a:t>
            </a:r>
            <a:r>
              <a:rPr lang="en-US" b="1" dirty="0"/>
              <a:t>15–25 useful views</a:t>
            </a:r>
            <a:r>
              <a:rPr lang="en-US" dirty="0"/>
              <a:t>, rather than 15 nearly identical snapshots.</a:t>
            </a:r>
          </a:p>
        </p:txBody>
      </p:sp>
      <p:sp>
        <p:nvSpPr>
          <p:cNvPr id="12" name="TextBox 11">
            <a:extLst>
              <a:ext uri="{FF2B5EF4-FFF2-40B4-BE49-F238E27FC236}">
                <a16:creationId xmlns:a16="http://schemas.microsoft.com/office/drawing/2014/main" id="{2AF38A36-628D-32F4-E478-D0D8617A9A0F}"/>
              </a:ext>
            </a:extLst>
          </p:cNvPr>
          <p:cNvSpPr txBox="1"/>
          <p:nvPr/>
        </p:nvSpPr>
        <p:spPr>
          <a:xfrm>
            <a:off x="808517" y="2473515"/>
            <a:ext cx="6204096" cy="369332"/>
          </a:xfrm>
          <a:prstGeom prst="rect">
            <a:avLst/>
          </a:prstGeom>
          <a:noFill/>
        </p:spPr>
        <p:txBody>
          <a:bodyPr wrap="square">
            <a:spAutoFit/>
          </a:bodyPr>
          <a:lstStyle/>
          <a:p>
            <a:r>
              <a:rPr lang="en-US" dirty="0"/>
              <a:t>A </a:t>
            </a:r>
            <a:r>
              <a:rPr lang="en-US" dirty="0" err="1"/>
              <a:t>ChArUco</a:t>
            </a:r>
            <a:r>
              <a:rPr lang="en-US" dirty="0"/>
              <a:t> board combines:</a:t>
            </a:r>
          </a:p>
        </p:txBody>
      </p:sp>
      <p:sp>
        <p:nvSpPr>
          <p:cNvPr id="14" name="TextBox 13">
            <a:extLst>
              <a:ext uri="{FF2B5EF4-FFF2-40B4-BE49-F238E27FC236}">
                <a16:creationId xmlns:a16="http://schemas.microsoft.com/office/drawing/2014/main" id="{EF1637AC-C2B3-5F64-7B83-5326653CE1AA}"/>
              </a:ext>
            </a:extLst>
          </p:cNvPr>
          <p:cNvSpPr txBox="1"/>
          <p:nvPr/>
        </p:nvSpPr>
        <p:spPr>
          <a:xfrm>
            <a:off x="2134043" y="2842847"/>
            <a:ext cx="6204096" cy="923330"/>
          </a:xfrm>
          <a:prstGeom prst="rect">
            <a:avLst/>
          </a:prstGeom>
          <a:noFill/>
        </p:spPr>
        <p:txBody>
          <a:bodyPr wrap="square">
            <a:spAutoFit/>
          </a:bodyPr>
          <a:lstStyle/>
          <a:p>
            <a:r>
              <a:rPr lang="en-US" dirty="0"/>
              <a:t>chessboard corners</a:t>
            </a:r>
          </a:p>
          <a:p>
            <a:r>
              <a:rPr lang="en-US" dirty="0"/>
              <a:t>+</a:t>
            </a:r>
          </a:p>
          <a:p>
            <a:r>
              <a:rPr lang="en-US" dirty="0" err="1"/>
              <a:t>ArUco</a:t>
            </a:r>
            <a:r>
              <a:rPr lang="en-US" dirty="0"/>
              <a:t> marker IDs</a:t>
            </a:r>
          </a:p>
        </p:txBody>
      </p:sp>
      <p:sp>
        <p:nvSpPr>
          <p:cNvPr id="16" name="TextBox 15">
            <a:extLst>
              <a:ext uri="{FF2B5EF4-FFF2-40B4-BE49-F238E27FC236}">
                <a16:creationId xmlns:a16="http://schemas.microsoft.com/office/drawing/2014/main" id="{245D421C-3902-5B91-F01C-CEF54E9CD99F}"/>
              </a:ext>
            </a:extLst>
          </p:cNvPr>
          <p:cNvSpPr txBox="1"/>
          <p:nvPr/>
        </p:nvSpPr>
        <p:spPr>
          <a:xfrm>
            <a:off x="808517" y="4174171"/>
            <a:ext cx="6204096" cy="1477328"/>
          </a:xfrm>
          <a:prstGeom prst="rect">
            <a:avLst/>
          </a:prstGeom>
          <a:noFill/>
        </p:spPr>
        <p:txBody>
          <a:bodyPr wrap="square">
            <a:spAutoFit/>
          </a:bodyPr>
          <a:lstStyle/>
          <a:p>
            <a:r>
              <a:rPr lang="en-US" dirty="0" err="1"/>
              <a:t>ChArUco</a:t>
            </a:r>
            <a:r>
              <a:rPr lang="en-US" dirty="0"/>
              <a:t> board</a:t>
            </a:r>
          </a:p>
          <a:p>
            <a:r>
              <a:rPr lang="en-US" dirty="0"/>
              <a:t>    → calibrates the CAMERA</a:t>
            </a:r>
          </a:p>
          <a:p>
            <a:endParaRPr lang="en-US" dirty="0"/>
          </a:p>
          <a:p>
            <a:r>
              <a:rPr lang="en-US" dirty="0" err="1"/>
              <a:t>AprilTag</a:t>
            </a:r>
            <a:r>
              <a:rPr lang="en-US" dirty="0"/>
              <a:t> / </a:t>
            </a:r>
            <a:r>
              <a:rPr lang="en-US" dirty="0" err="1"/>
              <a:t>ArUco</a:t>
            </a:r>
            <a:r>
              <a:rPr lang="en-US" dirty="0"/>
              <a:t> head marker</a:t>
            </a:r>
          </a:p>
          <a:p>
            <a:r>
              <a:rPr lang="en-US" dirty="0"/>
              <a:t>    → tracks the PARTICIPANT</a:t>
            </a:r>
          </a:p>
        </p:txBody>
      </p:sp>
      <p:sp>
        <p:nvSpPr>
          <p:cNvPr id="18" name="TextBox 17">
            <a:extLst>
              <a:ext uri="{FF2B5EF4-FFF2-40B4-BE49-F238E27FC236}">
                <a16:creationId xmlns:a16="http://schemas.microsoft.com/office/drawing/2014/main" id="{6C323221-9223-1916-68E1-F045A30BBE37}"/>
              </a:ext>
            </a:extLst>
          </p:cNvPr>
          <p:cNvSpPr txBox="1"/>
          <p:nvPr/>
        </p:nvSpPr>
        <p:spPr>
          <a:xfrm>
            <a:off x="7567794" y="2658181"/>
            <a:ext cx="4102768" cy="2308324"/>
          </a:xfrm>
          <a:prstGeom prst="rect">
            <a:avLst/>
          </a:prstGeom>
          <a:noFill/>
        </p:spPr>
        <p:txBody>
          <a:bodyPr wrap="square">
            <a:spAutoFit/>
          </a:bodyPr>
          <a:lstStyle/>
          <a:p>
            <a:r>
              <a:rPr lang="en-US" dirty="0" err="1"/>
              <a:t>ChArUco</a:t>
            </a:r>
            <a:r>
              <a:rPr lang="en-US" dirty="0"/>
              <a:t> board</a:t>
            </a:r>
          </a:p>
          <a:p>
            <a:r>
              <a:rPr lang="en-US" dirty="0"/>
              <a:t>      ↓</a:t>
            </a:r>
          </a:p>
          <a:p>
            <a:r>
              <a:rPr lang="en-US" dirty="0"/>
              <a:t>camera calibration</a:t>
            </a:r>
          </a:p>
          <a:p>
            <a:r>
              <a:rPr lang="en-US" dirty="0"/>
              <a:t>      ↓</a:t>
            </a:r>
          </a:p>
          <a:p>
            <a:r>
              <a:rPr lang="en-US" dirty="0" err="1"/>
              <a:t>camera_matrix</a:t>
            </a:r>
            <a:r>
              <a:rPr lang="en-US" dirty="0"/>
              <a:t> + </a:t>
            </a:r>
            <a:r>
              <a:rPr lang="en-US" dirty="0" err="1"/>
              <a:t>dist_coeffs</a:t>
            </a:r>
            <a:endParaRPr lang="en-US" dirty="0"/>
          </a:p>
          <a:p>
            <a:r>
              <a:rPr lang="en-US" dirty="0"/>
              <a:t>      ↓</a:t>
            </a:r>
          </a:p>
          <a:p>
            <a:r>
              <a:rPr lang="en-US" dirty="0"/>
              <a:t>      ├── </a:t>
            </a:r>
            <a:r>
              <a:rPr lang="en-US" dirty="0" err="1"/>
              <a:t>ArUco</a:t>
            </a:r>
            <a:r>
              <a:rPr lang="en-US" dirty="0"/>
              <a:t> 3D pose</a:t>
            </a:r>
          </a:p>
          <a:p>
            <a:r>
              <a:rPr lang="en-US" dirty="0"/>
              <a:t>      └── </a:t>
            </a:r>
            <a:r>
              <a:rPr lang="en-US" dirty="0" err="1"/>
              <a:t>AprilTag</a:t>
            </a:r>
            <a:r>
              <a:rPr lang="en-US" dirty="0"/>
              <a:t> 3D pose</a:t>
            </a:r>
          </a:p>
        </p:txBody>
      </p:sp>
    </p:spTree>
    <p:extLst>
      <p:ext uri="{BB962C8B-B14F-4D97-AF65-F5344CB8AC3E}">
        <p14:creationId xmlns:p14="http://schemas.microsoft.com/office/powerpoint/2010/main" val="11621034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0B835-3486-0C49-8B19-3AC595B004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7CCE03-3269-4F68-77E9-F4A5E061B25A}"/>
              </a:ext>
            </a:extLst>
          </p:cNvPr>
          <p:cNvSpPr>
            <a:spLocks noGrp="1"/>
          </p:cNvSpPr>
          <p:nvPr>
            <p:ph type="title"/>
          </p:nvPr>
        </p:nvSpPr>
        <p:spPr>
          <a:xfrm>
            <a:off x="0" y="18255"/>
            <a:ext cx="12192000" cy="587801"/>
          </a:xfrm>
        </p:spPr>
        <p:txBody>
          <a:bodyPr>
            <a:normAutofit fontScale="90000"/>
          </a:bodyPr>
          <a:lstStyle/>
          <a:p>
            <a:r>
              <a:rPr lang="en-US" dirty="0"/>
              <a:t>Camera Calibration</a:t>
            </a:r>
          </a:p>
        </p:txBody>
      </p:sp>
      <p:sp>
        <p:nvSpPr>
          <p:cNvPr id="5" name="TextBox 4">
            <a:extLst>
              <a:ext uri="{FF2B5EF4-FFF2-40B4-BE49-F238E27FC236}">
                <a16:creationId xmlns:a16="http://schemas.microsoft.com/office/drawing/2014/main" id="{F8B8CC07-32CB-AFF6-9901-F0C72F5792F8}"/>
              </a:ext>
            </a:extLst>
          </p:cNvPr>
          <p:cNvSpPr txBox="1"/>
          <p:nvPr/>
        </p:nvSpPr>
        <p:spPr>
          <a:xfrm>
            <a:off x="1263316" y="1287069"/>
            <a:ext cx="3705726" cy="2585323"/>
          </a:xfrm>
          <a:prstGeom prst="rect">
            <a:avLst/>
          </a:prstGeom>
          <a:noFill/>
        </p:spPr>
        <p:txBody>
          <a:bodyPr wrap="square">
            <a:spAutoFit/>
          </a:bodyPr>
          <a:lstStyle/>
          <a:p>
            <a:r>
              <a:rPr lang="en-US" dirty="0" err="1"/>
              <a:t>ArUco</a:t>
            </a:r>
            <a:r>
              <a:rPr lang="en-US" dirty="0"/>
              <a:t> detector</a:t>
            </a:r>
          </a:p>
          <a:p>
            <a:r>
              <a:rPr lang="en-US" dirty="0"/>
              <a:t>   ↓</a:t>
            </a:r>
          </a:p>
          <a:p>
            <a:r>
              <a:rPr lang="en-US" dirty="0"/>
              <a:t>4 </a:t>
            </a:r>
            <a:r>
              <a:rPr lang="en-US" dirty="0" err="1"/>
              <a:t>ArUco</a:t>
            </a:r>
            <a:r>
              <a:rPr lang="en-US" dirty="0"/>
              <a:t> corners</a:t>
            </a:r>
          </a:p>
          <a:p>
            <a:r>
              <a:rPr lang="en-US" dirty="0"/>
              <a:t>   ↓</a:t>
            </a:r>
          </a:p>
          <a:p>
            <a:r>
              <a:rPr lang="en-US" dirty="0"/>
              <a:t>shared pose estimator</a:t>
            </a:r>
          </a:p>
          <a:p>
            <a:r>
              <a:rPr lang="en-US" dirty="0"/>
              <a:t>   ↓</a:t>
            </a:r>
          </a:p>
          <a:p>
            <a:r>
              <a:rPr lang="en-US" dirty="0"/>
              <a:t>use </a:t>
            </a:r>
            <a:r>
              <a:rPr lang="en-US" dirty="0" err="1"/>
              <a:t>camera_matrix</a:t>
            </a:r>
            <a:r>
              <a:rPr lang="en-US" dirty="0"/>
              <a:t> + </a:t>
            </a:r>
            <a:r>
              <a:rPr lang="en-US" dirty="0" err="1"/>
              <a:t>dist_coeffs</a:t>
            </a:r>
            <a:endParaRPr lang="en-US" dirty="0"/>
          </a:p>
          <a:p>
            <a:r>
              <a:rPr lang="en-US" dirty="0"/>
              <a:t>   ↓</a:t>
            </a:r>
          </a:p>
          <a:p>
            <a:r>
              <a:rPr lang="en-US" dirty="0"/>
              <a:t>x/y/z + yaw/pitch/roll</a:t>
            </a:r>
          </a:p>
        </p:txBody>
      </p:sp>
      <p:sp>
        <p:nvSpPr>
          <p:cNvPr id="8" name="TextBox 7">
            <a:extLst>
              <a:ext uri="{FF2B5EF4-FFF2-40B4-BE49-F238E27FC236}">
                <a16:creationId xmlns:a16="http://schemas.microsoft.com/office/drawing/2014/main" id="{BEAB942F-89E6-DDA1-5591-B987648D516A}"/>
              </a:ext>
            </a:extLst>
          </p:cNvPr>
          <p:cNvSpPr txBox="1"/>
          <p:nvPr/>
        </p:nvSpPr>
        <p:spPr>
          <a:xfrm>
            <a:off x="6821905" y="1287068"/>
            <a:ext cx="3549316" cy="2585323"/>
          </a:xfrm>
          <a:prstGeom prst="rect">
            <a:avLst/>
          </a:prstGeom>
          <a:noFill/>
        </p:spPr>
        <p:txBody>
          <a:bodyPr wrap="square">
            <a:spAutoFit/>
          </a:bodyPr>
          <a:lstStyle/>
          <a:p>
            <a:r>
              <a:rPr lang="en-US" dirty="0" err="1"/>
              <a:t>AprilTag</a:t>
            </a:r>
            <a:r>
              <a:rPr lang="en-US" dirty="0"/>
              <a:t> detector</a:t>
            </a:r>
          </a:p>
          <a:p>
            <a:r>
              <a:rPr lang="en-US" dirty="0"/>
              <a:t>   ↓</a:t>
            </a:r>
          </a:p>
          <a:p>
            <a:r>
              <a:rPr lang="en-US" dirty="0"/>
              <a:t>4 </a:t>
            </a:r>
            <a:r>
              <a:rPr lang="en-US" dirty="0" err="1"/>
              <a:t>AprilTag</a:t>
            </a:r>
            <a:r>
              <a:rPr lang="en-US" dirty="0"/>
              <a:t> corners</a:t>
            </a:r>
          </a:p>
          <a:p>
            <a:r>
              <a:rPr lang="en-US" dirty="0"/>
              <a:t>   ↓</a:t>
            </a:r>
          </a:p>
          <a:p>
            <a:r>
              <a:rPr lang="en-US" dirty="0"/>
              <a:t>shared pose estimator</a:t>
            </a:r>
          </a:p>
          <a:p>
            <a:r>
              <a:rPr lang="en-US" dirty="0"/>
              <a:t>   ↓</a:t>
            </a:r>
          </a:p>
          <a:p>
            <a:r>
              <a:rPr lang="en-US" dirty="0"/>
              <a:t>use </a:t>
            </a:r>
            <a:r>
              <a:rPr lang="en-US" dirty="0" err="1"/>
              <a:t>camera_matrix</a:t>
            </a:r>
            <a:r>
              <a:rPr lang="en-US" dirty="0"/>
              <a:t> + </a:t>
            </a:r>
            <a:r>
              <a:rPr lang="en-US" dirty="0" err="1"/>
              <a:t>dist_coeffs</a:t>
            </a:r>
            <a:endParaRPr lang="en-US" dirty="0"/>
          </a:p>
          <a:p>
            <a:r>
              <a:rPr lang="en-US" dirty="0"/>
              <a:t>   ↓</a:t>
            </a:r>
          </a:p>
          <a:p>
            <a:r>
              <a:rPr lang="en-US" dirty="0"/>
              <a:t>x/y/z + yaw/pitch/roll</a:t>
            </a:r>
          </a:p>
        </p:txBody>
      </p:sp>
      <p:sp>
        <p:nvSpPr>
          <p:cNvPr id="11" name="TextBox 10">
            <a:extLst>
              <a:ext uri="{FF2B5EF4-FFF2-40B4-BE49-F238E27FC236}">
                <a16:creationId xmlns:a16="http://schemas.microsoft.com/office/drawing/2014/main" id="{5315D142-3EA3-6220-D710-4C56E39446AF}"/>
              </a:ext>
            </a:extLst>
          </p:cNvPr>
          <p:cNvSpPr txBox="1"/>
          <p:nvPr/>
        </p:nvSpPr>
        <p:spPr>
          <a:xfrm>
            <a:off x="613611" y="716659"/>
            <a:ext cx="3308684" cy="369332"/>
          </a:xfrm>
          <a:prstGeom prst="rect">
            <a:avLst/>
          </a:prstGeom>
          <a:noFill/>
        </p:spPr>
        <p:txBody>
          <a:bodyPr wrap="square">
            <a:spAutoFit/>
          </a:bodyPr>
          <a:lstStyle/>
          <a:p>
            <a:r>
              <a:rPr lang="en-US" dirty="0"/>
              <a:t>For </a:t>
            </a:r>
            <a:r>
              <a:rPr lang="en-US" dirty="0" err="1"/>
              <a:t>ArUco</a:t>
            </a:r>
            <a:r>
              <a:rPr lang="en-US" dirty="0"/>
              <a:t>:</a:t>
            </a:r>
          </a:p>
        </p:txBody>
      </p:sp>
      <p:sp>
        <p:nvSpPr>
          <p:cNvPr id="15" name="TextBox 14">
            <a:extLst>
              <a:ext uri="{FF2B5EF4-FFF2-40B4-BE49-F238E27FC236}">
                <a16:creationId xmlns:a16="http://schemas.microsoft.com/office/drawing/2014/main" id="{84FB87E1-A51D-FF3E-7E66-FADFA726CC48}"/>
              </a:ext>
            </a:extLst>
          </p:cNvPr>
          <p:cNvSpPr txBox="1"/>
          <p:nvPr/>
        </p:nvSpPr>
        <p:spPr>
          <a:xfrm>
            <a:off x="5492416" y="716659"/>
            <a:ext cx="1546058" cy="369332"/>
          </a:xfrm>
          <a:prstGeom prst="rect">
            <a:avLst/>
          </a:prstGeom>
          <a:noFill/>
        </p:spPr>
        <p:txBody>
          <a:bodyPr wrap="square">
            <a:spAutoFit/>
          </a:bodyPr>
          <a:lstStyle/>
          <a:p>
            <a:r>
              <a:rPr lang="en-US" dirty="0"/>
              <a:t>For </a:t>
            </a:r>
            <a:r>
              <a:rPr lang="en-US" dirty="0" err="1"/>
              <a:t>AprilTag</a:t>
            </a:r>
            <a:r>
              <a:rPr lang="en-US" dirty="0"/>
              <a:t>:</a:t>
            </a:r>
          </a:p>
        </p:txBody>
      </p:sp>
      <p:sp>
        <p:nvSpPr>
          <p:cNvPr id="19" name="TextBox 18">
            <a:extLst>
              <a:ext uri="{FF2B5EF4-FFF2-40B4-BE49-F238E27FC236}">
                <a16:creationId xmlns:a16="http://schemas.microsoft.com/office/drawing/2014/main" id="{6D118CF7-B299-FFB9-9F08-D722108F6623}"/>
              </a:ext>
            </a:extLst>
          </p:cNvPr>
          <p:cNvSpPr txBox="1"/>
          <p:nvPr/>
        </p:nvSpPr>
        <p:spPr>
          <a:xfrm>
            <a:off x="493295" y="4555268"/>
            <a:ext cx="6208294" cy="2031325"/>
          </a:xfrm>
          <a:prstGeom prst="rect">
            <a:avLst/>
          </a:prstGeom>
          <a:noFill/>
        </p:spPr>
        <p:txBody>
          <a:bodyPr wrap="square">
            <a:spAutoFit/>
          </a:bodyPr>
          <a:lstStyle/>
          <a:p>
            <a:r>
              <a:rPr lang="en-US" dirty="0" err="1"/>
              <a:t>pose_estimator</a:t>
            </a:r>
            <a:r>
              <a:rPr lang="en-US" dirty="0"/>
              <a:t> = </a:t>
            </a:r>
            <a:r>
              <a:rPr lang="en-US" dirty="0" err="1"/>
              <a:t>PlanarMarkerPoseEstimator</a:t>
            </a:r>
            <a:r>
              <a:rPr lang="en-US" dirty="0"/>
              <a:t>(</a:t>
            </a:r>
          </a:p>
          <a:p>
            <a:r>
              <a:rPr lang="en-US" dirty="0"/>
              <a:t>    </a:t>
            </a:r>
            <a:r>
              <a:rPr lang="en-US" dirty="0" err="1"/>
              <a:t>camera_matrix</a:t>
            </a:r>
            <a:r>
              <a:rPr lang="en-US" dirty="0"/>
              <a:t>=</a:t>
            </a:r>
            <a:r>
              <a:rPr lang="en-US" dirty="0" err="1"/>
              <a:t>calibration.camera_matrix</a:t>
            </a:r>
            <a:r>
              <a:rPr lang="en-US" dirty="0"/>
              <a:t>,</a:t>
            </a:r>
          </a:p>
          <a:p>
            <a:r>
              <a:rPr lang="en-US" dirty="0"/>
              <a:t>    </a:t>
            </a:r>
            <a:r>
              <a:rPr lang="en-US" dirty="0" err="1"/>
              <a:t>dist_coeffs</a:t>
            </a:r>
            <a:r>
              <a:rPr lang="en-US" dirty="0"/>
              <a:t>=</a:t>
            </a:r>
            <a:r>
              <a:rPr lang="en-US" dirty="0" err="1"/>
              <a:t>calibration.dist_coeffs</a:t>
            </a:r>
            <a:r>
              <a:rPr lang="en-US" dirty="0"/>
              <a:t>,</a:t>
            </a:r>
          </a:p>
          <a:p>
            <a:r>
              <a:rPr lang="en-US" dirty="0"/>
              <a:t>    </a:t>
            </a:r>
            <a:r>
              <a:rPr lang="en-US" dirty="0" err="1"/>
              <a:t>marker_size_mm</a:t>
            </a:r>
            <a:r>
              <a:rPr lang="en-US" dirty="0"/>
              <a:t>=50.0,</a:t>
            </a:r>
          </a:p>
          <a:p>
            <a:r>
              <a:rPr lang="en-US" dirty="0"/>
              <a:t>)</a:t>
            </a:r>
          </a:p>
          <a:p>
            <a:endParaRPr lang="en-US" dirty="0"/>
          </a:p>
          <a:p>
            <a:r>
              <a:rPr lang="en-US" dirty="0"/>
              <a:t>pose = </a:t>
            </a:r>
            <a:r>
              <a:rPr lang="en-US" dirty="0" err="1"/>
              <a:t>pose_estimator.estimate</a:t>
            </a:r>
            <a:r>
              <a:rPr lang="en-US" dirty="0"/>
              <a:t>(corners)</a:t>
            </a:r>
          </a:p>
        </p:txBody>
      </p:sp>
      <p:sp>
        <p:nvSpPr>
          <p:cNvPr id="21" name="TextBox 20">
            <a:extLst>
              <a:ext uri="{FF2B5EF4-FFF2-40B4-BE49-F238E27FC236}">
                <a16:creationId xmlns:a16="http://schemas.microsoft.com/office/drawing/2014/main" id="{2E5C9196-6DF3-329A-2681-93790D975200}"/>
              </a:ext>
            </a:extLst>
          </p:cNvPr>
          <p:cNvSpPr txBox="1"/>
          <p:nvPr/>
        </p:nvSpPr>
        <p:spPr>
          <a:xfrm>
            <a:off x="6265445" y="4368737"/>
            <a:ext cx="2613860" cy="369332"/>
          </a:xfrm>
          <a:prstGeom prst="rect">
            <a:avLst/>
          </a:prstGeom>
          <a:noFill/>
        </p:spPr>
        <p:txBody>
          <a:bodyPr wrap="square">
            <a:spAutoFit/>
          </a:bodyPr>
          <a:lstStyle/>
          <a:p>
            <a:r>
              <a:rPr lang="en-US" dirty="0"/>
              <a:t>Then </a:t>
            </a:r>
            <a:r>
              <a:rPr lang="en-US" dirty="0">
                <a:latin typeface="+mn-lt"/>
              </a:rPr>
              <a:t>pose</a:t>
            </a:r>
            <a:r>
              <a:rPr lang="en-US" dirty="0"/>
              <a:t> can contain:</a:t>
            </a:r>
          </a:p>
        </p:txBody>
      </p:sp>
      <p:sp>
        <p:nvSpPr>
          <p:cNvPr id="23" name="TextBox 22">
            <a:extLst>
              <a:ext uri="{FF2B5EF4-FFF2-40B4-BE49-F238E27FC236}">
                <a16:creationId xmlns:a16="http://schemas.microsoft.com/office/drawing/2014/main" id="{FAEB4552-9AD7-456E-373A-48A87DC8AFD2}"/>
              </a:ext>
            </a:extLst>
          </p:cNvPr>
          <p:cNvSpPr txBox="1"/>
          <p:nvPr/>
        </p:nvSpPr>
        <p:spPr>
          <a:xfrm>
            <a:off x="8879305" y="4553403"/>
            <a:ext cx="1961147" cy="1754326"/>
          </a:xfrm>
          <a:prstGeom prst="rect">
            <a:avLst/>
          </a:prstGeom>
          <a:noFill/>
        </p:spPr>
        <p:txBody>
          <a:bodyPr wrap="square">
            <a:spAutoFit/>
          </a:bodyPr>
          <a:lstStyle/>
          <a:p>
            <a:r>
              <a:rPr lang="en-US" dirty="0" err="1"/>
              <a:t>x_mm</a:t>
            </a:r>
            <a:endParaRPr lang="en-US" dirty="0"/>
          </a:p>
          <a:p>
            <a:r>
              <a:rPr lang="en-US" dirty="0" err="1"/>
              <a:t>y_mm</a:t>
            </a:r>
            <a:endParaRPr lang="en-US" dirty="0"/>
          </a:p>
          <a:p>
            <a:r>
              <a:rPr lang="en-US" dirty="0" err="1"/>
              <a:t>z_mm</a:t>
            </a:r>
            <a:endParaRPr lang="en-US" dirty="0"/>
          </a:p>
          <a:p>
            <a:r>
              <a:rPr lang="en-US" dirty="0" err="1"/>
              <a:t>yaw_deg</a:t>
            </a:r>
            <a:endParaRPr lang="en-US" dirty="0"/>
          </a:p>
          <a:p>
            <a:r>
              <a:rPr lang="en-US" dirty="0" err="1"/>
              <a:t>pitch_deg</a:t>
            </a:r>
            <a:endParaRPr lang="en-US" dirty="0"/>
          </a:p>
          <a:p>
            <a:r>
              <a:rPr lang="en-US" dirty="0" err="1"/>
              <a:t>roll_deg</a:t>
            </a:r>
            <a:endParaRPr lang="en-US" dirty="0"/>
          </a:p>
        </p:txBody>
      </p:sp>
    </p:spTree>
    <p:extLst>
      <p:ext uri="{BB962C8B-B14F-4D97-AF65-F5344CB8AC3E}">
        <p14:creationId xmlns:p14="http://schemas.microsoft.com/office/powerpoint/2010/main" val="10733336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3571A-8448-EDFE-AF46-1E6E2299F4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213856-24EC-CFE0-DBB3-12D67863A1C2}"/>
              </a:ext>
            </a:extLst>
          </p:cNvPr>
          <p:cNvSpPr>
            <a:spLocks noGrp="1"/>
          </p:cNvSpPr>
          <p:nvPr>
            <p:ph type="title"/>
          </p:nvPr>
        </p:nvSpPr>
        <p:spPr>
          <a:xfrm>
            <a:off x="0" y="18255"/>
            <a:ext cx="12192000" cy="587801"/>
          </a:xfrm>
        </p:spPr>
        <p:txBody>
          <a:bodyPr>
            <a:normAutofit fontScale="90000"/>
          </a:bodyPr>
          <a:lstStyle/>
          <a:p>
            <a:r>
              <a:rPr lang="en-US" dirty="0"/>
              <a:t>After Calibration</a:t>
            </a:r>
          </a:p>
        </p:txBody>
      </p:sp>
      <p:sp>
        <p:nvSpPr>
          <p:cNvPr id="5" name="TextBox 4">
            <a:extLst>
              <a:ext uri="{FF2B5EF4-FFF2-40B4-BE49-F238E27FC236}">
                <a16:creationId xmlns:a16="http://schemas.microsoft.com/office/drawing/2014/main" id="{CC106DA2-0E79-988B-3487-869046F80128}"/>
              </a:ext>
            </a:extLst>
          </p:cNvPr>
          <p:cNvSpPr txBox="1"/>
          <p:nvPr/>
        </p:nvSpPr>
        <p:spPr>
          <a:xfrm>
            <a:off x="879845" y="873273"/>
            <a:ext cx="6204096" cy="369332"/>
          </a:xfrm>
          <a:prstGeom prst="rect">
            <a:avLst/>
          </a:prstGeom>
          <a:noFill/>
        </p:spPr>
        <p:txBody>
          <a:bodyPr wrap="square">
            <a:spAutoFit/>
          </a:bodyPr>
          <a:lstStyle/>
          <a:p>
            <a:r>
              <a:rPr lang="en-US" dirty="0"/>
              <a:t>Suppose you later detect a 50 mm </a:t>
            </a:r>
            <a:r>
              <a:rPr lang="en-US" dirty="0" err="1"/>
              <a:t>AprilTag</a:t>
            </a:r>
            <a:r>
              <a:rPr lang="en-US" dirty="0"/>
              <a:t>.</a:t>
            </a:r>
          </a:p>
        </p:txBody>
      </p:sp>
      <p:sp>
        <p:nvSpPr>
          <p:cNvPr id="8" name="TextBox 7">
            <a:extLst>
              <a:ext uri="{FF2B5EF4-FFF2-40B4-BE49-F238E27FC236}">
                <a16:creationId xmlns:a16="http://schemas.microsoft.com/office/drawing/2014/main" id="{D7758A45-CB51-58BF-9456-2CD6E528031F}"/>
              </a:ext>
            </a:extLst>
          </p:cNvPr>
          <p:cNvSpPr txBox="1"/>
          <p:nvPr/>
        </p:nvSpPr>
        <p:spPr>
          <a:xfrm>
            <a:off x="879845" y="1440710"/>
            <a:ext cx="6204096" cy="369332"/>
          </a:xfrm>
          <a:prstGeom prst="rect">
            <a:avLst/>
          </a:prstGeom>
          <a:noFill/>
        </p:spPr>
        <p:txBody>
          <a:bodyPr wrap="square">
            <a:spAutoFit/>
          </a:bodyPr>
          <a:lstStyle/>
          <a:p>
            <a:r>
              <a:rPr lang="en-US" dirty="0"/>
              <a:t>the four corners are physically:</a:t>
            </a:r>
          </a:p>
        </p:txBody>
      </p:sp>
      <p:sp>
        <p:nvSpPr>
          <p:cNvPr id="11" name="TextBox 10">
            <a:extLst>
              <a:ext uri="{FF2B5EF4-FFF2-40B4-BE49-F238E27FC236}">
                <a16:creationId xmlns:a16="http://schemas.microsoft.com/office/drawing/2014/main" id="{F0EB2DFA-95E1-5C0A-77E6-AC920EE3FFFB}"/>
              </a:ext>
            </a:extLst>
          </p:cNvPr>
          <p:cNvSpPr txBox="1"/>
          <p:nvPr/>
        </p:nvSpPr>
        <p:spPr>
          <a:xfrm>
            <a:off x="4122775" y="1440710"/>
            <a:ext cx="1757030" cy="1200329"/>
          </a:xfrm>
          <a:prstGeom prst="rect">
            <a:avLst/>
          </a:prstGeom>
          <a:noFill/>
        </p:spPr>
        <p:txBody>
          <a:bodyPr wrap="square">
            <a:spAutoFit/>
          </a:bodyPr>
          <a:lstStyle/>
          <a:p>
            <a:r>
              <a:rPr lang="en-US" dirty="0"/>
              <a:t>(-25, +25, 0)</a:t>
            </a:r>
          </a:p>
          <a:p>
            <a:r>
              <a:rPr lang="en-US" dirty="0"/>
              <a:t>(+25, +25, 0)</a:t>
            </a:r>
          </a:p>
          <a:p>
            <a:r>
              <a:rPr lang="en-US" dirty="0"/>
              <a:t>(+25, -25, 0)</a:t>
            </a:r>
          </a:p>
          <a:p>
            <a:r>
              <a:rPr lang="en-US" dirty="0"/>
              <a:t>(-25, -25, 0)</a:t>
            </a:r>
          </a:p>
        </p:txBody>
      </p:sp>
      <p:sp>
        <p:nvSpPr>
          <p:cNvPr id="15" name="TextBox 14">
            <a:extLst>
              <a:ext uri="{FF2B5EF4-FFF2-40B4-BE49-F238E27FC236}">
                <a16:creationId xmlns:a16="http://schemas.microsoft.com/office/drawing/2014/main" id="{8E93972C-F62F-2010-41E2-B30730BDA993}"/>
              </a:ext>
            </a:extLst>
          </p:cNvPr>
          <p:cNvSpPr txBox="1"/>
          <p:nvPr/>
        </p:nvSpPr>
        <p:spPr>
          <a:xfrm>
            <a:off x="879845" y="3059668"/>
            <a:ext cx="6204096" cy="369332"/>
          </a:xfrm>
          <a:prstGeom prst="rect">
            <a:avLst/>
          </a:prstGeom>
          <a:noFill/>
        </p:spPr>
        <p:txBody>
          <a:bodyPr wrap="square">
            <a:spAutoFit/>
          </a:bodyPr>
          <a:lstStyle/>
          <a:p>
            <a:r>
              <a:rPr lang="en-US" dirty="0"/>
              <a:t>webcam sees them at positions like:</a:t>
            </a:r>
          </a:p>
        </p:txBody>
      </p:sp>
      <p:sp>
        <p:nvSpPr>
          <p:cNvPr id="18" name="TextBox 17">
            <a:extLst>
              <a:ext uri="{FF2B5EF4-FFF2-40B4-BE49-F238E27FC236}">
                <a16:creationId xmlns:a16="http://schemas.microsoft.com/office/drawing/2014/main" id="{8918D49B-A60A-9308-4D58-4AC15CA5DCF1}"/>
              </a:ext>
            </a:extLst>
          </p:cNvPr>
          <p:cNvSpPr txBox="1"/>
          <p:nvPr/>
        </p:nvSpPr>
        <p:spPr>
          <a:xfrm>
            <a:off x="4739463" y="3059668"/>
            <a:ext cx="1356537" cy="1200329"/>
          </a:xfrm>
          <a:prstGeom prst="rect">
            <a:avLst/>
          </a:prstGeom>
          <a:noFill/>
        </p:spPr>
        <p:txBody>
          <a:bodyPr wrap="square">
            <a:spAutoFit/>
          </a:bodyPr>
          <a:lstStyle/>
          <a:p>
            <a:r>
              <a:rPr lang="en-US" dirty="0"/>
              <a:t>(535, 260)</a:t>
            </a:r>
          </a:p>
          <a:p>
            <a:r>
              <a:rPr lang="en-US" dirty="0"/>
              <a:t>(683, 271)</a:t>
            </a:r>
          </a:p>
          <a:p>
            <a:r>
              <a:rPr lang="en-US" dirty="0"/>
              <a:t>(671, 410)</a:t>
            </a:r>
          </a:p>
          <a:p>
            <a:r>
              <a:rPr lang="en-US" dirty="0"/>
              <a:t>(523, 397)</a:t>
            </a:r>
          </a:p>
        </p:txBody>
      </p:sp>
      <p:sp>
        <p:nvSpPr>
          <p:cNvPr id="20" name="TextBox 19">
            <a:extLst>
              <a:ext uri="{FF2B5EF4-FFF2-40B4-BE49-F238E27FC236}">
                <a16:creationId xmlns:a16="http://schemas.microsoft.com/office/drawing/2014/main" id="{590B9D58-BD4F-8E87-2DFC-6284FD2C7073}"/>
              </a:ext>
            </a:extLst>
          </p:cNvPr>
          <p:cNvSpPr txBox="1"/>
          <p:nvPr/>
        </p:nvSpPr>
        <p:spPr>
          <a:xfrm>
            <a:off x="879845" y="4678626"/>
            <a:ext cx="6204096" cy="369332"/>
          </a:xfrm>
          <a:prstGeom prst="rect">
            <a:avLst/>
          </a:prstGeom>
          <a:noFill/>
        </p:spPr>
        <p:txBody>
          <a:bodyPr wrap="square">
            <a:spAutoFit/>
          </a:bodyPr>
          <a:lstStyle/>
          <a:p>
            <a:r>
              <a:rPr lang="en-US" dirty="0"/>
              <a:t>OpenCV has three pieces of information:</a:t>
            </a:r>
          </a:p>
        </p:txBody>
      </p:sp>
      <p:sp>
        <p:nvSpPr>
          <p:cNvPr id="24" name="TextBox 23">
            <a:extLst>
              <a:ext uri="{FF2B5EF4-FFF2-40B4-BE49-F238E27FC236}">
                <a16:creationId xmlns:a16="http://schemas.microsoft.com/office/drawing/2014/main" id="{CEA1E686-F90A-2166-B82D-4C716A136C6A}"/>
              </a:ext>
            </a:extLst>
          </p:cNvPr>
          <p:cNvSpPr txBox="1"/>
          <p:nvPr/>
        </p:nvSpPr>
        <p:spPr>
          <a:xfrm>
            <a:off x="3981893" y="5125191"/>
            <a:ext cx="6204096" cy="1477328"/>
          </a:xfrm>
          <a:prstGeom prst="rect">
            <a:avLst/>
          </a:prstGeom>
          <a:noFill/>
        </p:spPr>
        <p:txBody>
          <a:bodyPr wrap="square">
            <a:spAutoFit/>
          </a:bodyPr>
          <a:lstStyle/>
          <a:p>
            <a:r>
              <a:rPr lang="en-US" dirty="0"/>
              <a:t>known physical tag geometry</a:t>
            </a:r>
          </a:p>
          <a:p>
            <a:r>
              <a:rPr lang="en-US" dirty="0"/>
              <a:t>+</a:t>
            </a:r>
          </a:p>
          <a:p>
            <a:r>
              <a:rPr lang="en-US" dirty="0"/>
              <a:t>measured image corner positions</a:t>
            </a:r>
          </a:p>
          <a:p>
            <a:r>
              <a:rPr lang="en-US" dirty="0"/>
              <a:t>+</a:t>
            </a:r>
          </a:p>
          <a:p>
            <a:r>
              <a:rPr lang="en-US" dirty="0"/>
              <a:t>calibrated camera model</a:t>
            </a:r>
          </a:p>
        </p:txBody>
      </p:sp>
      <p:sp>
        <p:nvSpPr>
          <p:cNvPr id="26" name="TextBox 25">
            <a:extLst>
              <a:ext uri="{FF2B5EF4-FFF2-40B4-BE49-F238E27FC236}">
                <a16:creationId xmlns:a16="http://schemas.microsoft.com/office/drawing/2014/main" id="{B6BA4117-8E4B-10A3-F61C-FA510678A71B}"/>
              </a:ext>
            </a:extLst>
          </p:cNvPr>
          <p:cNvSpPr txBox="1"/>
          <p:nvPr/>
        </p:nvSpPr>
        <p:spPr>
          <a:xfrm>
            <a:off x="8437821" y="3244334"/>
            <a:ext cx="1517797" cy="369332"/>
          </a:xfrm>
          <a:prstGeom prst="rect">
            <a:avLst/>
          </a:prstGeom>
          <a:noFill/>
        </p:spPr>
        <p:txBody>
          <a:bodyPr wrap="square">
            <a:spAutoFit/>
          </a:bodyPr>
          <a:lstStyle/>
          <a:p>
            <a:r>
              <a:rPr lang="en-US" dirty="0" err="1"/>
              <a:t>solvePnP</a:t>
            </a:r>
            <a:r>
              <a:rPr lang="en-US" dirty="0"/>
              <a:t>()</a:t>
            </a:r>
          </a:p>
        </p:txBody>
      </p:sp>
      <p:sp>
        <p:nvSpPr>
          <p:cNvPr id="28" name="TextBox 27">
            <a:extLst>
              <a:ext uri="{FF2B5EF4-FFF2-40B4-BE49-F238E27FC236}">
                <a16:creationId xmlns:a16="http://schemas.microsoft.com/office/drawing/2014/main" id="{1381F307-6A91-AE8C-C1A4-02470CA31762}"/>
              </a:ext>
            </a:extLst>
          </p:cNvPr>
          <p:cNvSpPr txBox="1"/>
          <p:nvPr/>
        </p:nvSpPr>
        <p:spPr>
          <a:xfrm>
            <a:off x="9704867" y="3570630"/>
            <a:ext cx="2692695" cy="2585323"/>
          </a:xfrm>
          <a:prstGeom prst="rect">
            <a:avLst/>
          </a:prstGeom>
          <a:noFill/>
        </p:spPr>
        <p:txBody>
          <a:bodyPr wrap="square">
            <a:spAutoFit/>
          </a:bodyPr>
          <a:lstStyle/>
          <a:p>
            <a:r>
              <a:rPr lang="en-US" dirty="0"/>
              <a:t>translation:</a:t>
            </a:r>
          </a:p>
          <a:p>
            <a:r>
              <a:rPr lang="en-US" dirty="0"/>
              <a:t>X = 30 mm</a:t>
            </a:r>
          </a:p>
          <a:p>
            <a:r>
              <a:rPr lang="en-US" dirty="0"/>
              <a:t>Y = -12 mm</a:t>
            </a:r>
          </a:p>
          <a:p>
            <a:r>
              <a:rPr lang="en-US" dirty="0"/>
              <a:t>Z = 725 mm</a:t>
            </a:r>
          </a:p>
          <a:p>
            <a:endParaRPr lang="en-US" dirty="0"/>
          </a:p>
          <a:p>
            <a:r>
              <a:rPr lang="en-US" dirty="0"/>
              <a:t>rotation:</a:t>
            </a:r>
          </a:p>
          <a:p>
            <a:r>
              <a:rPr lang="en-US" dirty="0"/>
              <a:t>yaw   = 38°</a:t>
            </a:r>
          </a:p>
          <a:p>
            <a:r>
              <a:rPr lang="en-US" dirty="0"/>
              <a:t>pitch = 7°</a:t>
            </a:r>
          </a:p>
          <a:p>
            <a:r>
              <a:rPr lang="en-US" dirty="0"/>
              <a:t>roll  = -3°</a:t>
            </a:r>
          </a:p>
        </p:txBody>
      </p:sp>
    </p:spTree>
    <p:extLst>
      <p:ext uri="{BB962C8B-B14F-4D97-AF65-F5344CB8AC3E}">
        <p14:creationId xmlns:p14="http://schemas.microsoft.com/office/powerpoint/2010/main" val="1751098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8C37A-9B56-5EFA-F31E-E9DDA87AD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1B3A12-2DBA-33AA-B4AC-E0C93217D78C}"/>
              </a:ext>
            </a:extLst>
          </p:cNvPr>
          <p:cNvSpPr>
            <a:spLocks noGrp="1"/>
          </p:cNvSpPr>
          <p:nvPr>
            <p:ph type="title"/>
          </p:nvPr>
        </p:nvSpPr>
        <p:spPr>
          <a:xfrm>
            <a:off x="0" y="18255"/>
            <a:ext cx="12192000" cy="587801"/>
          </a:xfrm>
        </p:spPr>
        <p:txBody>
          <a:bodyPr>
            <a:normAutofit fontScale="90000"/>
          </a:bodyPr>
          <a:lstStyle/>
          <a:p>
            <a:r>
              <a:rPr lang="en-US" dirty="0"/>
              <a:t>extrinsic calibration</a:t>
            </a:r>
          </a:p>
        </p:txBody>
      </p:sp>
      <p:sp>
        <p:nvSpPr>
          <p:cNvPr id="4" name="TextBox 3">
            <a:extLst>
              <a:ext uri="{FF2B5EF4-FFF2-40B4-BE49-F238E27FC236}">
                <a16:creationId xmlns:a16="http://schemas.microsoft.com/office/drawing/2014/main" id="{7FD172A9-BD58-AD60-D9E9-2C1F6B155D95}"/>
              </a:ext>
            </a:extLst>
          </p:cNvPr>
          <p:cNvSpPr txBox="1"/>
          <p:nvPr/>
        </p:nvSpPr>
        <p:spPr>
          <a:xfrm>
            <a:off x="1878862" y="1000588"/>
            <a:ext cx="8434276" cy="369332"/>
          </a:xfrm>
          <a:prstGeom prst="rect">
            <a:avLst/>
          </a:prstGeom>
          <a:noFill/>
        </p:spPr>
        <p:txBody>
          <a:bodyPr wrap="square">
            <a:spAutoFit/>
          </a:bodyPr>
          <a:lstStyle/>
          <a:p>
            <a:r>
              <a:rPr lang="en-US" dirty="0"/>
              <a:t>“Where is this camera located and oriented relative to the room or speaker array?”</a:t>
            </a:r>
          </a:p>
        </p:txBody>
      </p:sp>
      <p:sp>
        <p:nvSpPr>
          <p:cNvPr id="7" name="TextBox 6">
            <a:extLst>
              <a:ext uri="{FF2B5EF4-FFF2-40B4-BE49-F238E27FC236}">
                <a16:creationId xmlns:a16="http://schemas.microsoft.com/office/drawing/2014/main" id="{CBF66764-8813-C2DF-C72E-233594457981}"/>
              </a:ext>
            </a:extLst>
          </p:cNvPr>
          <p:cNvSpPr txBox="1"/>
          <p:nvPr/>
        </p:nvSpPr>
        <p:spPr>
          <a:xfrm>
            <a:off x="3931389" y="1924240"/>
            <a:ext cx="6204096" cy="2031325"/>
          </a:xfrm>
          <a:prstGeom prst="rect">
            <a:avLst/>
          </a:prstGeom>
          <a:noFill/>
        </p:spPr>
        <p:txBody>
          <a:bodyPr wrap="square">
            <a:spAutoFit/>
          </a:bodyPr>
          <a:lstStyle/>
          <a:p>
            <a:r>
              <a:rPr lang="en-US" dirty="0"/>
              <a:t>Speaker-array coordinate system</a:t>
            </a:r>
          </a:p>
          <a:p>
            <a:r>
              <a:rPr lang="en-US" dirty="0"/>
              <a:t>        ↑</a:t>
            </a:r>
          </a:p>
          <a:p>
            <a:r>
              <a:rPr lang="en-US" dirty="0"/>
              <a:t>        |</a:t>
            </a:r>
          </a:p>
          <a:p>
            <a:r>
              <a:rPr lang="en-US" dirty="0"/>
              <a:t>        |      Camera</a:t>
            </a:r>
          </a:p>
          <a:p>
            <a:r>
              <a:rPr lang="en-US" dirty="0"/>
              <a:t>        |       /</a:t>
            </a:r>
          </a:p>
          <a:p>
            <a:r>
              <a:rPr lang="en-US" dirty="0"/>
              <a:t>        |      /</a:t>
            </a:r>
          </a:p>
          <a:p>
            <a:r>
              <a:rPr lang="en-US" dirty="0"/>
              <a:t>Participant</a:t>
            </a:r>
          </a:p>
        </p:txBody>
      </p:sp>
      <p:sp>
        <p:nvSpPr>
          <p:cNvPr id="10" name="TextBox 9">
            <a:extLst>
              <a:ext uri="{FF2B5EF4-FFF2-40B4-BE49-F238E27FC236}">
                <a16:creationId xmlns:a16="http://schemas.microsoft.com/office/drawing/2014/main" id="{DC5AA603-ED91-4C0E-0D7E-19AE8BC5A690}"/>
              </a:ext>
            </a:extLst>
          </p:cNvPr>
          <p:cNvSpPr txBox="1"/>
          <p:nvPr/>
        </p:nvSpPr>
        <p:spPr>
          <a:xfrm>
            <a:off x="4856421" y="4764788"/>
            <a:ext cx="1916519" cy="369332"/>
          </a:xfrm>
          <a:prstGeom prst="rect">
            <a:avLst/>
          </a:prstGeom>
          <a:noFill/>
        </p:spPr>
        <p:txBody>
          <a:bodyPr wrap="square">
            <a:spAutoFit/>
          </a:bodyPr>
          <a:lstStyle/>
          <a:p>
            <a:r>
              <a:rPr lang="en-US" dirty="0"/>
              <a:t>Set 0° Reference</a:t>
            </a:r>
          </a:p>
        </p:txBody>
      </p:sp>
    </p:spTree>
    <p:extLst>
      <p:ext uri="{BB962C8B-B14F-4D97-AF65-F5344CB8AC3E}">
        <p14:creationId xmlns:p14="http://schemas.microsoft.com/office/powerpoint/2010/main" val="2839826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C875-A313-B919-352F-F3699C474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5F13D7-F835-7B6A-ADBD-535879966E23}"/>
              </a:ext>
            </a:extLst>
          </p:cNvPr>
          <p:cNvSpPr>
            <a:spLocks noGrp="1"/>
          </p:cNvSpPr>
          <p:nvPr>
            <p:ph type="title"/>
          </p:nvPr>
        </p:nvSpPr>
        <p:spPr>
          <a:xfrm>
            <a:off x="0" y="18255"/>
            <a:ext cx="12192000" cy="587801"/>
          </a:xfrm>
        </p:spPr>
        <p:txBody>
          <a:bodyPr>
            <a:normAutofit fontScale="90000"/>
          </a:bodyPr>
          <a:lstStyle/>
          <a:p>
            <a:r>
              <a:rPr lang="en-US" dirty="0"/>
              <a:t>Recalibration? Or every session?</a:t>
            </a:r>
          </a:p>
        </p:txBody>
      </p:sp>
      <p:sp>
        <p:nvSpPr>
          <p:cNvPr id="4" name="TextBox 3">
            <a:extLst>
              <a:ext uri="{FF2B5EF4-FFF2-40B4-BE49-F238E27FC236}">
                <a16:creationId xmlns:a16="http://schemas.microsoft.com/office/drawing/2014/main" id="{373B0825-3A32-A5EF-EA15-C215BECBBC49}"/>
              </a:ext>
            </a:extLst>
          </p:cNvPr>
          <p:cNvSpPr txBox="1"/>
          <p:nvPr/>
        </p:nvSpPr>
        <p:spPr>
          <a:xfrm>
            <a:off x="1592226" y="1265849"/>
            <a:ext cx="6204096" cy="1477328"/>
          </a:xfrm>
          <a:prstGeom prst="rect">
            <a:avLst/>
          </a:prstGeom>
          <a:noFill/>
        </p:spPr>
        <p:txBody>
          <a:bodyPr wrap="square">
            <a:spAutoFit/>
          </a:bodyPr>
          <a:lstStyle/>
          <a:p>
            <a:r>
              <a:rPr lang="en-US" dirty="0"/>
              <a:t>No recalibration</a:t>
            </a:r>
          </a:p>
          <a:p>
            <a:pPr marL="285750" indent="-285750">
              <a:buFont typeface="Arial" panose="020B0604020202020204" pitchFamily="34" charset="0"/>
              <a:buChar char="•"/>
            </a:pPr>
            <a:r>
              <a:rPr lang="en-US" dirty="0"/>
              <a:t>same webcam</a:t>
            </a:r>
          </a:p>
          <a:p>
            <a:pPr marL="285750" indent="-285750">
              <a:buFont typeface="Arial" panose="020B0604020202020204" pitchFamily="34" charset="0"/>
              <a:buChar char="•"/>
            </a:pPr>
            <a:r>
              <a:rPr lang="en-US" dirty="0"/>
              <a:t>same resolution</a:t>
            </a:r>
          </a:p>
          <a:p>
            <a:pPr marL="285750" indent="-285750">
              <a:buFont typeface="Arial" panose="020B0604020202020204" pitchFamily="34" charset="0"/>
              <a:buChar char="•"/>
            </a:pPr>
            <a:r>
              <a:rPr lang="en-US" dirty="0"/>
              <a:t>same focus/zoom setting</a:t>
            </a:r>
          </a:p>
          <a:p>
            <a:pPr marL="285750" indent="-285750">
              <a:buFont typeface="Arial" panose="020B0604020202020204" pitchFamily="34" charset="0"/>
              <a:buChar char="•"/>
            </a:pPr>
            <a:r>
              <a:rPr lang="en-US" dirty="0"/>
              <a:t>same lens</a:t>
            </a:r>
          </a:p>
        </p:txBody>
      </p:sp>
      <p:sp>
        <p:nvSpPr>
          <p:cNvPr id="6" name="TextBox 5">
            <a:extLst>
              <a:ext uri="{FF2B5EF4-FFF2-40B4-BE49-F238E27FC236}">
                <a16:creationId xmlns:a16="http://schemas.microsoft.com/office/drawing/2014/main" id="{453A6735-D7AE-7F4F-7E5D-C8F3A34727D6}"/>
              </a:ext>
            </a:extLst>
          </p:cNvPr>
          <p:cNvSpPr txBox="1"/>
          <p:nvPr/>
        </p:nvSpPr>
        <p:spPr>
          <a:xfrm>
            <a:off x="1592226" y="3657347"/>
            <a:ext cx="6204096" cy="2308324"/>
          </a:xfrm>
          <a:prstGeom prst="rect">
            <a:avLst/>
          </a:prstGeom>
          <a:noFill/>
        </p:spPr>
        <p:txBody>
          <a:bodyPr wrap="square">
            <a:spAutoFit/>
          </a:bodyPr>
          <a:lstStyle/>
          <a:p>
            <a:pPr lvl="0"/>
            <a:r>
              <a:rPr lang="en-US" dirty="0"/>
              <a:t>Calibration</a:t>
            </a:r>
          </a:p>
          <a:p>
            <a:pPr marL="342900" lvl="0" indent="-342900">
              <a:buFont typeface="Arial" panose="020B0604020202020204" pitchFamily="34" charset="0"/>
              <a:buChar char="•"/>
            </a:pPr>
            <a:r>
              <a:rPr lang="en-US" dirty="0"/>
              <a:t>Changed webcam </a:t>
            </a:r>
          </a:p>
          <a:p>
            <a:pPr marL="342900" lvl="0" indent="-342900">
              <a:buFont typeface="Arial" panose="020B0604020202020204" pitchFamily="34" charset="0"/>
              <a:buChar char="•"/>
            </a:pPr>
            <a:r>
              <a:rPr lang="en-US" dirty="0"/>
              <a:t>change lens </a:t>
            </a:r>
          </a:p>
          <a:p>
            <a:pPr marL="342900" lvl="0" indent="-342900">
              <a:buFont typeface="Arial" panose="020B0604020202020204" pitchFamily="34" charset="0"/>
              <a:buChar char="•"/>
            </a:pPr>
            <a:r>
              <a:rPr lang="en-US" dirty="0"/>
              <a:t>change hardware zoom/focus in a way that changes camera intrinsics </a:t>
            </a:r>
          </a:p>
          <a:p>
            <a:pPr marL="342900" lvl="0" indent="-342900">
              <a:buFont typeface="Arial" panose="020B0604020202020204" pitchFamily="34" charset="0"/>
              <a:buChar char="•"/>
            </a:pPr>
            <a:r>
              <a:rPr lang="en-US" dirty="0"/>
              <a:t>change to a substantially different camera resolution/cropping mode </a:t>
            </a:r>
          </a:p>
          <a:p>
            <a:pPr marL="342900" lvl="0" indent="-342900">
              <a:buFont typeface="Arial" panose="020B0604020202020204" pitchFamily="34" charset="0"/>
              <a:buChar char="•"/>
            </a:pPr>
            <a:r>
              <a:rPr lang="en-US" dirty="0"/>
              <a:t>physically modify the optics</a:t>
            </a:r>
          </a:p>
        </p:txBody>
      </p:sp>
    </p:spTree>
    <p:extLst>
      <p:ext uri="{BB962C8B-B14F-4D97-AF65-F5344CB8AC3E}">
        <p14:creationId xmlns:p14="http://schemas.microsoft.com/office/powerpoint/2010/main" val="1747378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806AA-1A96-6570-D21F-808F5863F6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3B6655-E763-08A1-940B-BAB20C371309}"/>
              </a:ext>
            </a:extLst>
          </p:cNvPr>
          <p:cNvSpPr>
            <a:spLocks noGrp="1"/>
          </p:cNvSpPr>
          <p:nvPr>
            <p:ph type="title"/>
          </p:nvPr>
        </p:nvSpPr>
        <p:spPr>
          <a:xfrm>
            <a:off x="0" y="18255"/>
            <a:ext cx="12192000" cy="587801"/>
          </a:xfrm>
        </p:spPr>
        <p:txBody>
          <a:bodyPr>
            <a:normAutofit fontScale="90000"/>
          </a:bodyPr>
          <a:lstStyle/>
          <a:p>
            <a:r>
              <a:rPr lang="en-US" dirty="0"/>
              <a:t>Calibration Steps</a:t>
            </a:r>
          </a:p>
        </p:txBody>
      </p:sp>
      <p:sp>
        <p:nvSpPr>
          <p:cNvPr id="10" name="TextBox 9">
            <a:extLst>
              <a:ext uri="{FF2B5EF4-FFF2-40B4-BE49-F238E27FC236}">
                <a16:creationId xmlns:a16="http://schemas.microsoft.com/office/drawing/2014/main" id="{CFCA7AE7-273B-1699-2B4B-C3B85FAA8FB8}"/>
              </a:ext>
            </a:extLst>
          </p:cNvPr>
          <p:cNvSpPr txBox="1"/>
          <p:nvPr/>
        </p:nvSpPr>
        <p:spPr>
          <a:xfrm>
            <a:off x="794083" y="916223"/>
            <a:ext cx="8674769" cy="646331"/>
          </a:xfrm>
          <a:prstGeom prst="rect">
            <a:avLst/>
          </a:prstGeom>
          <a:noFill/>
        </p:spPr>
        <p:txBody>
          <a:bodyPr wrap="square">
            <a:spAutoFit/>
          </a:bodyPr>
          <a:lstStyle/>
          <a:p>
            <a:r>
              <a:rPr lang="en-US" dirty="0"/>
              <a:t>Step1) activate the virtual environment and generate the board:</a:t>
            </a:r>
          </a:p>
          <a:p>
            <a:r>
              <a:rPr lang="en-US" dirty="0">
                <a:solidFill>
                  <a:srgbClr val="FF0000"/>
                </a:solidFill>
              </a:rPr>
              <a:t>python tools/</a:t>
            </a:r>
            <a:r>
              <a:rPr lang="en-US" dirty="0" err="1">
                <a:solidFill>
                  <a:srgbClr val="FF0000"/>
                </a:solidFill>
              </a:rPr>
              <a:t>calibrate_camera.py</a:t>
            </a:r>
            <a:r>
              <a:rPr lang="en-US" dirty="0">
                <a:solidFill>
                  <a:srgbClr val="FF0000"/>
                </a:solidFill>
              </a:rPr>
              <a:t> --generate-board calibration/</a:t>
            </a:r>
            <a:r>
              <a:rPr lang="en-US" dirty="0" err="1">
                <a:solidFill>
                  <a:srgbClr val="FF0000"/>
                </a:solidFill>
              </a:rPr>
              <a:t>charuco_board.png</a:t>
            </a:r>
            <a:endParaRPr lang="en-US" dirty="0">
              <a:solidFill>
                <a:srgbClr val="FF0000"/>
              </a:solidFill>
            </a:endParaRPr>
          </a:p>
        </p:txBody>
      </p:sp>
      <p:sp>
        <p:nvSpPr>
          <p:cNvPr id="12" name="TextBox 11">
            <a:extLst>
              <a:ext uri="{FF2B5EF4-FFF2-40B4-BE49-F238E27FC236}">
                <a16:creationId xmlns:a16="http://schemas.microsoft.com/office/drawing/2014/main" id="{089711A4-D137-0896-F6E0-4D37B33C318C}"/>
              </a:ext>
            </a:extLst>
          </p:cNvPr>
          <p:cNvSpPr txBox="1"/>
          <p:nvPr/>
        </p:nvSpPr>
        <p:spPr>
          <a:xfrm>
            <a:off x="794082" y="2004945"/>
            <a:ext cx="9312443" cy="1200329"/>
          </a:xfrm>
          <a:prstGeom prst="rect">
            <a:avLst/>
          </a:prstGeom>
          <a:noFill/>
        </p:spPr>
        <p:txBody>
          <a:bodyPr wrap="square">
            <a:spAutoFit/>
          </a:bodyPr>
          <a:lstStyle/>
          <a:p>
            <a:r>
              <a:rPr lang="en-US" dirty="0"/>
              <a:t>Step2) close/stop camera tracking in the main </a:t>
            </a:r>
            <a:r>
              <a:rPr lang="en-US" dirty="0" err="1"/>
              <a:t>VisualTrackingCore</a:t>
            </a:r>
            <a:r>
              <a:rPr lang="en-US" dirty="0"/>
              <a:t> app so the webcam is free. Start calibration capture:</a:t>
            </a:r>
          </a:p>
          <a:p>
            <a:r>
              <a:rPr lang="en-US" dirty="0">
                <a:solidFill>
                  <a:srgbClr val="FF0000"/>
                </a:solidFill>
              </a:rPr>
              <a:t>python tools/</a:t>
            </a:r>
            <a:r>
              <a:rPr lang="en-US" dirty="0" err="1">
                <a:solidFill>
                  <a:srgbClr val="FF0000"/>
                </a:solidFill>
              </a:rPr>
              <a:t>calibrate_camera.py</a:t>
            </a:r>
            <a:r>
              <a:rPr lang="en-US" dirty="0">
                <a:solidFill>
                  <a:srgbClr val="FF0000"/>
                </a:solidFill>
              </a:rPr>
              <a:t> --camera 0 --width 1280 --height 720 --output calibration/</a:t>
            </a:r>
            <a:r>
              <a:rPr lang="en-US" dirty="0" err="1">
                <a:solidFill>
                  <a:srgbClr val="FF0000"/>
                </a:solidFill>
              </a:rPr>
              <a:t>webcam_calibration.npz</a:t>
            </a:r>
            <a:endParaRPr lang="en-US" dirty="0">
              <a:solidFill>
                <a:srgbClr val="FF0000"/>
              </a:solidFill>
            </a:endParaRPr>
          </a:p>
        </p:txBody>
      </p:sp>
      <p:sp>
        <p:nvSpPr>
          <p:cNvPr id="14" name="TextBox 13">
            <a:extLst>
              <a:ext uri="{FF2B5EF4-FFF2-40B4-BE49-F238E27FC236}">
                <a16:creationId xmlns:a16="http://schemas.microsoft.com/office/drawing/2014/main" id="{B2A82570-21CE-90C4-AA0E-D61AB1E31AF8}"/>
              </a:ext>
            </a:extLst>
          </p:cNvPr>
          <p:cNvSpPr txBox="1"/>
          <p:nvPr/>
        </p:nvSpPr>
        <p:spPr>
          <a:xfrm>
            <a:off x="794082" y="3647665"/>
            <a:ext cx="9312442" cy="1200329"/>
          </a:xfrm>
          <a:prstGeom prst="rect">
            <a:avLst/>
          </a:prstGeom>
          <a:noFill/>
        </p:spPr>
        <p:txBody>
          <a:bodyPr wrap="square">
            <a:spAutoFit/>
          </a:bodyPr>
          <a:lstStyle/>
          <a:p>
            <a:r>
              <a:rPr lang="en-US" dirty="0"/>
              <a:t>Step3) collect views. This part matters more than simply reaching 15 images.</a:t>
            </a:r>
            <a:br>
              <a:rPr lang="en-US" dirty="0"/>
            </a:br>
            <a:r>
              <a:rPr lang="en-US" dirty="0"/>
              <a:t>	</a:t>
            </a:r>
            <a:r>
              <a:rPr lang="en-US" dirty="0">
                <a:solidFill>
                  <a:srgbClr val="FF0000"/>
                </a:solidFill>
              </a:rPr>
              <a:t>Space</a:t>
            </a:r>
            <a:r>
              <a:rPr lang="en-US" dirty="0"/>
              <a:t>   capture this view</a:t>
            </a:r>
          </a:p>
          <a:p>
            <a:r>
              <a:rPr lang="en-US" dirty="0"/>
              <a:t>	</a:t>
            </a:r>
            <a:r>
              <a:rPr lang="en-US" dirty="0">
                <a:solidFill>
                  <a:srgbClr val="FF0000"/>
                </a:solidFill>
              </a:rPr>
              <a:t>C </a:t>
            </a:r>
            <a:r>
              <a:rPr lang="en-US" dirty="0"/>
              <a:t>      calculate calibration and save</a:t>
            </a:r>
          </a:p>
          <a:p>
            <a:r>
              <a:rPr lang="en-US" dirty="0"/>
              <a:t>	</a:t>
            </a:r>
            <a:r>
              <a:rPr lang="en-US" dirty="0">
                <a:solidFill>
                  <a:srgbClr val="FF0000"/>
                </a:solidFill>
              </a:rPr>
              <a:t>Q/Esc   </a:t>
            </a:r>
            <a:r>
              <a:rPr lang="en-US" dirty="0"/>
              <a:t>cancel</a:t>
            </a:r>
          </a:p>
        </p:txBody>
      </p:sp>
      <p:pic>
        <p:nvPicPr>
          <p:cNvPr id="16" name="Picture 15">
            <a:extLst>
              <a:ext uri="{FF2B5EF4-FFF2-40B4-BE49-F238E27FC236}">
                <a16:creationId xmlns:a16="http://schemas.microsoft.com/office/drawing/2014/main" id="{8C8C3F9F-848F-E71C-D3AD-8AA7749E8A41}"/>
              </a:ext>
            </a:extLst>
          </p:cNvPr>
          <p:cNvPicPr>
            <a:picLocks noChangeAspect="1"/>
          </p:cNvPicPr>
          <p:nvPr/>
        </p:nvPicPr>
        <p:blipFill>
          <a:blip r:embed="rId2"/>
          <a:stretch>
            <a:fillRect/>
          </a:stretch>
        </p:blipFill>
        <p:spPr>
          <a:xfrm>
            <a:off x="6354856" y="4141184"/>
            <a:ext cx="3113996" cy="2431073"/>
          </a:xfrm>
          <a:prstGeom prst="rect">
            <a:avLst/>
          </a:prstGeom>
        </p:spPr>
      </p:pic>
    </p:spTree>
    <p:extLst>
      <p:ext uri="{BB962C8B-B14F-4D97-AF65-F5344CB8AC3E}">
        <p14:creationId xmlns:p14="http://schemas.microsoft.com/office/powerpoint/2010/main" val="25903381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9280C-E1AC-7542-F5F1-D4B564D392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FCA1BD-F6B8-549E-9894-5A17984B8EEB}"/>
              </a:ext>
            </a:extLst>
          </p:cNvPr>
          <p:cNvSpPr>
            <a:spLocks noGrp="1"/>
          </p:cNvSpPr>
          <p:nvPr>
            <p:ph type="title"/>
          </p:nvPr>
        </p:nvSpPr>
        <p:spPr>
          <a:xfrm>
            <a:off x="0" y="18255"/>
            <a:ext cx="12192000" cy="587801"/>
          </a:xfrm>
        </p:spPr>
        <p:txBody>
          <a:bodyPr>
            <a:normAutofit fontScale="90000"/>
          </a:bodyPr>
          <a:lstStyle/>
          <a:p>
            <a:r>
              <a:rPr lang="en-US" dirty="0"/>
              <a:t>Calibration Steps (Continued)</a:t>
            </a:r>
          </a:p>
        </p:txBody>
      </p:sp>
      <p:sp>
        <p:nvSpPr>
          <p:cNvPr id="8" name="TextBox 7">
            <a:extLst>
              <a:ext uri="{FF2B5EF4-FFF2-40B4-BE49-F238E27FC236}">
                <a16:creationId xmlns:a16="http://schemas.microsoft.com/office/drawing/2014/main" id="{7C2C093C-8C54-A551-BEE9-80B378DB2D0B}"/>
              </a:ext>
            </a:extLst>
          </p:cNvPr>
          <p:cNvSpPr txBox="1"/>
          <p:nvPr/>
        </p:nvSpPr>
        <p:spPr>
          <a:xfrm>
            <a:off x="649705" y="1006324"/>
            <a:ext cx="10852483" cy="646331"/>
          </a:xfrm>
          <a:prstGeom prst="rect">
            <a:avLst/>
          </a:prstGeom>
          <a:noFill/>
        </p:spPr>
        <p:txBody>
          <a:bodyPr wrap="square">
            <a:spAutoFit/>
          </a:bodyPr>
          <a:lstStyle/>
          <a:p>
            <a:r>
              <a:rPr lang="en-US" dirty="0"/>
              <a:t>Start with the board centered and approximately facing the camera, then move it around. Capture something like:</a:t>
            </a:r>
          </a:p>
        </p:txBody>
      </p:sp>
      <p:sp>
        <p:nvSpPr>
          <p:cNvPr id="10" name="TextBox 9">
            <a:extLst>
              <a:ext uri="{FF2B5EF4-FFF2-40B4-BE49-F238E27FC236}">
                <a16:creationId xmlns:a16="http://schemas.microsoft.com/office/drawing/2014/main" id="{67B9B1AA-5AC1-D20E-50DA-441C72957636}"/>
              </a:ext>
            </a:extLst>
          </p:cNvPr>
          <p:cNvSpPr txBox="1"/>
          <p:nvPr/>
        </p:nvSpPr>
        <p:spPr>
          <a:xfrm>
            <a:off x="1684421" y="1652655"/>
            <a:ext cx="6208294" cy="2308324"/>
          </a:xfrm>
          <a:prstGeom prst="rect">
            <a:avLst/>
          </a:prstGeom>
          <a:noFill/>
        </p:spPr>
        <p:txBody>
          <a:bodyPr wrap="square">
            <a:spAutoFit/>
          </a:bodyPr>
          <a:lstStyle/>
          <a:p>
            <a:r>
              <a:rPr lang="en-US" dirty="0"/>
              <a:t>1–3     center, different distances</a:t>
            </a:r>
          </a:p>
          <a:p>
            <a:r>
              <a:rPr lang="en-US" dirty="0"/>
              <a:t>4–6     left side</a:t>
            </a:r>
          </a:p>
          <a:p>
            <a:r>
              <a:rPr lang="en-US" dirty="0"/>
              <a:t>7–9     right side</a:t>
            </a:r>
          </a:p>
          <a:p>
            <a:r>
              <a:rPr lang="en-US" dirty="0"/>
              <a:t>10–12   upper part of image</a:t>
            </a:r>
          </a:p>
          <a:p>
            <a:r>
              <a:rPr lang="en-US" dirty="0"/>
              <a:t>13–15   lower part of image</a:t>
            </a:r>
          </a:p>
          <a:p>
            <a:r>
              <a:rPr lang="en-US" dirty="0"/>
              <a:t>16–18   tilted left/right</a:t>
            </a:r>
          </a:p>
          <a:p>
            <a:r>
              <a:rPr lang="en-US" dirty="0"/>
              <a:t>19–21   tilted forward/backward</a:t>
            </a:r>
          </a:p>
          <a:p>
            <a:r>
              <a:rPr lang="en-US" dirty="0"/>
              <a:t>22–25   combinations of edge position + tilt</a:t>
            </a:r>
          </a:p>
        </p:txBody>
      </p:sp>
      <p:sp>
        <p:nvSpPr>
          <p:cNvPr id="12" name="TextBox 11">
            <a:extLst>
              <a:ext uri="{FF2B5EF4-FFF2-40B4-BE49-F238E27FC236}">
                <a16:creationId xmlns:a16="http://schemas.microsoft.com/office/drawing/2014/main" id="{8638D1CC-CEDB-4804-643B-7F7192BA41BF}"/>
              </a:ext>
            </a:extLst>
          </p:cNvPr>
          <p:cNvSpPr txBox="1"/>
          <p:nvPr/>
        </p:nvSpPr>
        <p:spPr>
          <a:xfrm>
            <a:off x="649705" y="4607310"/>
            <a:ext cx="6208294" cy="369332"/>
          </a:xfrm>
          <a:prstGeom prst="rect">
            <a:avLst/>
          </a:prstGeom>
          <a:noFill/>
        </p:spPr>
        <p:txBody>
          <a:bodyPr wrap="square">
            <a:spAutoFit/>
          </a:bodyPr>
          <a:lstStyle/>
          <a:p>
            <a:r>
              <a:rPr lang="en-US" dirty="0"/>
              <a:t>have at least 15 good views—preferably 20–25—press:</a:t>
            </a:r>
          </a:p>
        </p:txBody>
      </p:sp>
      <p:sp>
        <p:nvSpPr>
          <p:cNvPr id="14" name="TextBox 13">
            <a:extLst>
              <a:ext uri="{FF2B5EF4-FFF2-40B4-BE49-F238E27FC236}">
                <a16:creationId xmlns:a16="http://schemas.microsoft.com/office/drawing/2014/main" id="{A975133D-ED52-25DB-B665-A89E7BB6DABD}"/>
              </a:ext>
            </a:extLst>
          </p:cNvPr>
          <p:cNvSpPr txBox="1"/>
          <p:nvPr/>
        </p:nvSpPr>
        <p:spPr>
          <a:xfrm>
            <a:off x="6497052" y="4607310"/>
            <a:ext cx="721894" cy="369332"/>
          </a:xfrm>
          <a:prstGeom prst="rect">
            <a:avLst/>
          </a:prstGeom>
          <a:noFill/>
        </p:spPr>
        <p:txBody>
          <a:bodyPr wrap="square">
            <a:spAutoFit/>
          </a:bodyPr>
          <a:lstStyle/>
          <a:p>
            <a:r>
              <a:rPr lang="en-US" dirty="0">
                <a:solidFill>
                  <a:srgbClr val="FF0000"/>
                </a:solidFill>
              </a:rPr>
              <a:t>C</a:t>
            </a:r>
          </a:p>
        </p:txBody>
      </p:sp>
      <p:sp>
        <p:nvSpPr>
          <p:cNvPr id="16" name="TextBox 15">
            <a:extLst>
              <a:ext uri="{FF2B5EF4-FFF2-40B4-BE49-F238E27FC236}">
                <a16:creationId xmlns:a16="http://schemas.microsoft.com/office/drawing/2014/main" id="{321BFE38-359C-66B1-69EA-2FA92A269813}"/>
              </a:ext>
            </a:extLst>
          </p:cNvPr>
          <p:cNvSpPr txBox="1"/>
          <p:nvPr/>
        </p:nvSpPr>
        <p:spPr>
          <a:xfrm>
            <a:off x="649705" y="5205345"/>
            <a:ext cx="6208294" cy="369332"/>
          </a:xfrm>
          <a:prstGeom prst="rect">
            <a:avLst/>
          </a:prstGeom>
          <a:noFill/>
        </p:spPr>
        <p:txBody>
          <a:bodyPr wrap="square">
            <a:spAutoFit/>
          </a:bodyPr>
          <a:lstStyle/>
          <a:p>
            <a:r>
              <a:rPr lang="en-US" dirty="0"/>
              <a:t>output</a:t>
            </a:r>
          </a:p>
        </p:txBody>
      </p:sp>
      <p:sp>
        <p:nvSpPr>
          <p:cNvPr id="18" name="TextBox 17">
            <a:extLst>
              <a:ext uri="{FF2B5EF4-FFF2-40B4-BE49-F238E27FC236}">
                <a16:creationId xmlns:a16="http://schemas.microsoft.com/office/drawing/2014/main" id="{6206FC07-9C8C-E123-A1C9-66885A3770B6}"/>
              </a:ext>
            </a:extLst>
          </p:cNvPr>
          <p:cNvSpPr txBox="1"/>
          <p:nvPr/>
        </p:nvSpPr>
        <p:spPr>
          <a:xfrm>
            <a:off x="1191127" y="5452758"/>
            <a:ext cx="6208294" cy="1200329"/>
          </a:xfrm>
          <a:prstGeom prst="rect">
            <a:avLst/>
          </a:prstGeom>
          <a:noFill/>
        </p:spPr>
        <p:txBody>
          <a:bodyPr wrap="square">
            <a:spAutoFit/>
          </a:bodyPr>
          <a:lstStyle/>
          <a:p>
            <a:r>
              <a:rPr lang="en-US" dirty="0"/>
              <a:t>Resolution: 1280 x 720</a:t>
            </a:r>
          </a:p>
          <a:p>
            <a:r>
              <a:rPr lang="en-US" dirty="0"/>
              <a:t>Valid frames: 22</a:t>
            </a:r>
          </a:p>
          <a:p>
            <a:r>
              <a:rPr lang="en-US" dirty="0"/>
              <a:t>Reprojection RMS: 0.42 </a:t>
            </a:r>
            <a:r>
              <a:rPr lang="en-US" dirty="0" err="1"/>
              <a:t>px</a:t>
            </a:r>
            <a:endParaRPr lang="en-US" dirty="0"/>
          </a:p>
          <a:p>
            <a:r>
              <a:rPr lang="en-US" dirty="0"/>
              <a:t>Saved: .../calibration/</a:t>
            </a:r>
            <a:r>
              <a:rPr lang="en-US" dirty="0" err="1"/>
              <a:t>webcam_calibration.npz</a:t>
            </a:r>
            <a:endParaRPr lang="en-US" dirty="0"/>
          </a:p>
        </p:txBody>
      </p:sp>
      <p:sp>
        <p:nvSpPr>
          <p:cNvPr id="20" name="TextBox 19">
            <a:extLst>
              <a:ext uri="{FF2B5EF4-FFF2-40B4-BE49-F238E27FC236}">
                <a16:creationId xmlns:a16="http://schemas.microsoft.com/office/drawing/2014/main" id="{DCDEF6B3-D081-2EE0-C39E-C8A111AA32D7}"/>
              </a:ext>
            </a:extLst>
          </p:cNvPr>
          <p:cNvSpPr txBox="1"/>
          <p:nvPr/>
        </p:nvSpPr>
        <p:spPr>
          <a:xfrm>
            <a:off x="6857999" y="2628701"/>
            <a:ext cx="5089359" cy="369332"/>
          </a:xfrm>
          <a:prstGeom prst="rect">
            <a:avLst/>
          </a:prstGeom>
          <a:noFill/>
        </p:spPr>
        <p:txBody>
          <a:bodyPr wrap="square">
            <a:spAutoFit/>
          </a:bodyPr>
          <a:lstStyle/>
          <a:p>
            <a:r>
              <a:rPr lang="en-US" dirty="0"/>
              <a:t>The </a:t>
            </a:r>
            <a:r>
              <a:rPr lang="en-US" dirty="0">
                <a:latin typeface="+mn-lt"/>
              </a:rPr>
              <a:t>.</a:t>
            </a:r>
            <a:r>
              <a:rPr lang="en-US" dirty="0" err="1">
                <a:latin typeface="+mn-lt"/>
              </a:rPr>
              <a:t>npz</a:t>
            </a:r>
            <a:r>
              <a:rPr lang="en-US" dirty="0"/>
              <a:t> stores the important camera information</a:t>
            </a:r>
          </a:p>
        </p:txBody>
      </p:sp>
      <p:sp>
        <p:nvSpPr>
          <p:cNvPr id="22" name="TextBox 21">
            <a:extLst>
              <a:ext uri="{FF2B5EF4-FFF2-40B4-BE49-F238E27FC236}">
                <a16:creationId xmlns:a16="http://schemas.microsoft.com/office/drawing/2014/main" id="{C6FC4A0A-BCBD-1A8F-CFFD-6A43AD42FC7C}"/>
              </a:ext>
            </a:extLst>
          </p:cNvPr>
          <p:cNvSpPr txBox="1"/>
          <p:nvPr/>
        </p:nvSpPr>
        <p:spPr>
          <a:xfrm>
            <a:off x="8698830" y="2998033"/>
            <a:ext cx="3332747" cy="2031325"/>
          </a:xfrm>
          <a:prstGeom prst="rect">
            <a:avLst/>
          </a:prstGeom>
          <a:noFill/>
        </p:spPr>
        <p:txBody>
          <a:bodyPr wrap="square">
            <a:spAutoFit/>
          </a:bodyPr>
          <a:lstStyle/>
          <a:p>
            <a:r>
              <a:rPr lang="en-US" dirty="0" err="1"/>
              <a:t>camera_matrix</a:t>
            </a:r>
            <a:endParaRPr lang="en-US" dirty="0"/>
          </a:p>
          <a:p>
            <a:r>
              <a:rPr lang="en-US" dirty="0" err="1"/>
              <a:t>dist_coeffs</a:t>
            </a:r>
            <a:endParaRPr lang="en-US" dirty="0"/>
          </a:p>
          <a:p>
            <a:r>
              <a:rPr lang="en-US" dirty="0" err="1"/>
              <a:t>image_width</a:t>
            </a:r>
            <a:endParaRPr lang="en-US" dirty="0"/>
          </a:p>
          <a:p>
            <a:r>
              <a:rPr lang="en-US" dirty="0" err="1"/>
              <a:t>image_height</a:t>
            </a:r>
            <a:endParaRPr lang="en-US" dirty="0"/>
          </a:p>
          <a:p>
            <a:r>
              <a:rPr lang="en-US" dirty="0" err="1"/>
              <a:t>reprojection_error</a:t>
            </a:r>
            <a:endParaRPr lang="en-US" dirty="0"/>
          </a:p>
          <a:p>
            <a:r>
              <a:rPr lang="en-US" dirty="0"/>
              <a:t>timestamp</a:t>
            </a:r>
          </a:p>
          <a:p>
            <a:r>
              <a:rPr lang="en-US" dirty="0" err="1"/>
              <a:t>board_definition</a:t>
            </a:r>
            <a:endParaRPr lang="en-US" dirty="0"/>
          </a:p>
        </p:txBody>
      </p:sp>
    </p:spTree>
    <p:extLst>
      <p:ext uri="{BB962C8B-B14F-4D97-AF65-F5344CB8AC3E}">
        <p14:creationId xmlns:p14="http://schemas.microsoft.com/office/powerpoint/2010/main" val="16154827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7A5C7-7532-7690-83F4-767E53D0B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DCD127-259C-A7C2-67EC-356FE7CD8F28}"/>
              </a:ext>
            </a:extLst>
          </p:cNvPr>
          <p:cNvSpPr>
            <a:spLocks noGrp="1"/>
          </p:cNvSpPr>
          <p:nvPr>
            <p:ph type="title"/>
          </p:nvPr>
        </p:nvSpPr>
        <p:spPr>
          <a:xfrm>
            <a:off x="0" y="18255"/>
            <a:ext cx="12192000" cy="587801"/>
          </a:xfrm>
        </p:spPr>
        <p:txBody>
          <a:bodyPr>
            <a:normAutofit fontScale="90000"/>
          </a:bodyPr>
          <a:lstStyle/>
          <a:p>
            <a:r>
              <a:rPr lang="en-US" dirty="0" err="1"/>
              <a:t>Main.py</a:t>
            </a:r>
            <a:endParaRPr lang="en-US" dirty="0"/>
          </a:p>
        </p:txBody>
      </p:sp>
      <p:sp>
        <p:nvSpPr>
          <p:cNvPr id="5" name="TextBox 4">
            <a:extLst>
              <a:ext uri="{FF2B5EF4-FFF2-40B4-BE49-F238E27FC236}">
                <a16:creationId xmlns:a16="http://schemas.microsoft.com/office/drawing/2014/main" id="{CAC46BCA-5106-F6CE-22BA-A4B39322337F}"/>
              </a:ext>
            </a:extLst>
          </p:cNvPr>
          <p:cNvSpPr txBox="1"/>
          <p:nvPr/>
        </p:nvSpPr>
        <p:spPr>
          <a:xfrm>
            <a:off x="4345405" y="1997839"/>
            <a:ext cx="3501189" cy="2862322"/>
          </a:xfrm>
          <a:prstGeom prst="rect">
            <a:avLst/>
          </a:prstGeom>
          <a:noFill/>
        </p:spPr>
        <p:txBody>
          <a:bodyPr wrap="square">
            <a:spAutoFit/>
          </a:bodyPr>
          <a:lstStyle/>
          <a:p>
            <a:r>
              <a:rPr lang="en-US" dirty="0"/>
              <a:t>1. Start </a:t>
            </a:r>
            <a:r>
              <a:rPr lang="en-US" dirty="0" err="1"/>
              <a:t>VisualTrackingCore</a:t>
            </a:r>
            <a:endParaRPr lang="en-US" dirty="0"/>
          </a:p>
          <a:p>
            <a:r>
              <a:rPr lang="en-US" dirty="0"/>
              <a:t>2. Select </a:t>
            </a:r>
            <a:r>
              <a:rPr lang="en-US" dirty="0" err="1"/>
              <a:t>AprilTag</a:t>
            </a:r>
            <a:r>
              <a:rPr lang="en-US" dirty="0"/>
              <a:t> or </a:t>
            </a:r>
            <a:r>
              <a:rPr lang="en-US" dirty="0" err="1"/>
              <a:t>ArUco</a:t>
            </a:r>
            <a:endParaRPr lang="en-US" dirty="0"/>
          </a:p>
          <a:p>
            <a:r>
              <a:rPr lang="en-US" dirty="0"/>
              <a:t>3. Select 3D Pose</a:t>
            </a:r>
          </a:p>
          <a:p>
            <a:r>
              <a:rPr lang="en-US" dirty="0"/>
              <a:t>4. Enter the real tag size</a:t>
            </a:r>
          </a:p>
          <a:p>
            <a:r>
              <a:rPr lang="en-US" dirty="0"/>
              <a:t>5. Load </a:t>
            </a:r>
            <a:r>
              <a:rPr lang="en-US" dirty="0" err="1"/>
              <a:t>webcam_calibration.npz</a:t>
            </a:r>
            <a:endParaRPr lang="en-US" dirty="0"/>
          </a:p>
          <a:p>
            <a:r>
              <a:rPr lang="en-US" dirty="0"/>
              <a:t>6. Start tracking</a:t>
            </a:r>
          </a:p>
          <a:p>
            <a:r>
              <a:rPr lang="en-US" dirty="0"/>
              <a:t>7. Verify XYZ + yaw/pitch/roll</a:t>
            </a:r>
          </a:p>
          <a:p>
            <a:r>
              <a:rPr lang="en-US" dirty="0"/>
              <a:t>8. Set 0° Reference</a:t>
            </a:r>
          </a:p>
          <a:p>
            <a:r>
              <a:rPr lang="en-US" dirty="0"/>
              <a:t>9. Verify </a:t>
            </a:r>
            <a:r>
              <a:rPr lang="en-US" dirty="0" err="1"/>
              <a:t>response_azimuth_deg</a:t>
            </a:r>
            <a:endParaRPr lang="en-US" dirty="0"/>
          </a:p>
          <a:p>
            <a:r>
              <a:rPr lang="en-US" dirty="0"/>
              <a:t>10. Optionally verify LSL</a:t>
            </a:r>
          </a:p>
        </p:txBody>
      </p:sp>
      <p:sp>
        <p:nvSpPr>
          <p:cNvPr id="8" name="TextBox 7">
            <a:extLst>
              <a:ext uri="{FF2B5EF4-FFF2-40B4-BE49-F238E27FC236}">
                <a16:creationId xmlns:a16="http://schemas.microsoft.com/office/drawing/2014/main" id="{B501A2A5-DE4F-998F-25CF-C07C05DCFA76}"/>
              </a:ext>
            </a:extLst>
          </p:cNvPr>
          <p:cNvSpPr txBox="1"/>
          <p:nvPr/>
        </p:nvSpPr>
        <p:spPr>
          <a:xfrm>
            <a:off x="5247774" y="1324825"/>
            <a:ext cx="1239252" cy="369332"/>
          </a:xfrm>
          <a:prstGeom prst="rect">
            <a:avLst/>
          </a:prstGeom>
          <a:noFill/>
        </p:spPr>
        <p:txBody>
          <a:bodyPr wrap="square">
            <a:spAutoFit/>
          </a:bodyPr>
          <a:lstStyle/>
          <a:p>
            <a:r>
              <a:rPr lang="en-US" dirty="0"/>
              <a:t>Workflow</a:t>
            </a:r>
          </a:p>
        </p:txBody>
      </p:sp>
    </p:spTree>
    <p:extLst>
      <p:ext uri="{BB962C8B-B14F-4D97-AF65-F5344CB8AC3E}">
        <p14:creationId xmlns:p14="http://schemas.microsoft.com/office/powerpoint/2010/main" val="3759096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0C77F-E408-76FA-885C-D868A9BB4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859A9-C825-ED80-E282-4976A29D5FB6}"/>
              </a:ext>
            </a:extLst>
          </p:cNvPr>
          <p:cNvSpPr>
            <a:spLocks noGrp="1"/>
          </p:cNvSpPr>
          <p:nvPr>
            <p:ph type="title"/>
          </p:nvPr>
        </p:nvSpPr>
        <p:spPr>
          <a:xfrm>
            <a:off x="0" y="18255"/>
            <a:ext cx="12192000" cy="587801"/>
          </a:xfrm>
        </p:spPr>
        <p:txBody>
          <a:bodyPr>
            <a:normAutofit fontScale="90000"/>
          </a:bodyPr>
          <a:lstStyle/>
          <a:p>
            <a:r>
              <a:rPr lang="en-US" dirty="0" err="1"/>
              <a:t>Main.py</a:t>
            </a:r>
            <a:endParaRPr lang="en-US" dirty="0"/>
          </a:p>
        </p:txBody>
      </p:sp>
      <p:sp>
        <p:nvSpPr>
          <p:cNvPr id="4" name="TextBox 3">
            <a:extLst>
              <a:ext uri="{FF2B5EF4-FFF2-40B4-BE49-F238E27FC236}">
                <a16:creationId xmlns:a16="http://schemas.microsoft.com/office/drawing/2014/main" id="{A3677B8A-443E-BC38-8BFA-38AA2A0D5677}"/>
              </a:ext>
            </a:extLst>
          </p:cNvPr>
          <p:cNvSpPr txBox="1"/>
          <p:nvPr/>
        </p:nvSpPr>
        <p:spPr>
          <a:xfrm>
            <a:off x="2887579" y="1769103"/>
            <a:ext cx="6208294" cy="3416320"/>
          </a:xfrm>
          <a:prstGeom prst="rect">
            <a:avLst/>
          </a:prstGeom>
          <a:noFill/>
        </p:spPr>
        <p:txBody>
          <a:bodyPr wrap="square">
            <a:spAutoFit/>
          </a:bodyPr>
          <a:lstStyle/>
          <a:p>
            <a:r>
              <a:rPr lang="en-US" dirty="0"/>
              <a:t>[Setup]</a:t>
            </a:r>
          </a:p>
          <a:p>
            <a:r>
              <a:rPr lang="en-US" dirty="0"/>
              <a:t>Tracking Method: </a:t>
            </a:r>
            <a:r>
              <a:rPr lang="en-US" dirty="0" err="1"/>
              <a:t>AprilTag</a:t>
            </a:r>
            <a:endParaRPr lang="en-US" dirty="0"/>
          </a:p>
          <a:p>
            <a:r>
              <a:rPr lang="en-US" dirty="0"/>
              <a:t>Tracking Mode:   3D Pose</a:t>
            </a:r>
          </a:p>
          <a:p>
            <a:endParaRPr lang="en-US" dirty="0"/>
          </a:p>
          <a:p>
            <a:r>
              <a:rPr lang="en-US" dirty="0"/>
              <a:t>Tag Family:      tagStandard41h12</a:t>
            </a:r>
          </a:p>
          <a:p>
            <a:r>
              <a:rPr lang="en-US" dirty="0"/>
              <a:t>Tag ID:          0</a:t>
            </a:r>
          </a:p>
          <a:p>
            <a:r>
              <a:rPr lang="en-US" dirty="0"/>
              <a:t>Tag Size:        50.0 mm</a:t>
            </a:r>
          </a:p>
          <a:p>
            <a:endParaRPr lang="en-US" dirty="0"/>
          </a:p>
          <a:p>
            <a:r>
              <a:rPr lang="en-US" dirty="0"/>
              <a:t>Calibration:</a:t>
            </a:r>
          </a:p>
          <a:p>
            <a:r>
              <a:rPr lang="en-US" dirty="0"/>
              <a:t>calibration/</a:t>
            </a:r>
            <a:r>
              <a:rPr lang="en-US" dirty="0" err="1"/>
              <a:t>webcam_calibration.npz</a:t>
            </a:r>
            <a:endParaRPr lang="en-US" dirty="0"/>
          </a:p>
          <a:p>
            <a:endParaRPr lang="en-US" dirty="0"/>
          </a:p>
          <a:p>
            <a:r>
              <a:rPr lang="en-US" dirty="0"/>
              <a:t>Calibration status: Valid</a:t>
            </a:r>
          </a:p>
        </p:txBody>
      </p:sp>
      <p:sp>
        <p:nvSpPr>
          <p:cNvPr id="6" name="TextBox 5">
            <a:extLst>
              <a:ext uri="{FF2B5EF4-FFF2-40B4-BE49-F238E27FC236}">
                <a16:creationId xmlns:a16="http://schemas.microsoft.com/office/drawing/2014/main" id="{C7328CE5-E755-6BD8-0FB9-A18E4959D9FA}"/>
              </a:ext>
            </a:extLst>
          </p:cNvPr>
          <p:cNvSpPr txBox="1"/>
          <p:nvPr/>
        </p:nvSpPr>
        <p:spPr>
          <a:xfrm>
            <a:off x="2045369" y="5596507"/>
            <a:ext cx="6208294" cy="369332"/>
          </a:xfrm>
          <a:prstGeom prst="rect">
            <a:avLst/>
          </a:prstGeom>
          <a:noFill/>
        </p:spPr>
        <p:txBody>
          <a:bodyPr wrap="square">
            <a:spAutoFit/>
          </a:bodyPr>
          <a:lstStyle/>
          <a:p>
            <a:r>
              <a:rPr lang="en-US" dirty="0"/>
              <a:t>tag size must match the physical printed marker size</a:t>
            </a:r>
          </a:p>
        </p:txBody>
      </p:sp>
    </p:spTree>
    <p:extLst>
      <p:ext uri="{BB962C8B-B14F-4D97-AF65-F5344CB8AC3E}">
        <p14:creationId xmlns:p14="http://schemas.microsoft.com/office/powerpoint/2010/main" val="15819901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2A338-0914-BE93-AE92-3FBE8EE3E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5A80BB-2F23-D295-95A1-30085BF163B2}"/>
              </a:ext>
            </a:extLst>
          </p:cNvPr>
          <p:cNvSpPr>
            <a:spLocks noGrp="1"/>
          </p:cNvSpPr>
          <p:nvPr>
            <p:ph type="title"/>
          </p:nvPr>
        </p:nvSpPr>
        <p:spPr>
          <a:xfrm>
            <a:off x="0" y="18255"/>
            <a:ext cx="12192000" cy="587801"/>
          </a:xfrm>
        </p:spPr>
        <p:txBody>
          <a:bodyPr>
            <a:normAutofit fontScale="90000"/>
          </a:bodyPr>
          <a:lstStyle/>
          <a:p>
            <a:r>
              <a:rPr lang="en-US" dirty="0" err="1"/>
              <a:t>Main.py</a:t>
            </a:r>
            <a:endParaRPr lang="en-US" dirty="0"/>
          </a:p>
        </p:txBody>
      </p:sp>
      <p:sp>
        <p:nvSpPr>
          <p:cNvPr id="4" name="TextBox 3">
            <a:extLst>
              <a:ext uri="{FF2B5EF4-FFF2-40B4-BE49-F238E27FC236}">
                <a16:creationId xmlns:a16="http://schemas.microsoft.com/office/drawing/2014/main" id="{656CAF28-B3BF-074F-3579-B194DC597A37}"/>
              </a:ext>
            </a:extLst>
          </p:cNvPr>
          <p:cNvSpPr txBox="1"/>
          <p:nvPr/>
        </p:nvSpPr>
        <p:spPr>
          <a:xfrm>
            <a:off x="2887579" y="1353604"/>
            <a:ext cx="6208294" cy="3970318"/>
          </a:xfrm>
          <a:prstGeom prst="rect">
            <a:avLst/>
          </a:prstGeom>
          <a:noFill/>
        </p:spPr>
        <p:txBody>
          <a:bodyPr wrap="square">
            <a:spAutoFit/>
          </a:bodyPr>
          <a:lstStyle/>
          <a:p>
            <a:r>
              <a:rPr lang="en-US" dirty="0"/>
              <a:t>Move left/right</a:t>
            </a:r>
          </a:p>
          <a:p>
            <a:r>
              <a:rPr lang="en-US" dirty="0"/>
              <a:t>→ mostly X changes</a:t>
            </a:r>
          </a:p>
          <a:p>
            <a:endParaRPr lang="en-US" dirty="0"/>
          </a:p>
          <a:p>
            <a:r>
              <a:rPr lang="en-US" dirty="0"/>
              <a:t>Move closer/farther from camera</a:t>
            </a:r>
          </a:p>
          <a:p>
            <a:r>
              <a:rPr lang="en-US" dirty="0"/>
              <a:t>→ mostly Z changes</a:t>
            </a:r>
          </a:p>
          <a:p>
            <a:endParaRPr lang="en-US" dirty="0"/>
          </a:p>
          <a:p>
            <a:r>
              <a:rPr lang="en-US" dirty="0"/>
              <a:t>Rotate head/marker left-right</a:t>
            </a:r>
          </a:p>
          <a:p>
            <a:r>
              <a:rPr lang="en-US" dirty="0"/>
              <a:t>→ mostly Yaw changes</a:t>
            </a:r>
          </a:p>
          <a:p>
            <a:endParaRPr lang="en-US" dirty="0"/>
          </a:p>
          <a:p>
            <a:r>
              <a:rPr lang="en-US" dirty="0"/>
              <a:t>Tilt forward/back</a:t>
            </a:r>
          </a:p>
          <a:p>
            <a:r>
              <a:rPr lang="en-US" dirty="0"/>
              <a:t>→ mostly Pitch changes</a:t>
            </a:r>
          </a:p>
          <a:p>
            <a:endParaRPr lang="en-US" dirty="0"/>
          </a:p>
          <a:p>
            <a:r>
              <a:rPr lang="en-US" dirty="0"/>
              <a:t>Tilt sideways</a:t>
            </a:r>
          </a:p>
          <a:p>
            <a:r>
              <a:rPr lang="en-US" dirty="0"/>
              <a:t>→ mostly Roll changes</a:t>
            </a:r>
          </a:p>
        </p:txBody>
      </p:sp>
    </p:spTree>
    <p:extLst>
      <p:ext uri="{BB962C8B-B14F-4D97-AF65-F5344CB8AC3E}">
        <p14:creationId xmlns:p14="http://schemas.microsoft.com/office/powerpoint/2010/main" val="2001600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460A9-470F-528D-7796-223F370126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B49652-6E9F-3D77-ECF0-851962DAC475}"/>
              </a:ext>
            </a:extLst>
          </p:cNvPr>
          <p:cNvSpPr>
            <a:spLocks noGrp="1"/>
          </p:cNvSpPr>
          <p:nvPr>
            <p:ph type="title"/>
          </p:nvPr>
        </p:nvSpPr>
        <p:spPr>
          <a:xfrm>
            <a:off x="0" y="18255"/>
            <a:ext cx="12192000" cy="587801"/>
          </a:xfrm>
        </p:spPr>
        <p:txBody>
          <a:bodyPr>
            <a:normAutofit fontScale="90000"/>
          </a:bodyPr>
          <a:lstStyle/>
          <a:p>
            <a:r>
              <a:rPr lang="en-US" dirty="0" err="1"/>
              <a:t>Main.py</a:t>
            </a:r>
            <a:endParaRPr lang="en-US" dirty="0"/>
          </a:p>
        </p:txBody>
      </p:sp>
      <p:sp>
        <p:nvSpPr>
          <p:cNvPr id="4" name="TextBox 3">
            <a:extLst>
              <a:ext uri="{FF2B5EF4-FFF2-40B4-BE49-F238E27FC236}">
                <a16:creationId xmlns:a16="http://schemas.microsoft.com/office/drawing/2014/main" id="{1B122027-168F-49EB-7BF8-04FF455888F3}"/>
              </a:ext>
            </a:extLst>
          </p:cNvPr>
          <p:cNvSpPr txBox="1"/>
          <p:nvPr/>
        </p:nvSpPr>
        <p:spPr>
          <a:xfrm>
            <a:off x="397043" y="813819"/>
            <a:ext cx="9697452" cy="369332"/>
          </a:xfrm>
          <a:prstGeom prst="rect">
            <a:avLst/>
          </a:prstGeom>
          <a:noFill/>
        </p:spPr>
        <p:txBody>
          <a:bodyPr wrap="square">
            <a:spAutoFit/>
          </a:bodyPr>
          <a:lstStyle/>
          <a:p>
            <a:r>
              <a:rPr lang="en-US" dirty="0"/>
              <a:t>Face the marker toward your defined center-speaker direction and press:</a:t>
            </a:r>
          </a:p>
        </p:txBody>
      </p:sp>
      <p:sp>
        <p:nvSpPr>
          <p:cNvPr id="6" name="TextBox 5">
            <a:extLst>
              <a:ext uri="{FF2B5EF4-FFF2-40B4-BE49-F238E27FC236}">
                <a16:creationId xmlns:a16="http://schemas.microsoft.com/office/drawing/2014/main" id="{19B74C30-6B4E-C905-E9DF-EAA11C7BBD2C}"/>
              </a:ext>
            </a:extLst>
          </p:cNvPr>
          <p:cNvSpPr txBox="1"/>
          <p:nvPr/>
        </p:nvSpPr>
        <p:spPr>
          <a:xfrm>
            <a:off x="8345905" y="813819"/>
            <a:ext cx="2073442" cy="369332"/>
          </a:xfrm>
          <a:prstGeom prst="rect">
            <a:avLst/>
          </a:prstGeom>
          <a:noFill/>
        </p:spPr>
        <p:txBody>
          <a:bodyPr wrap="square">
            <a:spAutoFit/>
          </a:bodyPr>
          <a:lstStyle/>
          <a:p>
            <a:r>
              <a:rPr lang="en-US" dirty="0"/>
              <a:t>Set 0° Reference</a:t>
            </a:r>
          </a:p>
        </p:txBody>
      </p:sp>
      <p:sp>
        <p:nvSpPr>
          <p:cNvPr id="8" name="TextBox 7">
            <a:extLst>
              <a:ext uri="{FF2B5EF4-FFF2-40B4-BE49-F238E27FC236}">
                <a16:creationId xmlns:a16="http://schemas.microsoft.com/office/drawing/2014/main" id="{4E169D8C-70A9-3E1B-9F88-75A6602D3F5F}"/>
              </a:ext>
            </a:extLst>
          </p:cNvPr>
          <p:cNvSpPr txBox="1"/>
          <p:nvPr/>
        </p:nvSpPr>
        <p:spPr>
          <a:xfrm>
            <a:off x="397043" y="1758434"/>
            <a:ext cx="6208294" cy="369332"/>
          </a:xfrm>
          <a:prstGeom prst="rect">
            <a:avLst/>
          </a:prstGeom>
          <a:noFill/>
        </p:spPr>
        <p:txBody>
          <a:bodyPr wrap="square">
            <a:spAutoFit/>
          </a:bodyPr>
          <a:lstStyle/>
          <a:p>
            <a:r>
              <a:rPr lang="en-US" dirty="0"/>
              <a:t>should show something like:</a:t>
            </a:r>
          </a:p>
        </p:txBody>
      </p:sp>
      <p:sp>
        <p:nvSpPr>
          <p:cNvPr id="10" name="TextBox 9">
            <a:extLst>
              <a:ext uri="{FF2B5EF4-FFF2-40B4-BE49-F238E27FC236}">
                <a16:creationId xmlns:a16="http://schemas.microsoft.com/office/drawing/2014/main" id="{251B4DB4-9E7D-161B-087B-B5A50A927F26}"/>
              </a:ext>
            </a:extLst>
          </p:cNvPr>
          <p:cNvSpPr txBox="1"/>
          <p:nvPr/>
        </p:nvSpPr>
        <p:spPr>
          <a:xfrm>
            <a:off x="3886201" y="1804600"/>
            <a:ext cx="6208294" cy="646331"/>
          </a:xfrm>
          <a:prstGeom prst="rect">
            <a:avLst/>
          </a:prstGeom>
          <a:noFill/>
        </p:spPr>
        <p:txBody>
          <a:bodyPr wrap="square">
            <a:spAutoFit/>
          </a:bodyPr>
          <a:lstStyle/>
          <a:p>
            <a:r>
              <a:rPr lang="en-US" dirty="0"/>
              <a:t>Reference: 3D yaw 14.6° = speaker-array 0°</a:t>
            </a:r>
          </a:p>
          <a:p>
            <a:r>
              <a:rPr lang="en-US" dirty="0"/>
              <a:t>Response azimuth: 0.0°</a:t>
            </a:r>
          </a:p>
        </p:txBody>
      </p:sp>
      <p:sp>
        <p:nvSpPr>
          <p:cNvPr id="12" name="TextBox 11">
            <a:extLst>
              <a:ext uri="{FF2B5EF4-FFF2-40B4-BE49-F238E27FC236}">
                <a16:creationId xmlns:a16="http://schemas.microsoft.com/office/drawing/2014/main" id="{5A88346D-F4E9-8F19-65AF-E8F9A6A0CEC4}"/>
              </a:ext>
            </a:extLst>
          </p:cNvPr>
          <p:cNvSpPr txBox="1"/>
          <p:nvPr/>
        </p:nvSpPr>
        <p:spPr>
          <a:xfrm>
            <a:off x="2466473" y="4566853"/>
            <a:ext cx="6208294" cy="1477328"/>
          </a:xfrm>
          <a:prstGeom prst="rect">
            <a:avLst/>
          </a:prstGeom>
          <a:noFill/>
        </p:spPr>
        <p:txBody>
          <a:bodyPr wrap="square">
            <a:spAutoFit/>
          </a:bodyPr>
          <a:lstStyle/>
          <a:p>
            <a:pPr marL="342900" lvl="0" indent="-342900">
              <a:buFont typeface="Arial" panose="020B0604020202020204" pitchFamily="34" charset="0"/>
              <a:buChar char="•"/>
            </a:pPr>
            <a:r>
              <a:rPr lang="en-US" dirty="0"/>
              <a:t>tracking stays valid </a:t>
            </a:r>
          </a:p>
          <a:p>
            <a:pPr marL="342900" lvl="0" indent="-342900">
              <a:buFont typeface="Arial" panose="020B0604020202020204" pitchFamily="34" charset="0"/>
              <a:buChar char="•"/>
            </a:pPr>
            <a:r>
              <a:rPr lang="en-US" dirty="0"/>
              <a:t>yaw changes in the expected direction </a:t>
            </a:r>
          </a:p>
          <a:p>
            <a:pPr marL="342900" lvl="0" indent="-342900">
              <a:buFont typeface="Arial" panose="020B0604020202020204" pitchFamily="34" charset="0"/>
              <a:buChar char="•"/>
            </a:pPr>
            <a:r>
              <a:rPr lang="en-US" dirty="0"/>
              <a:t>zero reference works </a:t>
            </a:r>
          </a:p>
          <a:p>
            <a:pPr marL="342900" lvl="0" indent="-342900">
              <a:buFont typeface="Arial" panose="020B0604020202020204" pitchFamily="34" charset="0"/>
              <a:buChar char="•"/>
            </a:pPr>
            <a:r>
              <a:rPr lang="en-US" dirty="0"/>
              <a:t>response azimuth is stable </a:t>
            </a:r>
          </a:p>
          <a:p>
            <a:pPr marL="342900" lvl="0" indent="-342900">
              <a:buFont typeface="Arial" panose="020B0604020202020204" pitchFamily="34" charset="0"/>
              <a:buChar char="•"/>
            </a:pPr>
            <a:r>
              <a:rPr lang="en-US" dirty="0"/>
              <a:t>pitch/roll don’t badly corrupt yaw</a:t>
            </a:r>
          </a:p>
        </p:txBody>
      </p:sp>
      <p:sp>
        <p:nvSpPr>
          <p:cNvPr id="13" name="TextBox 12">
            <a:extLst>
              <a:ext uri="{FF2B5EF4-FFF2-40B4-BE49-F238E27FC236}">
                <a16:creationId xmlns:a16="http://schemas.microsoft.com/office/drawing/2014/main" id="{BDC603D2-D950-EF94-309B-4187D607B5B9}"/>
              </a:ext>
            </a:extLst>
          </p:cNvPr>
          <p:cNvSpPr txBox="1"/>
          <p:nvPr/>
        </p:nvSpPr>
        <p:spPr>
          <a:xfrm>
            <a:off x="1941094" y="4197521"/>
            <a:ext cx="2073442" cy="369332"/>
          </a:xfrm>
          <a:prstGeom prst="rect">
            <a:avLst/>
          </a:prstGeom>
          <a:noFill/>
        </p:spPr>
        <p:txBody>
          <a:bodyPr wrap="square">
            <a:spAutoFit/>
          </a:bodyPr>
          <a:lstStyle/>
          <a:p>
            <a:r>
              <a:rPr lang="en-US" dirty="0"/>
              <a:t>Need to verify</a:t>
            </a:r>
          </a:p>
        </p:txBody>
      </p:sp>
    </p:spTree>
    <p:extLst>
      <p:ext uri="{BB962C8B-B14F-4D97-AF65-F5344CB8AC3E}">
        <p14:creationId xmlns:p14="http://schemas.microsoft.com/office/powerpoint/2010/main" val="1423862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235E6-0A20-4C40-C0F9-743CABB44D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0EEDA-59FE-039A-8C93-90A2261E6C47}"/>
              </a:ext>
            </a:extLst>
          </p:cNvPr>
          <p:cNvSpPr>
            <a:spLocks noGrp="1"/>
          </p:cNvSpPr>
          <p:nvPr>
            <p:ph type="title"/>
          </p:nvPr>
        </p:nvSpPr>
        <p:spPr>
          <a:xfrm>
            <a:off x="0" y="18255"/>
            <a:ext cx="12192000" cy="587801"/>
          </a:xfrm>
        </p:spPr>
        <p:txBody>
          <a:bodyPr>
            <a:normAutofit fontScale="90000"/>
          </a:bodyPr>
          <a:lstStyle/>
          <a:p>
            <a:r>
              <a:rPr lang="en-US" dirty="0"/>
              <a:t>Response azimuth</a:t>
            </a:r>
          </a:p>
        </p:txBody>
      </p:sp>
      <p:sp>
        <p:nvSpPr>
          <p:cNvPr id="4" name="TextBox 3">
            <a:extLst>
              <a:ext uri="{FF2B5EF4-FFF2-40B4-BE49-F238E27FC236}">
                <a16:creationId xmlns:a16="http://schemas.microsoft.com/office/drawing/2014/main" id="{A60FE531-11B2-83BB-2C31-A797C88FA5BE}"/>
              </a:ext>
            </a:extLst>
          </p:cNvPr>
          <p:cNvSpPr txBox="1"/>
          <p:nvPr/>
        </p:nvSpPr>
        <p:spPr>
          <a:xfrm>
            <a:off x="733927" y="843488"/>
            <a:ext cx="6509084" cy="369332"/>
          </a:xfrm>
          <a:prstGeom prst="rect">
            <a:avLst/>
          </a:prstGeom>
          <a:noFill/>
        </p:spPr>
        <p:txBody>
          <a:bodyPr wrap="square">
            <a:spAutoFit/>
          </a:bodyPr>
          <a:lstStyle/>
          <a:p>
            <a:r>
              <a:rPr lang="en-US" dirty="0" err="1"/>
              <a:t>response_azimuth</a:t>
            </a:r>
            <a:r>
              <a:rPr lang="en-US" dirty="0"/>
              <a:t> = </a:t>
            </a:r>
            <a:r>
              <a:rPr lang="en-US" dirty="0" err="1"/>
              <a:t>current_orientation</a:t>
            </a:r>
            <a:r>
              <a:rPr lang="en-US" dirty="0"/>
              <a:t> - </a:t>
            </a:r>
            <a:r>
              <a:rPr lang="en-US" dirty="0" err="1"/>
              <a:t>reference_orientation</a:t>
            </a:r>
            <a:endParaRPr lang="en-US" dirty="0"/>
          </a:p>
        </p:txBody>
      </p:sp>
      <p:sp>
        <p:nvSpPr>
          <p:cNvPr id="6" name="TextBox 5">
            <a:extLst>
              <a:ext uri="{FF2B5EF4-FFF2-40B4-BE49-F238E27FC236}">
                <a16:creationId xmlns:a16="http://schemas.microsoft.com/office/drawing/2014/main" id="{26C4A26D-7967-0275-26BB-CAA9E82F21B8}"/>
              </a:ext>
            </a:extLst>
          </p:cNvPr>
          <p:cNvSpPr txBox="1"/>
          <p:nvPr/>
        </p:nvSpPr>
        <p:spPr>
          <a:xfrm>
            <a:off x="733927" y="1450252"/>
            <a:ext cx="6208294" cy="369332"/>
          </a:xfrm>
          <a:prstGeom prst="rect">
            <a:avLst/>
          </a:prstGeom>
          <a:noFill/>
        </p:spPr>
        <p:txBody>
          <a:bodyPr wrap="square">
            <a:spAutoFit/>
          </a:bodyPr>
          <a:lstStyle/>
          <a:p>
            <a:pPr>
              <a:buNone/>
            </a:pPr>
            <a:r>
              <a:rPr lang="en-US" dirty="0"/>
              <a:t>then the result is wrapped into: -180° to +180°</a:t>
            </a:r>
          </a:p>
        </p:txBody>
      </p:sp>
      <p:sp>
        <p:nvSpPr>
          <p:cNvPr id="8" name="TextBox 7">
            <a:extLst>
              <a:ext uri="{FF2B5EF4-FFF2-40B4-BE49-F238E27FC236}">
                <a16:creationId xmlns:a16="http://schemas.microsoft.com/office/drawing/2014/main" id="{7009D6BA-E8C1-B9BA-6365-797CE08F1B02}"/>
              </a:ext>
            </a:extLst>
          </p:cNvPr>
          <p:cNvSpPr txBox="1"/>
          <p:nvPr/>
        </p:nvSpPr>
        <p:spPr>
          <a:xfrm>
            <a:off x="6593305" y="1357919"/>
            <a:ext cx="4668253" cy="923330"/>
          </a:xfrm>
          <a:prstGeom prst="rect">
            <a:avLst/>
          </a:prstGeom>
          <a:noFill/>
        </p:spPr>
        <p:txBody>
          <a:bodyPr wrap="square">
            <a:spAutoFit/>
          </a:bodyPr>
          <a:lstStyle/>
          <a:p>
            <a:r>
              <a:rPr lang="en-US" dirty="0"/>
              <a:t>azimuth = </a:t>
            </a:r>
            <a:r>
              <a:rPr lang="en-US" dirty="0" err="1"/>
              <a:t>wrap_degrees</a:t>
            </a:r>
            <a:r>
              <a:rPr lang="en-US" dirty="0"/>
              <a:t>(</a:t>
            </a:r>
          </a:p>
          <a:p>
            <a:r>
              <a:rPr lang="en-US" dirty="0"/>
              <a:t>    </a:t>
            </a:r>
            <a:r>
              <a:rPr lang="en-US" dirty="0" err="1"/>
              <a:t>self.sign</a:t>
            </a:r>
            <a:r>
              <a:rPr lang="en-US" dirty="0"/>
              <a:t> * (float(value) - </a:t>
            </a:r>
            <a:r>
              <a:rPr lang="en-US" dirty="0" err="1"/>
              <a:t>self.reference_deg</a:t>
            </a:r>
            <a:r>
              <a:rPr lang="en-US" dirty="0"/>
              <a:t>)</a:t>
            </a:r>
          </a:p>
          <a:p>
            <a:r>
              <a:rPr lang="en-US" dirty="0"/>
              <a:t>)</a:t>
            </a:r>
          </a:p>
        </p:txBody>
      </p:sp>
      <p:sp>
        <p:nvSpPr>
          <p:cNvPr id="10" name="TextBox 9">
            <a:extLst>
              <a:ext uri="{FF2B5EF4-FFF2-40B4-BE49-F238E27FC236}">
                <a16:creationId xmlns:a16="http://schemas.microsoft.com/office/drawing/2014/main" id="{93F3F2FF-F92C-2301-D9B0-D5341F9C73D9}"/>
              </a:ext>
            </a:extLst>
          </p:cNvPr>
          <p:cNvSpPr txBox="1"/>
          <p:nvPr/>
        </p:nvSpPr>
        <p:spPr>
          <a:xfrm>
            <a:off x="733927" y="2660530"/>
            <a:ext cx="10202778" cy="646331"/>
          </a:xfrm>
          <a:prstGeom prst="rect">
            <a:avLst/>
          </a:prstGeom>
          <a:noFill/>
        </p:spPr>
        <p:txBody>
          <a:bodyPr wrap="square">
            <a:spAutoFit/>
          </a:bodyPr>
          <a:lstStyle/>
          <a:p>
            <a:r>
              <a:rPr lang="en-US" b="1" dirty="0"/>
              <a:t>Set 0° Reference</a:t>
            </a:r>
            <a:r>
              <a:rPr lang="en-US" dirty="0"/>
              <a:t>, and later subtracts that value from the live orientation. It also checks that tracking is valid and that the source/tag ID still matches the one used for calibration.</a:t>
            </a:r>
          </a:p>
        </p:txBody>
      </p:sp>
      <p:sp>
        <p:nvSpPr>
          <p:cNvPr id="12" name="TextBox 11">
            <a:extLst>
              <a:ext uri="{FF2B5EF4-FFF2-40B4-BE49-F238E27FC236}">
                <a16:creationId xmlns:a16="http://schemas.microsoft.com/office/drawing/2014/main" id="{204E196D-88AE-1B5D-C8E2-16675D8E6C59}"/>
              </a:ext>
            </a:extLst>
          </p:cNvPr>
          <p:cNvSpPr txBox="1"/>
          <p:nvPr/>
        </p:nvSpPr>
        <p:spPr>
          <a:xfrm>
            <a:off x="733927" y="3869022"/>
            <a:ext cx="6208294" cy="2308324"/>
          </a:xfrm>
          <a:prstGeom prst="rect">
            <a:avLst/>
          </a:prstGeom>
          <a:noFill/>
        </p:spPr>
        <p:txBody>
          <a:bodyPr wrap="square">
            <a:spAutoFit/>
          </a:bodyPr>
          <a:lstStyle/>
          <a:p>
            <a:r>
              <a:rPr lang="en-US" dirty="0" err="1"/>
              <a:t>AprilTag</a:t>
            </a:r>
            <a:r>
              <a:rPr lang="en-US" dirty="0"/>
              <a:t> / </a:t>
            </a:r>
            <a:r>
              <a:rPr lang="en-US" dirty="0" err="1"/>
              <a:t>ArUco</a:t>
            </a:r>
            <a:r>
              <a:rPr lang="en-US" dirty="0"/>
              <a:t> 2D mode</a:t>
            </a:r>
          </a:p>
          <a:p>
            <a:r>
              <a:rPr lang="en-US" dirty="0"/>
              <a:t>    → marker rotation</a:t>
            </a:r>
          </a:p>
          <a:p>
            <a:endParaRPr lang="en-US" dirty="0"/>
          </a:p>
          <a:p>
            <a:r>
              <a:rPr lang="en-US" dirty="0" err="1"/>
              <a:t>AprilTag</a:t>
            </a:r>
            <a:r>
              <a:rPr lang="en-US" dirty="0"/>
              <a:t> / </a:t>
            </a:r>
            <a:r>
              <a:rPr lang="en-US" dirty="0" err="1"/>
              <a:t>ArUco</a:t>
            </a:r>
            <a:r>
              <a:rPr lang="en-US" dirty="0"/>
              <a:t> 3D mode</a:t>
            </a:r>
          </a:p>
          <a:p>
            <a:r>
              <a:rPr lang="en-US" dirty="0"/>
              <a:t>    → 3D yaw</a:t>
            </a:r>
          </a:p>
          <a:p>
            <a:endParaRPr lang="en-US" dirty="0"/>
          </a:p>
          <a:p>
            <a:r>
              <a:rPr lang="en-US" dirty="0" err="1"/>
              <a:t>MediaPipe</a:t>
            </a:r>
            <a:endParaRPr lang="en-US" dirty="0"/>
          </a:p>
          <a:p>
            <a:r>
              <a:rPr lang="en-US" dirty="0"/>
              <a:t>    → yaw</a:t>
            </a:r>
          </a:p>
        </p:txBody>
      </p:sp>
    </p:spTree>
    <p:extLst>
      <p:ext uri="{BB962C8B-B14F-4D97-AF65-F5344CB8AC3E}">
        <p14:creationId xmlns:p14="http://schemas.microsoft.com/office/powerpoint/2010/main" val="27858648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B3F58-49B6-2F49-5E5C-FE299F400B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0E238-15A2-16A9-3906-56543370E1F0}"/>
              </a:ext>
            </a:extLst>
          </p:cNvPr>
          <p:cNvSpPr>
            <a:spLocks noGrp="1"/>
          </p:cNvSpPr>
          <p:nvPr>
            <p:ph type="title"/>
          </p:nvPr>
        </p:nvSpPr>
        <p:spPr>
          <a:xfrm>
            <a:off x="0" y="18255"/>
            <a:ext cx="12192000" cy="587801"/>
          </a:xfrm>
        </p:spPr>
        <p:txBody>
          <a:bodyPr>
            <a:normAutofit fontScale="90000"/>
          </a:bodyPr>
          <a:lstStyle/>
          <a:p>
            <a:r>
              <a:rPr lang="en-US" dirty="0" err="1"/>
              <a:t>Mediapipe</a:t>
            </a:r>
            <a:endParaRPr lang="en-US" dirty="0"/>
          </a:p>
        </p:txBody>
      </p:sp>
      <p:sp>
        <p:nvSpPr>
          <p:cNvPr id="6" name="TextBox 5">
            <a:extLst>
              <a:ext uri="{FF2B5EF4-FFF2-40B4-BE49-F238E27FC236}">
                <a16:creationId xmlns:a16="http://schemas.microsoft.com/office/drawing/2014/main" id="{D3F9D288-1FD7-77A6-0DFF-79190F783E18}"/>
              </a:ext>
            </a:extLst>
          </p:cNvPr>
          <p:cNvSpPr txBox="1"/>
          <p:nvPr/>
        </p:nvSpPr>
        <p:spPr>
          <a:xfrm>
            <a:off x="1227222" y="1029842"/>
            <a:ext cx="1744579" cy="1754326"/>
          </a:xfrm>
          <a:prstGeom prst="rect">
            <a:avLst/>
          </a:prstGeom>
          <a:noFill/>
        </p:spPr>
        <p:txBody>
          <a:bodyPr wrap="square">
            <a:spAutoFit/>
          </a:bodyPr>
          <a:lstStyle/>
          <a:p>
            <a:r>
              <a:rPr lang="en-US" dirty="0"/>
              <a:t>nose</a:t>
            </a:r>
          </a:p>
          <a:p>
            <a:r>
              <a:rPr lang="en-US" dirty="0"/>
              <a:t>chin</a:t>
            </a:r>
          </a:p>
          <a:p>
            <a:r>
              <a:rPr lang="en-US" dirty="0"/>
              <a:t>left eye</a:t>
            </a:r>
          </a:p>
          <a:p>
            <a:r>
              <a:rPr lang="en-US" dirty="0"/>
              <a:t>right eye</a:t>
            </a:r>
          </a:p>
          <a:p>
            <a:r>
              <a:rPr lang="en-US" dirty="0"/>
              <a:t>left mouth</a:t>
            </a:r>
          </a:p>
          <a:p>
            <a:r>
              <a:rPr lang="en-US" dirty="0"/>
              <a:t>right mouth</a:t>
            </a:r>
          </a:p>
        </p:txBody>
      </p:sp>
      <p:sp>
        <p:nvSpPr>
          <p:cNvPr id="8" name="TextBox 7">
            <a:extLst>
              <a:ext uri="{FF2B5EF4-FFF2-40B4-BE49-F238E27FC236}">
                <a16:creationId xmlns:a16="http://schemas.microsoft.com/office/drawing/2014/main" id="{3B01ACCC-1E44-0BCB-EF3B-98B431407BBC}"/>
              </a:ext>
            </a:extLst>
          </p:cNvPr>
          <p:cNvSpPr txBox="1"/>
          <p:nvPr/>
        </p:nvSpPr>
        <p:spPr>
          <a:xfrm>
            <a:off x="3585410" y="1029842"/>
            <a:ext cx="6208294" cy="2031325"/>
          </a:xfrm>
          <a:prstGeom prst="rect">
            <a:avLst/>
          </a:prstGeom>
          <a:noFill/>
        </p:spPr>
        <p:txBody>
          <a:bodyPr wrap="square">
            <a:spAutoFit/>
          </a:bodyPr>
          <a:lstStyle/>
          <a:p>
            <a:r>
              <a:rPr lang="en-US" dirty="0" err="1"/>
              <a:t>focal_length</a:t>
            </a:r>
            <a:r>
              <a:rPr lang="en-US" dirty="0"/>
              <a:t> = float(width)</a:t>
            </a:r>
          </a:p>
          <a:p>
            <a:endParaRPr lang="en-US" dirty="0"/>
          </a:p>
          <a:p>
            <a:r>
              <a:rPr lang="en-US" dirty="0" err="1"/>
              <a:t>camera_matrix</a:t>
            </a:r>
            <a:r>
              <a:rPr lang="en-US" dirty="0"/>
              <a:t> = [</a:t>
            </a:r>
          </a:p>
          <a:p>
            <a:r>
              <a:rPr lang="en-US" dirty="0"/>
              <a:t>    [</a:t>
            </a:r>
            <a:r>
              <a:rPr lang="en-US" dirty="0" err="1"/>
              <a:t>focal_length</a:t>
            </a:r>
            <a:r>
              <a:rPr lang="en-US" dirty="0"/>
              <a:t>, 0, width / 2],</a:t>
            </a:r>
          </a:p>
          <a:p>
            <a:r>
              <a:rPr lang="en-US" dirty="0"/>
              <a:t>    [0, </a:t>
            </a:r>
            <a:r>
              <a:rPr lang="en-US" dirty="0" err="1"/>
              <a:t>focal_length</a:t>
            </a:r>
            <a:r>
              <a:rPr lang="en-US" dirty="0"/>
              <a:t>, height / 2],</a:t>
            </a:r>
          </a:p>
          <a:p>
            <a:r>
              <a:rPr lang="en-US" dirty="0"/>
              <a:t>    [0, 0, 1]</a:t>
            </a:r>
          </a:p>
          <a:p>
            <a:r>
              <a:rPr lang="en-US" dirty="0"/>
              <a:t>]</a:t>
            </a:r>
          </a:p>
        </p:txBody>
      </p:sp>
      <p:sp>
        <p:nvSpPr>
          <p:cNvPr id="10" name="TextBox 9">
            <a:extLst>
              <a:ext uri="{FF2B5EF4-FFF2-40B4-BE49-F238E27FC236}">
                <a16:creationId xmlns:a16="http://schemas.microsoft.com/office/drawing/2014/main" id="{707015F8-2932-D934-56AA-60F7ABA214AA}"/>
              </a:ext>
            </a:extLst>
          </p:cNvPr>
          <p:cNvSpPr txBox="1"/>
          <p:nvPr/>
        </p:nvSpPr>
        <p:spPr>
          <a:xfrm>
            <a:off x="3585410" y="3367344"/>
            <a:ext cx="6208294" cy="369332"/>
          </a:xfrm>
          <a:prstGeom prst="rect">
            <a:avLst/>
          </a:prstGeom>
          <a:noFill/>
        </p:spPr>
        <p:txBody>
          <a:bodyPr wrap="square">
            <a:spAutoFit/>
          </a:bodyPr>
          <a:lstStyle/>
          <a:p>
            <a:r>
              <a:rPr lang="en-US" dirty="0"/>
              <a:t>distortion = zeros</a:t>
            </a:r>
          </a:p>
        </p:txBody>
      </p:sp>
      <p:sp>
        <p:nvSpPr>
          <p:cNvPr id="12" name="TextBox 11">
            <a:extLst>
              <a:ext uri="{FF2B5EF4-FFF2-40B4-BE49-F238E27FC236}">
                <a16:creationId xmlns:a16="http://schemas.microsoft.com/office/drawing/2014/main" id="{3B2F941B-EBC9-A22E-BAC4-1BDD232CA798}"/>
              </a:ext>
            </a:extLst>
          </p:cNvPr>
          <p:cNvSpPr txBox="1"/>
          <p:nvPr/>
        </p:nvSpPr>
        <p:spPr>
          <a:xfrm>
            <a:off x="2406316" y="127489"/>
            <a:ext cx="3429000" cy="369332"/>
          </a:xfrm>
          <a:prstGeom prst="rect">
            <a:avLst/>
          </a:prstGeom>
          <a:noFill/>
        </p:spPr>
        <p:txBody>
          <a:bodyPr wrap="square">
            <a:spAutoFit/>
          </a:bodyPr>
          <a:lstStyle/>
          <a:p>
            <a:pPr>
              <a:buNone/>
            </a:pPr>
            <a:r>
              <a:rPr lang="en-US" dirty="0">
                <a:solidFill>
                  <a:srgbClr val="FF0000"/>
                </a:solidFill>
              </a:rPr>
              <a:t>key issue. Need to review</a:t>
            </a:r>
          </a:p>
        </p:txBody>
      </p:sp>
      <p:sp>
        <p:nvSpPr>
          <p:cNvPr id="14" name="TextBox 13">
            <a:extLst>
              <a:ext uri="{FF2B5EF4-FFF2-40B4-BE49-F238E27FC236}">
                <a16:creationId xmlns:a16="http://schemas.microsoft.com/office/drawing/2014/main" id="{CCBAD36E-38C1-AF1E-D6F7-BA5489BF2D05}"/>
              </a:ext>
            </a:extLst>
          </p:cNvPr>
          <p:cNvSpPr txBox="1"/>
          <p:nvPr/>
        </p:nvSpPr>
        <p:spPr>
          <a:xfrm>
            <a:off x="1227222" y="4693867"/>
            <a:ext cx="6208294" cy="923330"/>
          </a:xfrm>
          <a:prstGeom prst="rect">
            <a:avLst/>
          </a:prstGeom>
          <a:noFill/>
        </p:spPr>
        <p:txBody>
          <a:bodyPr wrap="square">
            <a:spAutoFit/>
          </a:bodyPr>
          <a:lstStyle/>
          <a:p>
            <a:r>
              <a:rPr lang="en-US" dirty="0"/>
              <a:t>focal length ≈ image width</a:t>
            </a:r>
          </a:p>
          <a:p>
            <a:r>
              <a:rPr lang="en-US" dirty="0"/>
              <a:t>optical center = exact image center</a:t>
            </a:r>
          </a:p>
          <a:p>
            <a:r>
              <a:rPr lang="en-US" dirty="0"/>
              <a:t>lens distortion = zero</a:t>
            </a:r>
          </a:p>
        </p:txBody>
      </p:sp>
      <p:sp>
        <p:nvSpPr>
          <p:cNvPr id="16" name="TextBox 15">
            <a:extLst>
              <a:ext uri="{FF2B5EF4-FFF2-40B4-BE49-F238E27FC236}">
                <a16:creationId xmlns:a16="http://schemas.microsoft.com/office/drawing/2014/main" id="{5D2180DB-012E-D491-8D8B-252B494EA27F}"/>
              </a:ext>
            </a:extLst>
          </p:cNvPr>
          <p:cNvSpPr txBox="1"/>
          <p:nvPr/>
        </p:nvSpPr>
        <p:spPr>
          <a:xfrm>
            <a:off x="649705" y="4324535"/>
            <a:ext cx="6208294" cy="369332"/>
          </a:xfrm>
          <a:prstGeom prst="rect">
            <a:avLst/>
          </a:prstGeom>
          <a:noFill/>
        </p:spPr>
        <p:txBody>
          <a:bodyPr wrap="square">
            <a:spAutoFit/>
          </a:bodyPr>
          <a:lstStyle/>
          <a:p>
            <a:r>
              <a:rPr lang="en-US" dirty="0"/>
              <a:t>No calibration and assuming…</a:t>
            </a:r>
          </a:p>
        </p:txBody>
      </p:sp>
      <p:sp>
        <p:nvSpPr>
          <p:cNvPr id="20" name="TextBox 19">
            <a:extLst>
              <a:ext uri="{FF2B5EF4-FFF2-40B4-BE49-F238E27FC236}">
                <a16:creationId xmlns:a16="http://schemas.microsoft.com/office/drawing/2014/main" id="{574E8277-B169-E9BA-2B24-FFC0F1C3F813}"/>
              </a:ext>
            </a:extLst>
          </p:cNvPr>
          <p:cNvSpPr txBox="1"/>
          <p:nvPr/>
        </p:nvSpPr>
        <p:spPr>
          <a:xfrm>
            <a:off x="7002377" y="3552010"/>
            <a:ext cx="2791327" cy="2308324"/>
          </a:xfrm>
          <a:prstGeom prst="rect">
            <a:avLst/>
          </a:prstGeom>
          <a:noFill/>
        </p:spPr>
        <p:txBody>
          <a:bodyPr wrap="square">
            <a:spAutoFit/>
          </a:bodyPr>
          <a:lstStyle/>
          <a:p>
            <a:r>
              <a:rPr lang="en-US" dirty="0"/>
              <a:t>MODEL_POINTS = [</a:t>
            </a:r>
          </a:p>
          <a:p>
            <a:r>
              <a:rPr lang="en-US" dirty="0"/>
              <a:t>    nose,</a:t>
            </a:r>
          </a:p>
          <a:p>
            <a:r>
              <a:rPr lang="en-US" dirty="0"/>
              <a:t>    chin,</a:t>
            </a:r>
          </a:p>
          <a:p>
            <a:r>
              <a:rPr lang="en-US" dirty="0"/>
              <a:t>    left eye,</a:t>
            </a:r>
          </a:p>
          <a:p>
            <a:r>
              <a:rPr lang="en-US" dirty="0"/>
              <a:t>    right eye,</a:t>
            </a:r>
          </a:p>
          <a:p>
            <a:r>
              <a:rPr lang="en-US" dirty="0"/>
              <a:t>    left mouth,</a:t>
            </a:r>
          </a:p>
          <a:p>
            <a:r>
              <a:rPr lang="en-US" dirty="0"/>
              <a:t>    right mouth</a:t>
            </a:r>
          </a:p>
          <a:p>
            <a:r>
              <a:rPr lang="en-US" dirty="0"/>
              <a:t>]</a:t>
            </a:r>
          </a:p>
        </p:txBody>
      </p:sp>
      <p:sp>
        <p:nvSpPr>
          <p:cNvPr id="22" name="TextBox 21">
            <a:extLst>
              <a:ext uri="{FF2B5EF4-FFF2-40B4-BE49-F238E27FC236}">
                <a16:creationId xmlns:a16="http://schemas.microsoft.com/office/drawing/2014/main" id="{3B8C2035-D7B0-31DC-0B1B-27B7E22AEFCF}"/>
              </a:ext>
            </a:extLst>
          </p:cNvPr>
          <p:cNvSpPr txBox="1"/>
          <p:nvPr/>
        </p:nvSpPr>
        <p:spPr>
          <a:xfrm>
            <a:off x="8349914" y="5675668"/>
            <a:ext cx="1588168" cy="369332"/>
          </a:xfrm>
          <a:prstGeom prst="rect">
            <a:avLst/>
          </a:prstGeom>
          <a:noFill/>
        </p:spPr>
        <p:txBody>
          <a:bodyPr wrap="square">
            <a:spAutoFit/>
          </a:bodyPr>
          <a:lstStyle/>
          <a:p>
            <a:r>
              <a:rPr lang="en-US" dirty="0">
                <a:solidFill>
                  <a:srgbClr val="FF0000"/>
                </a:solidFill>
              </a:rPr>
              <a:t>generic face</a:t>
            </a:r>
          </a:p>
        </p:txBody>
      </p:sp>
    </p:spTree>
    <p:extLst>
      <p:ext uri="{BB962C8B-B14F-4D97-AF65-F5344CB8AC3E}">
        <p14:creationId xmlns:p14="http://schemas.microsoft.com/office/powerpoint/2010/main" val="3742452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A6671-A05A-AFCF-AC62-81B465C0C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5602CA-7EB0-374E-0143-5D2F0AD4404C}"/>
              </a:ext>
            </a:extLst>
          </p:cNvPr>
          <p:cNvSpPr>
            <a:spLocks noGrp="1"/>
          </p:cNvSpPr>
          <p:nvPr>
            <p:ph type="title"/>
          </p:nvPr>
        </p:nvSpPr>
        <p:spPr>
          <a:xfrm>
            <a:off x="0" y="18255"/>
            <a:ext cx="12192000" cy="587801"/>
          </a:xfrm>
        </p:spPr>
        <p:txBody>
          <a:bodyPr>
            <a:normAutofit fontScale="90000"/>
          </a:bodyPr>
          <a:lstStyle/>
          <a:p>
            <a:r>
              <a:rPr lang="en-US" dirty="0" err="1"/>
              <a:t>pointTracker</a:t>
            </a:r>
            <a:endParaRPr lang="en-US" dirty="0"/>
          </a:p>
        </p:txBody>
      </p:sp>
      <p:sp>
        <p:nvSpPr>
          <p:cNvPr id="6" name="TextBox 5">
            <a:extLst>
              <a:ext uri="{FF2B5EF4-FFF2-40B4-BE49-F238E27FC236}">
                <a16:creationId xmlns:a16="http://schemas.microsoft.com/office/drawing/2014/main" id="{C733E953-8672-A4F7-F656-A9C840DA5E75}"/>
              </a:ext>
            </a:extLst>
          </p:cNvPr>
          <p:cNvSpPr txBox="1"/>
          <p:nvPr/>
        </p:nvSpPr>
        <p:spPr>
          <a:xfrm>
            <a:off x="745958" y="801515"/>
            <a:ext cx="8867274" cy="646331"/>
          </a:xfrm>
          <a:prstGeom prst="rect">
            <a:avLst/>
          </a:prstGeom>
          <a:noFill/>
        </p:spPr>
        <p:txBody>
          <a:bodyPr wrap="square">
            <a:spAutoFit/>
          </a:bodyPr>
          <a:lstStyle/>
          <a:p>
            <a:pPr marL="342900" lvl="0" indent="-342900">
              <a:buFont typeface="Arial" panose="020B0604020202020204" pitchFamily="34" charset="0"/>
              <a:buChar char="•"/>
            </a:pPr>
            <a:r>
              <a:rPr lang="en-US" b="1" dirty="0"/>
              <a:t>Main Project Repository:</a:t>
            </a:r>
            <a:r>
              <a:rPr lang="en-US" dirty="0"/>
              <a:t> </a:t>
            </a:r>
            <a:r>
              <a:rPr lang="en-US" dirty="0">
                <a:hlinkClick r:id="rId2"/>
              </a:rPr>
              <a:t>github.com/opentrack/opentrack</a:t>
            </a:r>
            <a:endParaRPr lang="en-US" dirty="0"/>
          </a:p>
          <a:p>
            <a:pPr marL="342900" lvl="0" indent="-342900">
              <a:buFont typeface="Arial" panose="020B0604020202020204" pitchFamily="34" charset="0"/>
              <a:buChar char="•"/>
            </a:pPr>
            <a:r>
              <a:rPr lang="en-US" b="1" dirty="0" err="1"/>
              <a:t>PointTracker</a:t>
            </a:r>
            <a:r>
              <a:rPr lang="en-US" b="1" dirty="0"/>
              <a:t> Source Code Subdirectory:</a:t>
            </a:r>
            <a:r>
              <a:rPr lang="en-US" dirty="0"/>
              <a:t> </a:t>
            </a:r>
            <a:r>
              <a:rPr lang="en-US" dirty="0">
                <a:hlinkClick r:id="rId3"/>
              </a:rPr>
              <a:t>opentrack/tracker-pt</a:t>
            </a:r>
            <a:endParaRPr lang="en-US" dirty="0"/>
          </a:p>
        </p:txBody>
      </p:sp>
      <p:sp>
        <p:nvSpPr>
          <p:cNvPr id="8" name="TextBox 7">
            <a:extLst>
              <a:ext uri="{FF2B5EF4-FFF2-40B4-BE49-F238E27FC236}">
                <a16:creationId xmlns:a16="http://schemas.microsoft.com/office/drawing/2014/main" id="{5A1D4E4A-BF75-CDF3-F5E1-1BEBA57C514B}"/>
              </a:ext>
            </a:extLst>
          </p:cNvPr>
          <p:cNvSpPr txBox="1"/>
          <p:nvPr/>
        </p:nvSpPr>
        <p:spPr>
          <a:xfrm>
            <a:off x="1094873" y="1920452"/>
            <a:ext cx="9577138" cy="646331"/>
          </a:xfrm>
          <a:prstGeom prst="rect">
            <a:avLst/>
          </a:prstGeom>
          <a:noFill/>
        </p:spPr>
        <p:txBody>
          <a:bodyPr wrap="square">
            <a:spAutoFit/>
          </a:bodyPr>
          <a:lstStyle/>
          <a:p>
            <a:r>
              <a:rPr lang="en-US" b="1" dirty="0"/>
              <a:t>Pose Calculation (PnP Solver):</a:t>
            </a:r>
            <a:r>
              <a:rPr lang="en-US" dirty="0"/>
              <a:t> </a:t>
            </a:r>
            <a:r>
              <a:rPr lang="en-US" dirty="0">
                <a:latin typeface="+mn-lt"/>
              </a:rPr>
              <a:t>tracker-pt/</a:t>
            </a:r>
            <a:r>
              <a:rPr lang="en-US" dirty="0" err="1">
                <a:latin typeface="+mn-lt"/>
              </a:rPr>
              <a:t>ftnoir_tracker_pt.cpp</a:t>
            </a:r>
            <a:r>
              <a:rPr lang="en-US" dirty="0"/>
              <a:t> (takes the detected 2D points and calculates the 6-DoF pose against your specified model dimensions)</a:t>
            </a:r>
          </a:p>
        </p:txBody>
      </p:sp>
    </p:spTree>
    <p:extLst>
      <p:ext uri="{BB962C8B-B14F-4D97-AF65-F5344CB8AC3E}">
        <p14:creationId xmlns:p14="http://schemas.microsoft.com/office/powerpoint/2010/main" val="958185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24C92-3928-2D61-D5F9-6167C76709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ED8C70-05D6-2944-CFFE-8D6A89C11283}"/>
              </a:ext>
            </a:extLst>
          </p:cNvPr>
          <p:cNvSpPr>
            <a:spLocks noGrp="1"/>
          </p:cNvSpPr>
          <p:nvPr>
            <p:ph type="title"/>
          </p:nvPr>
        </p:nvSpPr>
        <p:spPr>
          <a:xfrm>
            <a:off x="0" y="18255"/>
            <a:ext cx="12192000" cy="587801"/>
          </a:xfrm>
        </p:spPr>
        <p:txBody>
          <a:bodyPr>
            <a:normAutofit fontScale="90000"/>
          </a:bodyPr>
          <a:lstStyle/>
          <a:p>
            <a:r>
              <a:rPr lang="en-US" dirty="0"/>
              <a:t>LED Response</a:t>
            </a:r>
          </a:p>
        </p:txBody>
      </p:sp>
      <p:sp>
        <p:nvSpPr>
          <p:cNvPr id="4" name="TextBox 3">
            <a:extLst>
              <a:ext uri="{FF2B5EF4-FFF2-40B4-BE49-F238E27FC236}">
                <a16:creationId xmlns:a16="http://schemas.microsoft.com/office/drawing/2014/main" id="{5BC827EC-2A3B-3EC8-0DF5-89921C297220}"/>
              </a:ext>
            </a:extLst>
          </p:cNvPr>
          <p:cNvSpPr txBox="1"/>
          <p:nvPr/>
        </p:nvSpPr>
        <p:spPr>
          <a:xfrm>
            <a:off x="737616" y="906518"/>
            <a:ext cx="6205728" cy="369332"/>
          </a:xfrm>
          <a:prstGeom prst="rect">
            <a:avLst/>
          </a:prstGeom>
          <a:noFill/>
        </p:spPr>
        <p:txBody>
          <a:bodyPr wrap="square">
            <a:spAutoFit/>
          </a:bodyPr>
          <a:lstStyle/>
          <a:p>
            <a:r>
              <a:rPr lang="en-US" dirty="0"/>
              <a:t>Input Adapter → </a:t>
            </a:r>
            <a:r>
              <a:rPr lang="en-US" dirty="0" err="1"/>
              <a:t>LEDResponseController</a:t>
            </a:r>
            <a:r>
              <a:rPr lang="en-US" dirty="0"/>
              <a:t> → Output Adapter</a:t>
            </a:r>
          </a:p>
        </p:txBody>
      </p:sp>
      <p:sp>
        <p:nvSpPr>
          <p:cNvPr id="6" name="TextBox 5">
            <a:extLst>
              <a:ext uri="{FF2B5EF4-FFF2-40B4-BE49-F238E27FC236}">
                <a16:creationId xmlns:a16="http://schemas.microsoft.com/office/drawing/2014/main" id="{72487D25-7942-30E7-933A-BEB798BFDB82}"/>
              </a:ext>
            </a:extLst>
          </p:cNvPr>
          <p:cNvSpPr txBox="1"/>
          <p:nvPr/>
        </p:nvSpPr>
        <p:spPr>
          <a:xfrm>
            <a:off x="737616" y="1663899"/>
            <a:ext cx="2493264" cy="2585323"/>
          </a:xfrm>
          <a:prstGeom prst="rect">
            <a:avLst/>
          </a:prstGeom>
          <a:noFill/>
        </p:spPr>
        <p:txBody>
          <a:bodyPr wrap="square">
            <a:spAutoFit/>
          </a:bodyPr>
          <a:lstStyle/>
          <a:p>
            <a:r>
              <a:rPr lang="en-US" dirty="0"/>
              <a:t>Raw Wii orientation</a:t>
            </a:r>
          </a:p>
          <a:p>
            <a:r>
              <a:rPr lang="en-US" dirty="0"/>
              <a:t>        ↓</a:t>
            </a:r>
          </a:p>
          <a:p>
            <a:r>
              <a:rPr lang="en-US" dirty="0"/>
              <a:t>Set Zero Reference</a:t>
            </a:r>
          </a:p>
          <a:p>
            <a:r>
              <a:rPr lang="en-US" dirty="0"/>
              <a:t>        ↓</a:t>
            </a:r>
          </a:p>
          <a:p>
            <a:r>
              <a:rPr lang="en-US" dirty="0"/>
              <a:t>Relative angle</a:t>
            </a:r>
          </a:p>
          <a:p>
            <a:r>
              <a:rPr lang="en-US" dirty="0"/>
              <a:t>        ↓</a:t>
            </a:r>
          </a:p>
          <a:p>
            <a:r>
              <a:rPr lang="en-US" dirty="0"/>
              <a:t>Response azimuth</a:t>
            </a:r>
          </a:p>
          <a:p>
            <a:r>
              <a:rPr lang="en-US" dirty="0"/>
              <a:t>        ↓</a:t>
            </a:r>
          </a:p>
          <a:p>
            <a:r>
              <a:rPr lang="en-US" dirty="0"/>
              <a:t>LED index</a:t>
            </a:r>
          </a:p>
        </p:txBody>
      </p:sp>
      <p:sp>
        <p:nvSpPr>
          <p:cNvPr id="8" name="TextBox 7">
            <a:extLst>
              <a:ext uri="{FF2B5EF4-FFF2-40B4-BE49-F238E27FC236}">
                <a16:creationId xmlns:a16="http://schemas.microsoft.com/office/drawing/2014/main" id="{71C3E663-0A18-F0C3-E620-87136088A639}"/>
              </a:ext>
            </a:extLst>
          </p:cNvPr>
          <p:cNvSpPr txBox="1"/>
          <p:nvPr/>
        </p:nvSpPr>
        <p:spPr>
          <a:xfrm>
            <a:off x="7943088" y="1705464"/>
            <a:ext cx="3212592" cy="1754326"/>
          </a:xfrm>
          <a:prstGeom prst="rect">
            <a:avLst/>
          </a:prstGeom>
          <a:noFill/>
        </p:spPr>
        <p:txBody>
          <a:bodyPr wrap="square">
            <a:spAutoFit/>
          </a:bodyPr>
          <a:lstStyle/>
          <a:p>
            <a:r>
              <a:rPr lang="en-US" dirty="0"/>
              <a:t>Raw orientation at center = 87°</a:t>
            </a:r>
          </a:p>
          <a:p>
            <a:r>
              <a:rPr lang="en-US" dirty="0"/>
              <a:t>User presses Set Zero</a:t>
            </a:r>
          </a:p>
          <a:p>
            <a:endParaRPr lang="en-US" dirty="0"/>
          </a:p>
          <a:p>
            <a:r>
              <a:rPr lang="en-US" dirty="0"/>
              <a:t>87° → response 0°</a:t>
            </a:r>
          </a:p>
          <a:p>
            <a:r>
              <a:rPr lang="en-US" dirty="0"/>
              <a:t>117° → response +30°</a:t>
            </a:r>
          </a:p>
          <a:p>
            <a:r>
              <a:rPr lang="en-US" dirty="0"/>
              <a:t>57° → response -30°</a:t>
            </a:r>
          </a:p>
        </p:txBody>
      </p:sp>
      <p:sp>
        <p:nvSpPr>
          <p:cNvPr id="10" name="TextBox 9">
            <a:extLst>
              <a:ext uri="{FF2B5EF4-FFF2-40B4-BE49-F238E27FC236}">
                <a16:creationId xmlns:a16="http://schemas.microsoft.com/office/drawing/2014/main" id="{50102CF9-226C-CDA9-C434-179F2FD4BE16}"/>
              </a:ext>
            </a:extLst>
          </p:cNvPr>
          <p:cNvSpPr txBox="1"/>
          <p:nvPr/>
        </p:nvSpPr>
        <p:spPr>
          <a:xfrm>
            <a:off x="5614416" y="5351317"/>
            <a:ext cx="6205728" cy="1200329"/>
          </a:xfrm>
          <a:prstGeom prst="rect">
            <a:avLst/>
          </a:prstGeom>
          <a:noFill/>
        </p:spPr>
        <p:txBody>
          <a:bodyPr wrap="square">
            <a:spAutoFit/>
          </a:bodyPr>
          <a:lstStyle/>
          <a:p>
            <a:r>
              <a:rPr lang="en-US" dirty="0"/>
              <a:t>the Wii Remote works once connected, but Windows Bluetooth pairing/reconnection is still inconsistent, so connection handling is one of the things that needs improvement </a:t>
            </a:r>
          </a:p>
        </p:txBody>
      </p:sp>
    </p:spTree>
    <p:extLst>
      <p:ext uri="{BB962C8B-B14F-4D97-AF65-F5344CB8AC3E}">
        <p14:creationId xmlns:p14="http://schemas.microsoft.com/office/powerpoint/2010/main" val="3629318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86EE4-E5DC-43B5-E064-58B21B1C4C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F18A8B-98C7-AAD4-4ADC-501887777473}"/>
              </a:ext>
            </a:extLst>
          </p:cNvPr>
          <p:cNvSpPr>
            <a:spLocks noGrp="1"/>
          </p:cNvSpPr>
          <p:nvPr>
            <p:ph type="title"/>
          </p:nvPr>
        </p:nvSpPr>
        <p:spPr>
          <a:xfrm>
            <a:off x="0" y="18255"/>
            <a:ext cx="12192000" cy="587801"/>
          </a:xfrm>
        </p:spPr>
        <p:txBody>
          <a:bodyPr>
            <a:normAutofit fontScale="90000"/>
          </a:bodyPr>
          <a:lstStyle/>
          <a:p>
            <a:r>
              <a:rPr lang="en-US" dirty="0"/>
              <a:t>Workflow</a:t>
            </a:r>
          </a:p>
        </p:txBody>
      </p:sp>
      <p:sp>
        <p:nvSpPr>
          <p:cNvPr id="5" name="TextBox 4">
            <a:extLst>
              <a:ext uri="{FF2B5EF4-FFF2-40B4-BE49-F238E27FC236}">
                <a16:creationId xmlns:a16="http://schemas.microsoft.com/office/drawing/2014/main" id="{846B037C-B188-B40E-B87A-F8402F3908BF}"/>
              </a:ext>
            </a:extLst>
          </p:cNvPr>
          <p:cNvSpPr txBox="1"/>
          <p:nvPr/>
        </p:nvSpPr>
        <p:spPr>
          <a:xfrm>
            <a:off x="2910253" y="1265818"/>
            <a:ext cx="3701562" cy="3693319"/>
          </a:xfrm>
          <a:prstGeom prst="rect">
            <a:avLst/>
          </a:prstGeom>
          <a:noFill/>
        </p:spPr>
        <p:txBody>
          <a:bodyPr wrap="square">
            <a:spAutoFit/>
          </a:bodyPr>
          <a:lstStyle/>
          <a:p>
            <a:r>
              <a:rPr lang="en-US" dirty="0"/>
              <a:t>Wii Remote</a:t>
            </a:r>
          </a:p>
          <a:p>
            <a:r>
              <a:rPr lang="en-US" dirty="0"/>
              <a:t>   ↓ Bluetooth HID</a:t>
            </a:r>
          </a:p>
          <a:p>
            <a:r>
              <a:rPr lang="en-US" dirty="0"/>
              <a:t>wiimote_input.py</a:t>
            </a:r>
          </a:p>
          <a:p>
            <a:r>
              <a:rPr lang="en-US" dirty="0"/>
              <a:t>   ↓</a:t>
            </a:r>
          </a:p>
          <a:p>
            <a:r>
              <a:rPr lang="en-US" dirty="0"/>
              <a:t>angle relative to calibrated zero</a:t>
            </a:r>
          </a:p>
          <a:p>
            <a:r>
              <a:rPr lang="en-US" dirty="0"/>
              <a:t>   ↓</a:t>
            </a:r>
          </a:p>
          <a:p>
            <a:r>
              <a:rPr lang="en-US" dirty="0"/>
              <a:t>normalized value 0.0–1.0</a:t>
            </a:r>
          </a:p>
          <a:p>
            <a:r>
              <a:rPr lang="en-US" dirty="0"/>
              <a:t>   ↓</a:t>
            </a:r>
          </a:p>
          <a:p>
            <a:r>
              <a:rPr lang="en-US" dirty="0" err="1"/>
              <a:t>LEDResponseController</a:t>
            </a:r>
            <a:endParaRPr lang="en-US" dirty="0"/>
          </a:p>
          <a:p>
            <a:r>
              <a:rPr lang="en-US" dirty="0"/>
              <a:t>   ↓</a:t>
            </a:r>
          </a:p>
          <a:p>
            <a:r>
              <a:rPr lang="en-US" dirty="0"/>
              <a:t>LED index</a:t>
            </a:r>
          </a:p>
          <a:p>
            <a:r>
              <a:rPr lang="en-US" dirty="0"/>
              <a:t>   ↓</a:t>
            </a:r>
          </a:p>
          <a:p>
            <a:r>
              <a:rPr lang="en-US" dirty="0"/>
              <a:t>Arduino / LED strip</a:t>
            </a:r>
          </a:p>
        </p:txBody>
      </p:sp>
    </p:spTree>
    <p:extLst>
      <p:ext uri="{BB962C8B-B14F-4D97-AF65-F5344CB8AC3E}">
        <p14:creationId xmlns:p14="http://schemas.microsoft.com/office/powerpoint/2010/main" val="12928062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3DEF8-02E1-4097-03CF-ADD93551E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908C8D-5ACE-2839-1DB1-BA509AD5ABFC}"/>
              </a:ext>
            </a:extLst>
          </p:cNvPr>
          <p:cNvSpPr>
            <a:spLocks noGrp="1"/>
          </p:cNvSpPr>
          <p:nvPr>
            <p:ph type="title"/>
          </p:nvPr>
        </p:nvSpPr>
        <p:spPr>
          <a:xfrm>
            <a:off x="0" y="18255"/>
            <a:ext cx="12192000" cy="587801"/>
          </a:xfrm>
        </p:spPr>
        <p:txBody>
          <a:bodyPr>
            <a:normAutofit fontScale="90000"/>
          </a:bodyPr>
          <a:lstStyle/>
          <a:p>
            <a:r>
              <a:rPr lang="en-US" dirty="0"/>
              <a:t> Bluetooth HID</a:t>
            </a:r>
          </a:p>
        </p:txBody>
      </p:sp>
      <p:sp>
        <p:nvSpPr>
          <p:cNvPr id="4" name="TextBox 3">
            <a:extLst>
              <a:ext uri="{FF2B5EF4-FFF2-40B4-BE49-F238E27FC236}">
                <a16:creationId xmlns:a16="http://schemas.microsoft.com/office/drawing/2014/main" id="{17C84633-3849-3FE7-42D3-2523AD7F1008}"/>
              </a:ext>
            </a:extLst>
          </p:cNvPr>
          <p:cNvSpPr txBox="1"/>
          <p:nvPr/>
        </p:nvSpPr>
        <p:spPr>
          <a:xfrm>
            <a:off x="1178169" y="844034"/>
            <a:ext cx="3411416" cy="369332"/>
          </a:xfrm>
          <a:prstGeom prst="rect">
            <a:avLst/>
          </a:prstGeom>
          <a:noFill/>
        </p:spPr>
        <p:txBody>
          <a:bodyPr wrap="square">
            <a:spAutoFit/>
          </a:bodyPr>
          <a:lstStyle/>
          <a:p>
            <a:r>
              <a:rPr lang="en-US"/>
              <a:t>No Dolphin or another emulator</a:t>
            </a:r>
            <a:endParaRPr lang="en-US" dirty="0"/>
          </a:p>
        </p:txBody>
      </p:sp>
      <p:sp>
        <p:nvSpPr>
          <p:cNvPr id="6" name="TextBox 5">
            <a:extLst>
              <a:ext uri="{FF2B5EF4-FFF2-40B4-BE49-F238E27FC236}">
                <a16:creationId xmlns:a16="http://schemas.microsoft.com/office/drawing/2014/main" id="{43AD40CD-631D-56B9-6B7D-BB037E3F58B0}"/>
              </a:ext>
            </a:extLst>
          </p:cNvPr>
          <p:cNvSpPr txBox="1"/>
          <p:nvPr/>
        </p:nvSpPr>
        <p:spPr>
          <a:xfrm>
            <a:off x="1178169" y="1451344"/>
            <a:ext cx="2523392" cy="369332"/>
          </a:xfrm>
          <a:prstGeom prst="rect">
            <a:avLst/>
          </a:prstGeom>
          <a:noFill/>
        </p:spPr>
        <p:txBody>
          <a:bodyPr wrap="square">
            <a:spAutoFit/>
          </a:bodyPr>
          <a:lstStyle/>
          <a:p>
            <a:r>
              <a:rPr lang="en-US" dirty="0"/>
              <a:t>Python package: </a:t>
            </a:r>
            <a:r>
              <a:rPr lang="en-US" dirty="0" err="1"/>
              <a:t>hidapi</a:t>
            </a:r>
            <a:endParaRPr lang="en-US" dirty="0"/>
          </a:p>
        </p:txBody>
      </p:sp>
      <p:sp>
        <p:nvSpPr>
          <p:cNvPr id="8" name="TextBox 7">
            <a:extLst>
              <a:ext uri="{FF2B5EF4-FFF2-40B4-BE49-F238E27FC236}">
                <a16:creationId xmlns:a16="http://schemas.microsoft.com/office/drawing/2014/main" id="{1835B34F-9F79-A1E2-D856-8D125A6B41F2}"/>
              </a:ext>
            </a:extLst>
          </p:cNvPr>
          <p:cNvSpPr txBox="1"/>
          <p:nvPr/>
        </p:nvSpPr>
        <p:spPr>
          <a:xfrm>
            <a:off x="4079631" y="1497510"/>
            <a:ext cx="1758461" cy="646331"/>
          </a:xfrm>
          <a:prstGeom prst="rect">
            <a:avLst/>
          </a:prstGeom>
          <a:noFill/>
        </p:spPr>
        <p:txBody>
          <a:bodyPr wrap="square">
            <a:spAutoFit/>
          </a:bodyPr>
          <a:lstStyle/>
          <a:p>
            <a:r>
              <a:rPr lang="en-US"/>
              <a:t>VID = 0x057E</a:t>
            </a:r>
          </a:p>
          <a:p>
            <a:r>
              <a:rPr lang="en-US"/>
              <a:t>PID = 0x0306</a:t>
            </a:r>
            <a:endParaRPr lang="en-US" dirty="0"/>
          </a:p>
        </p:txBody>
      </p:sp>
      <p:sp>
        <p:nvSpPr>
          <p:cNvPr id="10" name="TextBox 9">
            <a:extLst>
              <a:ext uri="{FF2B5EF4-FFF2-40B4-BE49-F238E27FC236}">
                <a16:creationId xmlns:a16="http://schemas.microsoft.com/office/drawing/2014/main" id="{47D921CA-5D93-95EA-3BF6-55F6DB44A76A}"/>
              </a:ext>
            </a:extLst>
          </p:cNvPr>
          <p:cNvSpPr txBox="1"/>
          <p:nvPr/>
        </p:nvSpPr>
        <p:spPr>
          <a:xfrm>
            <a:off x="1178169" y="2712130"/>
            <a:ext cx="6154614" cy="2585323"/>
          </a:xfrm>
          <a:prstGeom prst="rect">
            <a:avLst/>
          </a:prstGeom>
          <a:noFill/>
        </p:spPr>
        <p:txBody>
          <a:bodyPr wrap="square">
            <a:spAutoFit/>
          </a:bodyPr>
          <a:lstStyle/>
          <a:p>
            <a:r>
              <a:rPr lang="en-US" dirty="0"/>
              <a:t>Main UI</a:t>
            </a:r>
          </a:p>
          <a:p>
            <a:r>
              <a:rPr lang="en-US" dirty="0"/>
              <a:t>   │</a:t>
            </a:r>
          </a:p>
          <a:p>
            <a:r>
              <a:rPr lang="en-US" dirty="0"/>
              <a:t>   └── Wii-HID reader thread</a:t>
            </a:r>
          </a:p>
          <a:p>
            <a:r>
              <a:rPr lang="en-US" dirty="0"/>
              <a:t>             ↓</a:t>
            </a:r>
          </a:p>
          <a:p>
            <a:r>
              <a:rPr lang="en-US" dirty="0"/>
              <a:t>       read HID reports</a:t>
            </a:r>
          </a:p>
          <a:p>
            <a:r>
              <a:rPr lang="en-US" dirty="0"/>
              <a:t>             ↓</a:t>
            </a:r>
          </a:p>
          <a:p>
            <a:r>
              <a:rPr lang="en-US" dirty="0"/>
              <a:t>       decode buttons</a:t>
            </a:r>
          </a:p>
          <a:p>
            <a:r>
              <a:rPr lang="en-US" dirty="0"/>
              <a:t>       decode accelerometer</a:t>
            </a:r>
          </a:p>
          <a:p>
            <a:r>
              <a:rPr lang="en-US" dirty="0"/>
              <a:t>       decode </a:t>
            </a:r>
            <a:r>
              <a:rPr lang="en-US" dirty="0" err="1"/>
              <a:t>MotionPlus</a:t>
            </a:r>
            <a:endParaRPr lang="en-US" dirty="0"/>
          </a:p>
        </p:txBody>
      </p:sp>
      <p:sp>
        <p:nvSpPr>
          <p:cNvPr id="12" name="TextBox 11">
            <a:extLst>
              <a:ext uri="{FF2B5EF4-FFF2-40B4-BE49-F238E27FC236}">
                <a16:creationId xmlns:a16="http://schemas.microsoft.com/office/drawing/2014/main" id="{7ACFCAC7-C410-2962-F803-BA58D956D921}"/>
              </a:ext>
            </a:extLst>
          </p:cNvPr>
          <p:cNvSpPr txBox="1"/>
          <p:nvPr/>
        </p:nvSpPr>
        <p:spPr>
          <a:xfrm>
            <a:off x="4747847" y="4004791"/>
            <a:ext cx="1749668" cy="369332"/>
          </a:xfrm>
          <a:prstGeom prst="rect">
            <a:avLst/>
          </a:prstGeom>
          <a:noFill/>
        </p:spPr>
        <p:txBody>
          <a:bodyPr wrap="square">
            <a:spAutoFit/>
          </a:bodyPr>
          <a:lstStyle/>
          <a:p>
            <a:r>
              <a:rPr lang="en-US" dirty="0" err="1">
                <a:solidFill>
                  <a:srgbClr val="FF0000"/>
                </a:solidFill>
              </a:rPr>
              <a:t>device.read</a:t>
            </a:r>
            <a:r>
              <a:rPr lang="en-US" dirty="0">
                <a:solidFill>
                  <a:srgbClr val="FF0000"/>
                </a:solidFill>
              </a:rPr>
              <a:t>(...)</a:t>
            </a:r>
          </a:p>
        </p:txBody>
      </p:sp>
    </p:spTree>
    <p:extLst>
      <p:ext uri="{BB962C8B-B14F-4D97-AF65-F5344CB8AC3E}">
        <p14:creationId xmlns:p14="http://schemas.microsoft.com/office/powerpoint/2010/main" val="13284395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427A5-30D7-5231-346C-BB17D1AFA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9356DB-68DE-7E39-63A7-51208242363C}"/>
              </a:ext>
            </a:extLst>
          </p:cNvPr>
          <p:cNvSpPr>
            <a:spLocks noGrp="1"/>
          </p:cNvSpPr>
          <p:nvPr>
            <p:ph type="title"/>
          </p:nvPr>
        </p:nvSpPr>
        <p:spPr>
          <a:xfrm>
            <a:off x="0" y="18255"/>
            <a:ext cx="12192000" cy="587801"/>
          </a:xfrm>
        </p:spPr>
        <p:txBody>
          <a:bodyPr>
            <a:normAutofit fontScale="90000"/>
          </a:bodyPr>
          <a:lstStyle/>
          <a:p>
            <a:r>
              <a:rPr lang="en-US" dirty="0"/>
              <a:t>Wheel Mode</a:t>
            </a:r>
          </a:p>
        </p:txBody>
      </p:sp>
      <p:sp>
        <p:nvSpPr>
          <p:cNvPr id="4" name="TextBox 3">
            <a:extLst>
              <a:ext uri="{FF2B5EF4-FFF2-40B4-BE49-F238E27FC236}">
                <a16:creationId xmlns:a16="http://schemas.microsoft.com/office/drawing/2014/main" id="{6D847F3A-4AB4-DE41-9777-2ADCBC5FB76C}"/>
              </a:ext>
            </a:extLst>
          </p:cNvPr>
          <p:cNvSpPr txBox="1"/>
          <p:nvPr/>
        </p:nvSpPr>
        <p:spPr>
          <a:xfrm>
            <a:off x="1072662" y="1384721"/>
            <a:ext cx="6207368" cy="923330"/>
          </a:xfrm>
          <a:prstGeom prst="rect">
            <a:avLst/>
          </a:prstGeom>
          <a:noFill/>
        </p:spPr>
        <p:txBody>
          <a:bodyPr wrap="square">
            <a:spAutoFit/>
          </a:bodyPr>
          <a:lstStyle/>
          <a:p>
            <a:r>
              <a:rPr lang="en-US" dirty="0"/>
              <a:t>X acceleration</a:t>
            </a:r>
          </a:p>
          <a:p>
            <a:r>
              <a:rPr lang="en-US" dirty="0"/>
              <a:t>Y acceleration</a:t>
            </a:r>
          </a:p>
          <a:p>
            <a:r>
              <a:rPr lang="en-US" dirty="0"/>
              <a:t>Z acceleration</a:t>
            </a:r>
          </a:p>
        </p:txBody>
      </p:sp>
      <p:sp>
        <p:nvSpPr>
          <p:cNvPr id="6" name="TextBox 5">
            <a:extLst>
              <a:ext uri="{FF2B5EF4-FFF2-40B4-BE49-F238E27FC236}">
                <a16:creationId xmlns:a16="http://schemas.microsoft.com/office/drawing/2014/main" id="{B43ACDE0-A0EF-EC9A-875B-063DD6CC88B7}"/>
              </a:ext>
            </a:extLst>
          </p:cNvPr>
          <p:cNvSpPr txBox="1"/>
          <p:nvPr/>
        </p:nvSpPr>
        <p:spPr>
          <a:xfrm>
            <a:off x="404446" y="848362"/>
            <a:ext cx="6207368" cy="369332"/>
          </a:xfrm>
          <a:prstGeom prst="rect">
            <a:avLst/>
          </a:prstGeom>
          <a:noFill/>
        </p:spPr>
        <p:txBody>
          <a:bodyPr wrap="square">
            <a:spAutoFit/>
          </a:bodyPr>
          <a:lstStyle/>
          <a:p>
            <a:r>
              <a:rPr lang="en-US" dirty="0"/>
              <a:t>measures gravity along the controller's axes:</a:t>
            </a:r>
          </a:p>
        </p:txBody>
      </p:sp>
      <p:sp>
        <p:nvSpPr>
          <p:cNvPr id="8" name="TextBox 7">
            <a:extLst>
              <a:ext uri="{FF2B5EF4-FFF2-40B4-BE49-F238E27FC236}">
                <a16:creationId xmlns:a16="http://schemas.microsoft.com/office/drawing/2014/main" id="{71DF6EB6-C34D-FF45-D961-7D598F785C27}"/>
              </a:ext>
            </a:extLst>
          </p:cNvPr>
          <p:cNvSpPr txBox="1"/>
          <p:nvPr/>
        </p:nvSpPr>
        <p:spPr>
          <a:xfrm>
            <a:off x="404446" y="2569504"/>
            <a:ext cx="8396654" cy="369332"/>
          </a:xfrm>
          <a:prstGeom prst="rect">
            <a:avLst/>
          </a:prstGeom>
          <a:noFill/>
        </p:spPr>
        <p:txBody>
          <a:bodyPr wrap="square">
            <a:spAutoFit/>
          </a:bodyPr>
          <a:lstStyle/>
          <a:p>
            <a:r>
              <a:rPr lang="en-US" dirty="0"/>
              <a:t>When the controller rotates, the direction of gravity relative to those axes changes.</a:t>
            </a:r>
          </a:p>
        </p:txBody>
      </p:sp>
      <p:sp>
        <p:nvSpPr>
          <p:cNvPr id="10" name="TextBox 9">
            <a:extLst>
              <a:ext uri="{FF2B5EF4-FFF2-40B4-BE49-F238E27FC236}">
                <a16:creationId xmlns:a16="http://schemas.microsoft.com/office/drawing/2014/main" id="{D8A82C26-886E-1B47-F2EB-95664B96847E}"/>
              </a:ext>
            </a:extLst>
          </p:cNvPr>
          <p:cNvSpPr txBox="1"/>
          <p:nvPr/>
        </p:nvSpPr>
        <p:spPr>
          <a:xfrm>
            <a:off x="1072662" y="3181142"/>
            <a:ext cx="2110153" cy="369332"/>
          </a:xfrm>
          <a:prstGeom prst="rect">
            <a:avLst/>
          </a:prstGeom>
          <a:noFill/>
        </p:spPr>
        <p:txBody>
          <a:bodyPr wrap="square">
            <a:spAutoFit/>
          </a:bodyPr>
          <a:lstStyle/>
          <a:p>
            <a:r>
              <a:rPr lang="en-US" dirty="0">
                <a:solidFill>
                  <a:srgbClr val="FF0000"/>
                </a:solidFill>
              </a:rPr>
              <a:t>atan2(axis1, axis2)</a:t>
            </a:r>
          </a:p>
        </p:txBody>
      </p:sp>
      <p:sp>
        <p:nvSpPr>
          <p:cNvPr id="21" name="Rectangle 20">
            <a:extLst>
              <a:ext uri="{FF2B5EF4-FFF2-40B4-BE49-F238E27FC236}">
                <a16:creationId xmlns:a16="http://schemas.microsoft.com/office/drawing/2014/main" id="{C9A415F1-4530-5E8C-A167-44E82351C8DD}"/>
              </a:ext>
            </a:extLst>
          </p:cNvPr>
          <p:cNvSpPr/>
          <p:nvPr/>
        </p:nvSpPr>
        <p:spPr>
          <a:xfrm>
            <a:off x="4290647" y="3429000"/>
            <a:ext cx="1688124" cy="571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gravity</a:t>
            </a:r>
          </a:p>
        </p:txBody>
      </p:sp>
      <p:cxnSp>
        <p:nvCxnSpPr>
          <p:cNvPr id="22" name="Straight Arrow Connector 21">
            <a:extLst>
              <a:ext uri="{FF2B5EF4-FFF2-40B4-BE49-F238E27FC236}">
                <a16:creationId xmlns:a16="http://schemas.microsoft.com/office/drawing/2014/main" id="{98361621-3739-B00B-3C2A-79696C8EB387}"/>
              </a:ext>
            </a:extLst>
          </p:cNvPr>
          <p:cNvCxnSpPr>
            <a:stCxn id="21" idx="2"/>
          </p:cNvCxnSpPr>
          <p:nvPr/>
        </p:nvCxnSpPr>
        <p:spPr>
          <a:xfrm>
            <a:off x="5134709" y="4000500"/>
            <a:ext cx="17585" cy="4373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BAB9A674-1AEA-86ED-4F63-A8058D4A80A0}"/>
              </a:ext>
            </a:extLst>
          </p:cNvPr>
          <p:cNvSpPr/>
          <p:nvPr/>
        </p:nvSpPr>
        <p:spPr>
          <a:xfrm>
            <a:off x="4308232" y="4478006"/>
            <a:ext cx="1688124" cy="571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Wii Remote orientation</a:t>
            </a:r>
          </a:p>
        </p:txBody>
      </p:sp>
      <p:sp>
        <p:nvSpPr>
          <p:cNvPr id="24" name="Rectangle 23">
            <a:extLst>
              <a:ext uri="{FF2B5EF4-FFF2-40B4-BE49-F238E27FC236}">
                <a16:creationId xmlns:a16="http://schemas.microsoft.com/office/drawing/2014/main" id="{887D8479-8B9A-A554-0114-72B37B90F522}"/>
              </a:ext>
            </a:extLst>
          </p:cNvPr>
          <p:cNvSpPr/>
          <p:nvPr/>
        </p:nvSpPr>
        <p:spPr>
          <a:xfrm>
            <a:off x="3941886" y="5352310"/>
            <a:ext cx="1931376" cy="571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Accelerometer X</a:t>
            </a:r>
          </a:p>
        </p:txBody>
      </p:sp>
      <p:sp>
        <p:nvSpPr>
          <p:cNvPr id="26" name="Rectangle 25">
            <a:extLst>
              <a:ext uri="{FF2B5EF4-FFF2-40B4-BE49-F238E27FC236}">
                <a16:creationId xmlns:a16="http://schemas.microsoft.com/office/drawing/2014/main" id="{2361589F-9966-E4CC-11FE-74E4F38A7C22}"/>
              </a:ext>
            </a:extLst>
          </p:cNvPr>
          <p:cNvSpPr/>
          <p:nvPr/>
        </p:nvSpPr>
        <p:spPr>
          <a:xfrm>
            <a:off x="3941886" y="6128224"/>
            <a:ext cx="1931376" cy="571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Accelerometer Y</a:t>
            </a:r>
          </a:p>
        </p:txBody>
      </p:sp>
      <p:cxnSp>
        <p:nvCxnSpPr>
          <p:cNvPr id="27" name="Straight Arrow Connector 26">
            <a:extLst>
              <a:ext uri="{FF2B5EF4-FFF2-40B4-BE49-F238E27FC236}">
                <a16:creationId xmlns:a16="http://schemas.microsoft.com/office/drawing/2014/main" id="{61BBC924-9FBB-F1EE-A057-0F3787FDF083}"/>
              </a:ext>
            </a:extLst>
          </p:cNvPr>
          <p:cNvCxnSpPr>
            <a:cxnSpLocks/>
            <a:endCxn id="24" idx="0"/>
          </p:cNvCxnSpPr>
          <p:nvPr/>
        </p:nvCxnSpPr>
        <p:spPr>
          <a:xfrm flipH="1">
            <a:off x="4907574" y="5035911"/>
            <a:ext cx="235927" cy="3163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69EF9E2-4D03-E138-9302-1D685474263F}"/>
              </a:ext>
            </a:extLst>
          </p:cNvPr>
          <p:cNvCxnSpPr>
            <a:cxnSpLocks/>
            <a:stCxn id="24" idx="3"/>
          </p:cNvCxnSpPr>
          <p:nvPr/>
        </p:nvCxnSpPr>
        <p:spPr>
          <a:xfrm>
            <a:off x="5873262" y="5638060"/>
            <a:ext cx="1230923" cy="1472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7C006876-34AA-1EB8-24B3-6E60ECE227E4}"/>
              </a:ext>
            </a:extLst>
          </p:cNvPr>
          <p:cNvCxnSpPr>
            <a:cxnSpLocks/>
          </p:cNvCxnSpPr>
          <p:nvPr/>
        </p:nvCxnSpPr>
        <p:spPr>
          <a:xfrm flipV="1">
            <a:off x="5873262" y="5989752"/>
            <a:ext cx="1230923" cy="4410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FEAEE143-EA71-1597-C978-D978054036C7}"/>
              </a:ext>
            </a:extLst>
          </p:cNvPr>
          <p:cNvSpPr txBox="1"/>
          <p:nvPr/>
        </p:nvSpPr>
        <p:spPr>
          <a:xfrm>
            <a:off x="7280030" y="5680403"/>
            <a:ext cx="931985" cy="369332"/>
          </a:xfrm>
          <a:prstGeom prst="rect">
            <a:avLst/>
          </a:prstGeom>
          <a:noFill/>
        </p:spPr>
        <p:txBody>
          <a:bodyPr wrap="square">
            <a:spAutoFit/>
          </a:bodyPr>
          <a:lstStyle/>
          <a:p>
            <a:r>
              <a:rPr lang="en-US" sz="1800" dirty="0"/>
              <a:t>atan2() </a:t>
            </a:r>
            <a:endParaRPr lang="en-US" dirty="0"/>
          </a:p>
        </p:txBody>
      </p:sp>
      <p:sp>
        <p:nvSpPr>
          <p:cNvPr id="37" name="Rectangle 36">
            <a:extLst>
              <a:ext uri="{FF2B5EF4-FFF2-40B4-BE49-F238E27FC236}">
                <a16:creationId xmlns:a16="http://schemas.microsoft.com/office/drawing/2014/main" id="{7EB795A2-038B-FE6A-2B89-48CF368BB465}"/>
              </a:ext>
            </a:extLst>
          </p:cNvPr>
          <p:cNvSpPr/>
          <p:nvPr/>
        </p:nvSpPr>
        <p:spPr>
          <a:xfrm>
            <a:off x="9267091" y="5583701"/>
            <a:ext cx="1688124" cy="5715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angle</a:t>
            </a:r>
          </a:p>
        </p:txBody>
      </p:sp>
      <p:cxnSp>
        <p:nvCxnSpPr>
          <p:cNvPr id="38" name="Straight Arrow Connector 37">
            <a:extLst>
              <a:ext uri="{FF2B5EF4-FFF2-40B4-BE49-F238E27FC236}">
                <a16:creationId xmlns:a16="http://schemas.microsoft.com/office/drawing/2014/main" id="{FACCDB33-4B4E-5476-731E-F67C7857749E}"/>
              </a:ext>
            </a:extLst>
          </p:cNvPr>
          <p:cNvCxnSpPr>
            <a:cxnSpLocks/>
            <a:stCxn id="35" idx="3"/>
            <a:endCxn id="37" idx="1"/>
          </p:cNvCxnSpPr>
          <p:nvPr/>
        </p:nvCxnSpPr>
        <p:spPr>
          <a:xfrm>
            <a:off x="8212015" y="5865069"/>
            <a:ext cx="1055076" cy="43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49D9835F-CFB9-B279-4F9C-0FC1E6F5E770}"/>
              </a:ext>
            </a:extLst>
          </p:cNvPr>
          <p:cNvSpPr txBox="1"/>
          <p:nvPr/>
        </p:nvSpPr>
        <p:spPr>
          <a:xfrm>
            <a:off x="548057" y="4788369"/>
            <a:ext cx="615461" cy="923330"/>
          </a:xfrm>
          <a:prstGeom prst="rect">
            <a:avLst/>
          </a:prstGeom>
          <a:noFill/>
        </p:spPr>
        <p:txBody>
          <a:bodyPr wrap="square">
            <a:spAutoFit/>
          </a:bodyPr>
          <a:lstStyle/>
          <a:p>
            <a:r>
              <a:rPr lang="en-US" dirty="0"/>
              <a:t>XZ</a:t>
            </a:r>
          </a:p>
          <a:p>
            <a:r>
              <a:rPr lang="en-US" dirty="0"/>
              <a:t>XY</a:t>
            </a:r>
          </a:p>
          <a:p>
            <a:r>
              <a:rPr lang="en-US" dirty="0"/>
              <a:t>YZ</a:t>
            </a:r>
          </a:p>
        </p:txBody>
      </p:sp>
      <p:sp>
        <p:nvSpPr>
          <p:cNvPr id="44" name="TextBox 43">
            <a:extLst>
              <a:ext uri="{FF2B5EF4-FFF2-40B4-BE49-F238E27FC236}">
                <a16:creationId xmlns:a16="http://schemas.microsoft.com/office/drawing/2014/main" id="{BE1D8BC4-B18A-7ED5-ADF9-339DCC167531}"/>
              </a:ext>
            </a:extLst>
          </p:cNvPr>
          <p:cNvSpPr txBox="1"/>
          <p:nvPr/>
        </p:nvSpPr>
        <p:spPr>
          <a:xfrm>
            <a:off x="369278" y="5824972"/>
            <a:ext cx="2341685" cy="923330"/>
          </a:xfrm>
          <a:prstGeom prst="rect">
            <a:avLst/>
          </a:prstGeom>
          <a:noFill/>
        </p:spPr>
        <p:txBody>
          <a:bodyPr wrap="square">
            <a:spAutoFit/>
          </a:bodyPr>
          <a:lstStyle/>
          <a:p>
            <a:r>
              <a:rPr lang="en-US" dirty="0"/>
              <a:t>depending on how the Wii Remote is physically mounted.</a:t>
            </a:r>
          </a:p>
        </p:txBody>
      </p:sp>
    </p:spTree>
    <p:extLst>
      <p:ext uri="{BB962C8B-B14F-4D97-AF65-F5344CB8AC3E}">
        <p14:creationId xmlns:p14="http://schemas.microsoft.com/office/powerpoint/2010/main" val="37777774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E85C9-84B6-7E5F-A56B-42539B7A86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D74B5-E7FA-4407-7679-EBBE1CDCCA3D}"/>
              </a:ext>
            </a:extLst>
          </p:cNvPr>
          <p:cNvSpPr>
            <a:spLocks noGrp="1"/>
          </p:cNvSpPr>
          <p:nvPr>
            <p:ph type="title"/>
          </p:nvPr>
        </p:nvSpPr>
        <p:spPr>
          <a:xfrm>
            <a:off x="0" y="18255"/>
            <a:ext cx="12192000" cy="587801"/>
          </a:xfrm>
        </p:spPr>
        <p:txBody>
          <a:bodyPr>
            <a:normAutofit fontScale="90000"/>
          </a:bodyPr>
          <a:lstStyle/>
          <a:p>
            <a:r>
              <a:rPr lang="en-US" dirty="0"/>
              <a:t>Factory accelerometer calibration</a:t>
            </a:r>
          </a:p>
        </p:txBody>
      </p:sp>
      <p:sp>
        <p:nvSpPr>
          <p:cNvPr id="4" name="TextBox 3">
            <a:extLst>
              <a:ext uri="{FF2B5EF4-FFF2-40B4-BE49-F238E27FC236}">
                <a16:creationId xmlns:a16="http://schemas.microsoft.com/office/drawing/2014/main" id="{3B2B3614-14FE-4475-BBC0-1207094A5384}"/>
              </a:ext>
            </a:extLst>
          </p:cNvPr>
          <p:cNvSpPr txBox="1"/>
          <p:nvPr/>
        </p:nvSpPr>
        <p:spPr>
          <a:xfrm>
            <a:off x="747345" y="960512"/>
            <a:ext cx="7104185" cy="369332"/>
          </a:xfrm>
          <a:prstGeom prst="rect">
            <a:avLst/>
          </a:prstGeom>
          <a:noFill/>
        </p:spPr>
        <p:txBody>
          <a:bodyPr wrap="square">
            <a:spAutoFit/>
          </a:bodyPr>
          <a:lstStyle/>
          <a:p>
            <a:r>
              <a:rPr lang="en-US" dirty="0"/>
              <a:t>reads the Wii Remote's own factory calibration data from its EEPROM</a:t>
            </a:r>
          </a:p>
        </p:txBody>
      </p:sp>
      <p:sp>
        <p:nvSpPr>
          <p:cNvPr id="6" name="TextBox 5">
            <a:extLst>
              <a:ext uri="{FF2B5EF4-FFF2-40B4-BE49-F238E27FC236}">
                <a16:creationId xmlns:a16="http://schemas.microsoft.com/office/drawing/2014/main" id="{0619F51A-CE2D-ECA5-AB96-402FA6ADC32E}"/>
              </a:ext>
            </a:extLst>
          </p:cNvPr>
          <p:cNvSpPr txBox="1"/>
          <p:nvPr/>
        </p:nvSpPr>
        <p:spPr>
          <a:xfrm>
            <a:off x="483577" y="1863941"/>
            <a:ext cx="1749669" cy="369332"/>
          </a:xfrm>
          <a:prstGeom prst="rect">
            <a:avLst/>
          </a:prstGeom>
          <a:noFill/>
        </p:spPr>
        <p:txBody>
          <a:bodyPr wrap="square">
            <a:spAutoFit/>
          </a:bodyPr>
          <a:lstStyle/>
          <a:p>
            <a:r>
              <a:rPr lang="en-US"/>
              <a:t>"Calibrate Zero"</a:t>
            </a:r>
            <a:endParaRPr lang="en-US" dirty="0"/>
          </a:p>
        </p:txBody>
      </p:sp>
      <p:sp>
        <p:nvSpPr>
          <p:cNvPr id="8" name="TextBox 7">
            <a:extLst>
              <a:ext uri="{FF2B5EF4-FFF2-40B4-BE49-F238E27FC236}">
                <a16:creationId xmlns:a16="http://schemas.microsoft.com/office/drawing/2014/main" id="{DCA87B57-E558-F639-ADC0-72F70A2B0C30}"/>
              </a:ext>
            </a:extLst>
          </p:cNvPr>
          <p:cNvSpPr txBox="1"/>
          <p:nvPr/>
        </p:nvSpPr>
        <p:spPr>
          <a:xfrm>
            <a:off x="1644162" y="2582704"/>
            <a:ext cx="2593730" cy="369332"/>
          </a:xfrm>
          <a:prstGeom prst="rect">
            <a:avLst/>
          </a:prstGeom>
          <a:noFill/>
        </p:spPr>
        <p:txBody>
          <a:bodyPr wrap="square">
            <a:spAutoFit/>
          </a:bodyPr>
          <a:lstStyle/>
          <a:p>
            <a:r>
              <a:rPr lang="en-US"/>
              <a:t>Physical Wii angle = 87°</a:t>
            </a:r>
            <a:endParaRPr lang="en-US" dirty="0"/>
          </a:p>
        </p:txBody>
      </p:sp>
      <p:sp>
        <p:nvSpPr>
          <p:cNvPr id="10" name="TextBox 9">
            <a:extLst>
              <a:ext uri="{FF2B5EF4-FFF2-40B4-BE49-F238E27FC236}">
                <a16:creationId xmlns:a16="http://schemas.microsoft.com/office/drawing/2014/main" id="{CD63C63E-06F1-4A7C-EBD5-C6090AF0380F}"/>
              </a:ext>
            </a:extLst>
          </p:cNvPr>
          <p:cNvSpPr txBox="1"/>
          <p:nvPr/>
        </p:nvSpPr>
        <p:spPr>
          <a:xfrm>
            <a:off x="1644162" y="3059668"/>
            <a:ext cx="2760784" cy="369332"/>
          </a:xfrm>
          <a:prstGeom prst="rect">
            <a:avLst/>
          </a:prstGeom>
          <a:noFill/>
        </p:spPr>
        <p:txBody>
          <a:bodyPr wrap="square">
            <a:spAutoFit/>
          </a:bodyPr>
          <a:lstStyle/>
          <a:p>
            <a:r>
              <a:rPr lang="en-US" dirty="0" err="1"/>
              <a:t>zero_reference</a:t>
            </a:r>
            <a:r>
              <a:rPr lang="en-US" dirty="0"/>
              <a:t> = 87°</a:t>
            </a:r>
          </a:p>
        </p:txBody>
      </p:sp>
      <p:sp>
        <p:nvSpPr>
          <p:cNvPr id="12" name="TextBox 11">
            <a:extLst>
              <a:ext uri="{FF2B5EF4-FFF2-40B4-BE49-F238E27FC236}">
                <a16:creationId xmlns:a16="http://schemas.microsoft.com/office/drawing/2014/main" id="{C8C48999-7B62-9A94-C2C3-F9ECC741453E}"/>
              </a:ext>
            </a:extLst>
          </p:cNvPr>
          <p:cNvSpPr txBox="1"/>
          <p:nvPr/>
        </p:nvSpPr>
        <p:spPr>
          <a:xfrm>
            <a:off x="1644162" y="3593765"/>
            <a:ext cx="3191607" cy="369332"/>
          </a:xfrm>
          <a:prstGeom prst="rect">
            <a:avLst/>
          </a:prstGeom>
          <a:noFill/>
        </p:spPr>
        <p:txBody>
          <a:bodyPr wrap="square">
            <a:spAutoFit/>
          </a:bodyPr>
          <a:lstStyle/>
          <a:p>
            <a:r>
              <a:rPr lang="en-US" dirty="0"/>
              <a:t>current angle - zero reference</a:t>
            </a:r>
          </a:p>
        </p:txBody>
      </p:sp>
      <p:sp>
        <p:nvSpPr>
          <p:cNvPr id="14" name="TextBox 13">
            <a:extLst>
              <a:ext uri="{FF2B5EF4-FFF2-40B4-BE49-F238E27FC236}">
                <a16:creationId xmlns:a16="http://schemas.microsoft.com/office/drawing/2014/main" id="{4F47F139-6FD7-9021-48FE-2834DCE1DF4F}"/>
              </a:ext>
            </a:extLst>
          </p:cNvPr>
          <p:cNvSpPr txBox="1"/>
          <p:nvPr/>
        </p:nvSpPr>
        <p:spPr>
          <a:xfrm>
            <a:off x="1644162" y="4204896"/>
            <a:ext cx="3710353" cy="2031325"/>
          </a:xfrm>
          <a:prstGeom prst="rect">
            <a:avLst/>
          </a:prstGeom>
          <a:noFill/>
        </p:spPr>
        <p:txBody>
          <a:bodyPr wrap="square">
            <a:spAutoFit/>
          </a:bodyPr>
          <a:lstStyle/>
          <a:p>
            <a:r>
              <a:rPr lang="en-US" dirty="0"/>
              <a:t>Raw Wii         Experimental response</a:t>
            </a:r>
          </a:p>
          <a:p>
            <a:endParaRPr lang="en-US" dirty="0"/>
          </a:p>
          <a:p>
            <a:r>
              <a:rPr lang="en-US" dirty="0"/>
              <a:t>87°             0°</a:t>
            </a:r>
          </a:p>
          <a:p>
            <a:r>
              <a:rPr lang="en-US" dirty="0"/>
              <a:t>102°           +15°</a:t>
            </a:r>
          </a:p>
          <a:p>
            <a:r>
              <a:rPr lang="en-US" dirty="0"/>
              <a:t>117°           +30°</a:t>
            </a:r>
          </a:p>
          <a:p>
            <a:r>
              <a:rPr lang="en-US" dirty="0"/>
              <a:t>72°            -15°</a:t>
            </a:r>
          </a:p>
          <a:p>
            <a:r>
              <a:rPr lang="en-US" dirty="0"/>
              <a:t>57°            -30°</a:t>
            </a:r>
          </a:p>
        </p:txBody>
      </p:sp>
    </p:spTree>
    <p:extLst>
      <p:ext uri="{BB962C8B-B14F-4D97-AF65-F5344CB8AC3E}">
        <p14:creationId xmlns:p14="http://schemas.microsoft.com/office/powerpoint/2010/main" val="9760858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E2237-6053-F100-B305-28783750F3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2B9F4D-6518-D37B-5C47-ED3E3244DBC9}"/>
              </a:ext>
            </a:extLst>
          </p:cNvPr>
          <p:cNvSpPr>
            <a:spLocks noGrp="1"/>
          </p:cNvSpPr>
          <p:nvPr>
            <p:ph type="title"/>
          </p:nvPr>
        </p:nvSpPr>
        <p:spPr>
          <a:xfrm>
            <a:off x="0" y="18255"/>
            <a:ext cx="12192000" cy="587801"/>
          </a:xfrm>
        </p:spPr>
        <p:txBody>
          <a:bodyPr>
            <a:normAutofit fontScale="90000"/>
          </a:bodyPr>
          <a:lstStyle/>
          <a:p>
            <a:r>
              <a:rPr lang="en-US" dirty="0"/>
              <a:t>Angle wrapping</a:t>
            </a:r>
          </a:p>
        </p:txBody>
      </p:sp>
      <p:sp>
        <p:nvSpPr>
          <p:cNvPr id="4" name="TextBox 3">
            <a:extLst>
              <a:ext uri="{FF2B5EF4-FFF2-40B4-BE49-F238E27FC236}">
                <a16:creationId xmlns:a16="http://schemas.microsoft.com/office/drawing/2014/main" id="{E5F78C2C-7825-28B5-6870-3E79E857C7D1}"/>
              </a:ext>
            </a:extLst>
          </p:cNvPr>
          <p:cNvSpPr txBox="1"/>
          <p:nvPr/>
        </p:nvSpPr>
        <p:spPr>
          <a:xfrm>
            <a:off x="527539" y="923165"/>
            <a:ext cx="6207368" cy="369332"/>
          </a:xfrm>
          <a:prstGeom prst="rect">
            <a:avLst/>
          </a:prstGeom>
          <a:noFill/>
        </p:spPr>
        <p:txBody>
          <a:bodyPr wrap="square">
            <a:spAutoFit/>
          </a:bodyPr>
          <a:lstStyle/>
          <a:p>
            <a:r>
              <a:rPr lang="en-US" dirty="0"/>
              <a:t>handles crossing the </a:t>
            </a:r>
            <a:r>
              <a:rPr lang="en-US" dirty="0">
                <a:latin typeface="+mn-lt"/>
              </a:rPr>
              <a:t>±180°</a:t>
            </a:r>
            <a:r>
              <a:rPr lang="en-US" dirty="0"/>
              <a:t> boundary</a:t>
            </a:r>
          </a:p>
        </p:txBody>
      </p:sp>
      <p:sp>
        <p:nvSpPr>
          <p:cNvPr id="6" name="TextBox 5">
            <a:extLst>
              <a:ext uri="{FF2B5EF4-FFF2-40B4-BE49-F238E27FC236}">
                <a16:creationId xmlns:a16="http://schemas.microsoft.com/office/drawing/2014/main" id="{00DE0BAB-A9F4-48E5-E65C-BEC6AB30DB03}"/>
              </a:ext>
            </a:extLst>
          </p:cNvPr>
          <p:cNvSpPr txBox="1"/>
          <p:nvPr/>
        </p:nvSpPr>
        <p:spPr>
          <a:xfrm>
            <a:off x="527539" y="1609606"/>
            <a:ext cx="6207368" cy="369332"/>
          </a:xfrm>
          <a:prstGeom prst="rect">
            <a:avLst/>
          </a:prstGeom>
          <a:noFill/>
        </p:spPr>
        <p:txBody>
          <a:bodyPr wrap="square">
            <a:spAutoFit/>
          </a:bodyPr>
          <a:lstStyle/>
          <a:p>
            <a:r>
              <a:rPr lang="en-US" dirty="0">
                <a:solidFill>
                  <a:srgbClr val="FF0000"/>
                </a:solidFill>
              </a:rPr>
              <a:t>relative = (</a:t>
            </a:r>
            <a:r>
              <a:rPr lang="en-US" dirty="0" err="1">
                <a:solidFill>
                  <a:srgbClr val="FF0000"/>
                </a:solidFill>
              </a:rPr>
              <a:t>raw_angle</a:t>
            </a:r>
            <a:r>
              <a:rPr lang="en-US" dirty="0">
                <a:solidFill>
                  <a:srgbClr val="FF0000"/>
                </a:solidFill>
              </a:rPr>
              <a:t> - zero + 180) % 360 - 180</a:t>
            </a:r>
          </a:p>
        </p:txBody>
      </p:sp>
      <p:sp>
        <p:nvSpPr>
          <p:cNvPr id="8" name="TextBox 7">
            <a:extLst>
              <a:ext uri="{FF2B5EF4-FFF2-40B4-BE49-F238E27FC236}">
                <a16:creationId xmlns:a16="http://schemas.microsoft.com/office/drawing/2014/main" id="{0EB98530-D2A0-1176-4927-26409578F520}"/>
              </a:ext>
            </a:extLst>
          </p:cNvPr>
          <p:cNvSpPr txBox="1"/>
          <p:nvPr/>
        </p:nvSpPr>
        <p:spPr>
          <a:xfrm>
            <a:off x="527539" y="2296047"/>
            <a:ext cx="6207368" cy="369332"/>
          </a:xfrm>
          <a:prstGeom prst="rect">
            <a:avLst/>
          </a:prstGeom>
          <a:noFill/>
        </p:spPr>
        <p:txBody>
          <a:bodyPr wrap="square">
            <a:spAutoFit/>
          </a:bodyPr>
          <a:lstStyle/>
          <a:p>
            <a:r>
              <a:rPr lang="en-US" dirty="0"/>
              <a:t>That forces the result into: -180° ... 0° ... +180°</a:t>
            </a:r>
          </a:p>
        </p:txBody>
      </p:sp>
    </p:spTree>
    <p:extLst>
      <p:ext uri="{BB962C8B-B14F-4D97-AF65-F5344CB8AC3E}">
        <p14:creationId xmlns:p14="http://schemas.microsoft.com/office/powerpoint/2010/main" val="37392963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E9FF7-483A-1C56-D6CF-54266FD492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FA02A-3E68-722D-8EAA-029BE41EE18B}"/>
              </a:ext>
            </a:extLst>
          </p:cNvPr>
          <p:cNvSpPr>
            <a:spLocks noGrp="1"/>
          </p:cNvSpPr>
          <p:nvPr>
            <p:ph type="title"/>
          </p:nvPr>
        </p:nvSpPr>
        <p:spPr>
          <a:xfrm>
            <a:off x="0" y="18255"/>
            <a:ext cx="12192000" cy="587801"/>
          </a:xfrm>
        </p:spPr>
        <p:txBody>
          <a:bodyPr>
            <a:normAutofit fontScale="90000"/>
          </a:bodyPr>
          <a:lstStyle/>
          <a:p>
            <a:r>
              <a:rPr lang="en-US" dirty="0"/>
              <a:t>Pointing Mode (</a:t>
            </a:r>
            <a:r>
              <a:rPr lang="en-US" b="1" dirty="0">
                <a:solidFill>
                  <a:srgbClr val="FF0000"/>
                </a:solidFill>
              </a:rPr>
              <a:t>experimental</a:t>
            </a:r>
            <a:r>
              <a:rPr lang="en-US" b="1" dirty="0"/>
              <a:t>)</a:t>
            </a:r>
            <a:endParaRPr lang="en-US" dirty="0"/>
          </a:p>
        </p:txBody>
      </p:sp>
      <p:sp>
        <p:nvSpPr>
          <p:cNvPr id="4" name="TextBox 3">
            <a:extLst>
              <a:ext uri="{FF2B5EF4-FFF2-40B4-BE49-F238E27FC236}">
                <a16:creationId xmlns:a16="http://schemas.microsoft.com/office/drawing/2014/main" id="{902616A1-D8F6-4C70-6242-F8A578C1BC0B}"/>
              </a:ext>
            </a:extLst>
          </p:cNvPr>
          <p:cNvSpPr txBox="1"/>
          <p:nvPr/>
        </p:nvSpPr>
        <p:spPr>
          <a:xfrm>
            <a:off x="659422" y="846212"/>
            <a:ext cx="7851531" cy="369332"/>
          </a:xfrm>
          <a:prstGeom prst="rect">
            <a:avLst/>
          </a:prstGeom>
          <a:noFill/>
        </p:spPr>
        <p:txBody>
          <a:bodyPr wrap="square">
            <a:spAutoFit/>
          </a:bodyPr>
          <a:lstStyle/>
          <a:p>
            <a:r>
              <a:rPr lang="en-US" b="1" dirty="0"/>
              <a:t>Wii </a:t>
            </a:r>
            <a:r>
              <a:rPr lang="en-US" b="1" dirty="0" err="1"/>
              <a:t>MotionPlus</a:t>
            </a:r>
            <a:r>
              <a:rPr lang="en-US" b="1" dirty="0"/>
              <a:t> gyroscope data</a:t>
            </a:r>
            <a:r>
              <a:rPr lang="en-US" dirty="0"/>
              <a:t>, not gravity-based accelerometer angle</a:t>
            </a:r>
          </a:p>
        </p:txBody>
      </p:sp>
      <p:sp>
        <p:nvSpPr>
          <p:cNvPr id="7" name="Rectangle 6">
            <a:extLst>
              <a:ext uri="{FF2B5EF4-FFF2-40B4-BE49-F238E27FC236}">
                <a16:creationId xmlns:a16="http://schemas.microsoft.com/office/drawing/2014/main" id="{6183C246-4374-CC67-0DB4-D12F9D62DDDB}"/>
              </a:ext>
            </a:extLst>
          </p:cNvPr>
          <p:cNvSpPr/>
          <p:nvPr/>
        </p:nvSpPr>
        <p:spPr>
          <a:xfrm>
            <a:off x="844063" y="1817837"/>
            <a:ext cx="1987060" cy="6615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Wii </a:t>
            </a:r>
            <a:r>
              <a:rPr lang="en-US" dirty="0" err="1"/>
              <a:t>MotionPlus</a:t>
            </a:r>
            <a:endParaRPr lang="en-US" dirty="0"/>
          </a:p>
        </p:txBody>
      </p:sp>
      <p:cxnSp>
        <p:nvCxnSpPr>
          <p:cNvPr id="8" name="Straight Arrow Connector 7">
            <a:extLst>
              <a:ext uri="{FF2B5EF4-FFF2-40B4-BE49-F238E27FC236}">
                <a16:creationId xmlns:a16="http://schemas.microsoft.com/office/drawing/2014/main" id="{C9158D4D-7696-6A53-E72C-E599D632D1D0}"/>
              </a:ext>
            </a:extLst>
          </p:cNvPr>
          <p:cNvCxnSpPr>
            <a:cxnSpLocks/>
            <a:stCxn id="7" idx="3"/>
            <a:endCxn id="13" idx="1"/>
          </p:cNvCxnSpPr>
          <p:nvPr/>
        </p:nvCxnSpPr>
        <p:spPr>
          <a:xfrm flipV="1">
            <a:off x="2831123" y="2148633"/>
            <a:ext cx="606671"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AC40C4C0-DD17-C32F-CA3E-A08204B3D779}"/>
              </a:ext>
            </a:extLst>
          </p:cNvPr>
          <p:cNvSpPr/>
          <p:nvPr/>
        </p:nvSpPr>
        <p:spPr>
          <a:xfrm>
            <a:off x="3437794" y="1817836"/>
            <a:ext cx="1925513" cy="6615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angular velocity</a:t>
            </a:r>
          </a:p>
        </p:txBody>
      </p:sp>
      <p:sp>
        <p:nvSpPr>
          <p:cNvPr id="17" name="Rectangle 16">
            <a:extLst>
              <a:ext uri="{FF2B5EF4-FFF2-40B4-BE49-F238E27FC236}">
                <a16:creationId xmlns:a16="http://schemas.microsoft.com/office/drawing/2014/main" id="{B5A78024-8084-7FEF-0E43-331329A513DB}"/>
              </a:ext>
            </a:extLst>
          </p:cNvPr>
          <p:cNvSpPr/>
          <p:nvPr/>
        </p:nvSpPr>
        <p:spPr>
          <a:xfrm>
            <a:off x="5761894" y="1834318"/>
            <a:ext cx="1987060" cy="6615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degrees / second</a:t>
            </a:r>
          </a:p>
        </p:txBody>
      </p:sp>
      <p:cxnSp>
        <p:nvCxnSpPr>
          <p:cNvPr id="18" name="Straight Arrow Connector 17">
            <a:extLst>
              <a:ext uri="{FF2B5EF4-FFF2-40B4-BE49-F238E27FC236}">
                <a16:creationId xmlns:a16="http://schemas.microsoft.com/office/drawing/2014/main" id="{CB70207A-D5E0-DA12-75C1-830DA64BACFE}"/>
              </a:ext>
            </a:extLst>
          </p:cNvPr>
          <p:cNvCxnSpPr>
            <a:cxnSpLocks/>
            <a:stCxn id="17" idx="3"/>
            <a:endCxn id="24" idx="1"/>
          </p:cNvCxnSpPr>
          <p:nvPr/>
        </p:nvCxnSpPr>
        <p:spPr>
          <a:xfrm>
            <a:off x="7748954" y="2165115"/>
            <a:ext cx="553917" cy="356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8A5D8E3B-45D0-AFDB-95DF-6A1E09BE319E}"/>
              </a:ext>
            </a:extLst>
          </p:cNvPr>
          <p:cNvSpPr/>
          <p:nvPr/>
        </p:nvSpPr>
        <p:spPr>
          <a:xfrm>
            <a:off x="8355625" y="2963768"/>
            <a:ext cx="1987060" cy="6615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relative yaw angle</a:t>
            </a:r>
          </a:p>
        </p:txBody>
      </p:sp>
      <p:sp>
        <p:nvSpPr>
          <p:cNvPr id="24" name="Rectangle 23">
            <a:extLst>
              <a:ext uri="{FF2B5EF4-FFF2-40B4-BE49-F238E27FC236}">
                <a16:creationId xmlns:a16="http://schemas.microsoft.com/office/drawing/2014/main" id="{7BCFA2A7-BC22-9DFA-507B-692A3C6A781B}"/>
              </a:ext>
            </a:extLst>
          </p:cNvPr>
          <p:cNvSpPr/>
          <p:nvPr/>
        </p:nvSpPr>
        <p:spPr>
          <a:xfrm>
            <a:off x="8302871" y="1869941"/>
            <a:ext cx="1987060" cy="6615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integrate over time</a:t>
            </a:r>
          </a:p>
        </p:txBody>
      </p:sp>
      <p:cxnSp>
        <p:nvCxnSpPr>
          <p:cNvPr id="25" name="Straight Arrow Connector 24">
            <a:extLst>
              <a:ext uri="{FF2B5EF4-FFF2-40B4-BE49-F238E27FC236}">
                <a16:creationId xmlns:a16="http://schemas.microsoft.com/office/drawing/2014/main" id="{87DF6CF5-DDA4-58BE-E30C-5083031E6A7E}"/>
              </a:ext>
            </a:extLst>
          </p:cNvPr>
          <p:cNvCxnSpPr>
            <a:cxnSpLocks/>
            <a:endCxn id="17" idx="1"/>
          </p:cNvCxnSpPr>
          <p:nvPr/>
        </p:nvCxnSpPr>
        <p:spPr>
          <a:xfrm>
            <a:off x="5363307" y="2165115"/>
            <a:ext cx="39858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65DCDB52-2D95-E9CA-06F5-4902B2E06E26}"/>
              </a:ext>
            </a:extLst>
          </p:cNvPr>
          <p:cNvCxnSpPr>
            <a:cxnSpLocks/>
            <a:stCxn id="24" idx="2"/>
            <a:endCxn id="22" idx="0"/>
          </p:cNvCxnSpPr>
          <p:nvPr/>
        </p:nvCxnSpPr>
        <p:spPr>
          <a:xfrm>
            <a:off x="9296401" y="2531534"/>
            <a:ext cx="52754" cy="4322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242175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235F2-17D9-F53D-7D02-DCB6636F3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AB1C80-BB30-6166-C44C-99C67164F224}"/>
              </a:ext>
            </a:extLst>
          </p:cNvPr>
          <p:cNvSpPr>
            <a:spLocks noGrp="1"/>
          </p:cNvSpPr>
          <p:nvPr>
            <p:ph type="title"/>
          </p:nvPr>
        </p:nvSpPr>
        <p:spPr>
          <a:xfrm>
            <a:off x="0" y="18255"/>
            <a:ext cx="12192000" cy="587801"/>
          </a:xfrm>
        </p:spPr>
        <p:txBody>
          <a:bodyPr>
            <a:normAutofit fontScale="90000"/>
          </a:bodyPr>
          <a:lstStyle/>
          <a:p>
            <a:r>
              <a:rPr lang="en-US" dirty="0"/>
              <a:t>calibration </a:t>
            </a:r>
          </a:p>
        </p:txBody>
      </p:sp>
      <p:sp>
        <p:nvSpPr>
          <p:cNvPr id="4" name="TextBox 3">
            <a:extLst>
              <a:ext uri="{FF2B5EF4-FFF2-40B4-BE49-F238E27FC236}">
                <a16:creationId xmlns:a16="http://schemas.microsoft.com/office/drawing/2014/main" id="{125FC9CF-0839-EDF6-78A2-3A816C6E4283}"/>
              </a:ext>
            </a:extLst>
          </p:cNvPr>
          <p:cNvSpPr txBox="1"/>
          <p:nvPr/>
        </p:nvSpPr>
        <p:spPr>
          <a:xfrm>
            <a:off x="738554" y="958334"/>
            <a:ext cx="6207368" cy="369332"/>
          </a:xfrm>
          <a:prstGeom prst="rect">
            <a:avLst/>
          </a:prstGeom>
          <a:noFill/>
        </p:spPr>
        <p:txBody>
          <a:bodyPr wrap="square">
            <a:spAutoFit/>
          </a:bodyPr>
          <a:lstStyle/>
          <a:p>
            <a:r>
              <a:rPr lang="en-US" dirty="0"/>
              <a:t>- keep the Wii Remote still for about </a:t>
            </a:r>
            <a:r>
              <a:rPr lang="en-US" b="1" dirty="0"/>
              <a:t>2 seconds</a:t>
            </a:r>
            <a:r>
              <a:rPr lang="en-US" dirty="0"/>
              <a:t>.</a:t>
            </a:r>
          </a:p>
        </p:txBody>
      </p:sp>
      <p:sp>
        <p:nvSpPr>
          <p:cNvPr id="6" name="TextBox 5">
            <a:extLst>
              <a:ext uri="{FF2B5EF4-FFF2-40B4-BE49-F238E27FC236}">
                <a16:creationId xmlns:a16="http://schemas.microsoft.com/office/drawing/2014/main" id="{CFF7BF97-E08F-0355-EE1A-6D6B65202DD0}"/>
              </a:ext>
            </a:extLst>
          </p:cNvPr>
          <p:cNvSpPr txBox="1"/>
          <p:nvPr/>
        </p:nvSpPr>
        <p:spPr>
          <a:xfrm>
            <a:off x="738554" y="1495278"/>
            <a:ext cx="6207368" cy="369332"/>
          </a:xfrm>
          <a:prstGeom prst="rect">
            <a:avLst/>
          </a:prstGeom>
          <a:noFill/>
        </p:spPr>
        <p:txBody>
          <a:bodyPr wrap="square">
            <a:spAutoFit/>
          </a:bodyPr>
          <a:lstStyle/>
          <a:p>
            <a:r>
              <a:rPr lang="en-US" dirty="0"/>
              <a:t>- it collects gyro samples.</a:t>
            </a:r>
          </a:p>
        </p:txBody>
      </p:sp>
      <p:sp>
        <p:nvSpPr>
          <p:cNvPr id="12" name="Rectangle 11">
            <a:extLst>
              <a:ext uri="{FF2B5EF4-FFF2-40B4-BE49-F238E27FC236}">
                <a16:creationId xmlns:a16="http://schemas.microsoft.com/office/drawing/2014/main" id="{1AF99487-9F7F-AE79-91A7-956630A43DF4}"/>
              </a:ext>
            </a:extLst>
          </p:cNvPr>
          <p:cNvSpPr/>
          <p:nvPr/>
        </p:nvSpPr>
        <p:spPr>
          <a:xfrm>
            <a:off x="738554" y="2445337"/>
            <a:ext cx="2945421" cy="10353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Actual motion = 0°/s</a:t>
            </a:r>
          </a:p>
          <a:p>
            <a:r>
              <a:rPr lang="en-US" dirty="0"/>
              <a:t>Gyro reports = +0.72°/s</a:t>
            </a:r>
          </a:p>
        </p:txBody>
      </p:sp>
      <p:sp>
        <p:nvSpPr>
          <p:cNvPr id="14" name="Rectangle 13">
            <a:extLst>
              <a:ext uri="{FF2B5EF4-FFF2-40B4-BE49-F238E27FC236}">
                <a16:creationId xmlns:a16="http://schemas.microsoft.com/office/drawing/2014/main" id="{C9A767AE-7198-3371-F907-418520288C2A}"/>
              </a:ext>
            </a:extLst>
          </p:cNvPr>
          <p:cNvSpPr/>
          <p:nvPr/>
        </p:nvSpPr>
        <p:spPr>
          <a:xfrm>
            <a:off x="4360984" y="2445337"/>
            <a:ext cx="2400301" cy="10353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gyro bias ≈ +0.72°/s</a:t>
            </a:r>
          </a:p>
        </p:txBody>
      </p:sp>
      <p:cxnSp>
        <p:nvCxnSpPr>
          <p:cNvPr id="15" name="Straight Arrow Connector 14">
            <a:extLst>
              <a:ext uri="{FF2B5EF4-FFF2-40B4-BE49-F238E27FC236}">
                <a16:creationId xmlns:a16="http://schemas.microsoft.com/office/drawing/2014/main" id="{AFE62E8F-461B-2005-DF04-CD011ACB805A}"/>
              </a:ext>
            </a:extLst>
          </p:cNvPr>
          <p:cNvCxnSpPr>
            <a:cxnSpLocks/>
            <a:endCxn id="14" idx="1"/>
          </p:cNvCxnSpPr>
          <p:nvPr/>
        </p:nvCxnSpPr>
        <p:spPr>
          <a:xfrm flipV="1">
            <a:off x="3613638" y="2963008"/>
            <a:ext cx="74734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5825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DA69F-F480-BE36-8785-6C2329D620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5E8F3C-BA34-833D-3C94-6E70F7B575D0}"/>
              </a:ext>
            </a:extLst>
          </p:cNvPr>
          <p:cNvSpPr>
            <a:spLocks noGrp="1"/>
          </p:cNvSpPr>
          <p:nvPr>
            <p:ph type="title"/>
          </p:nvPr>
        </p:nvSpPr>
        <p:spPr>
          <a:xfrm>
            <a:off x="0" y="18255"/>
            <a:ext cx="12192000" cy="587801"/>
          </a:xfrm>
        </p:spPr>
        <p:txBody>
          <a:bodyPr>
            <a:normAutofit fontScale="90000"/>
          </a:bodyPr>
          <a:lstStyle/>
          <a:p>
            <a:r>
              <a:rPr lang="en-US" dirty="0"/>
              <a:t>Gyro Integration</a:t>
            </a:r>
          </a:p>
        </p:txBody>
      </p:sp>
      <p:sp>
        <p:nvSpPr>
          <p:cNvPr id="4" name="TextBox 3">
            <a:extLst>
              <a:ext uri="{FF2B5EF4-FFF2-40B4-BE49-F238E27FC236}">
                <a16:creationId xmlns:a16="http://schemas.microsoft.com/office/drawing/2014/main" id="{EDC89427-3030-CED4-8836-5A71C4E83314}"/>
              </a:ext>
            </a:extLst>
          </p:cNvPr>
          <p:cNvSpPr txBox="1"/>
          <p:nvPr/>
        </p:nvSpPr>
        <p:spPr>
          <a:xfrm>
            <a:off x="931984" y="835187"/>
            <a:ext cx="2611316" cy="369332"/>
          </a:xfrm>
          <a:prstGeom prst="rect">
            <a:avLst/>
          </a:prstGeom>
          <a:noFill/>
        </p:spPr>
        <p:txBody>
          <a:bodyPr wrap="square">
            <a:spAutoFit/>
          </a:bodyPr>
          <a:lstStyle/>
          <a:p>
            <a:r>
              <a:rPr lang="en-US" dirty="0"/>
              <a:t>trapezoidal integration.</a:t>
            </a:r>
          </a:p>
        </p:txBody>
      </p:sp>
      <p:sp>
        <p:nvSpPr>
          <p:cNvPr id="6" name="TextBox 5">
            <a:extLst>
              <a:ext uri="{FF2B5EF4-FFF2-40B4-BE49-F238E27FC236}">
                <a16:creationId xmlns:a16="http://schemas.microsoft.com/office/drawing/2014/main" id="{BDA94D24-29C6-96A0-DB07-298365F0751B}"/>
              </a:ext>
            </a:extLst>
          </p:cNvPr>
          <p:cNvSpPr txBox="1"/>
          <p:nvPr/>
        </p:nvSpPr>
        <p:spPr>
          <a:xfrm>
            <a:off x="931984" y="1972234"/>
            <a:ext cx="6207368" cy="923330"/>
          </a:xfrm>
          <a:prstGeom prst="rect">
            <a:avLst/>
          </a:prstGeom>
          <a:noFill/>
        </p:spPr>
        <p:txBody>
          <a:bodyPr wrap="square">
            <a:spAutoFit/>
          </a:bodyPr>
          <a:lstStyle/>
          <a:p>
            <a:r>
              <a:rPr lang="en-US" dirty="0"/>
              <a:t>previous rate = 20°/s</a:t>
            </a:r>
          </a:p>
          <a:p>
            <a:r>
              <a:rPr lang="en-US" dirty="0"/>
              <a:t>current rate  = 24°/s</a:t>
            </a:r>
          </a:p>
          <a:p>
            <a:r>
              <a:rPr lang="en-US" dirty="0"/>
              <a:t>time interval = 0.01 s</a:t>
            </a:r>
          </a:p>
        </p:txBody>
      </p:sp>
      <p:sp>
        <p:nvSpPr>
          <p:cNvPr id="9" name="Rectangle 8">
            <a:extLst>
              <a:ext uri="{FF2B5EF4-FFF2-40B4-BE49-F238E27FC236}">
                <a16:creationId xmlns:a16="http://schemas.microsoft.com/office/drawing/2014/main" id="{FF8ADF97-23A6-AA24-1F73-6082C31E4D06}"/>
              </a:ext>
            </a:extLst>
          </p:cNvPr>
          <p:cNvSpPr/>
          <p:nvPr/>
        </p:nvSpPr>
        <p:spPr>
          <a:xfrm>
            <a:off x="1002323" y="3245437"/>
            <a:ext cx="2945421" cy="10353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previous rate = 20°/s</a:t>
            </a:r>
          </a:p>
          <a:p>
            <a:r>
              <a:rPr lang="en-US" dirty="0"/>
              <a:t>current rate  = 24°/s</a:t>
            </a:r>
          </a:p>
          <a:p>
            <a:r>
              <a:rPr lang="en-US" dirty="0"/>
              <a:t>time interval = 0.01 s</a:t>
            </a:r>
          </a:p>
        </p:txBody>
      </p:sp>
      <p:cxnSp>
        <p:nvCxnSpPr>
          <p:cNvPr id="10" name="Straight Arrow Connector 9">
            <a:extLst>
              <a:ext uri="{FF2B5EF4-FFF2-40B4-BE49-F238E27FC236}">
                <a16:creationId xmlns:a16="http://schemas.microsoft.com/office/drawing/2014/main" id="{217141DB-107E-1F08-5DF6-0F175A7182E8}"/>
              </a:ext>
            </a:extLst>
          </p:cNvPr>
          <p:cNvCxnSpPr>
            <a:cxnSpLocks/>
          </p:cNvCxnSpPr>
          <p:nvPr/>
        </p:nvCxnSpPr>
        <p:spPr>
          <a:xfrm flipV="1">
            <a:off x="3877407" y="3763108"/>
            <a:ext cx="74734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EF48D1BD-8452-C706-1623-217029FF6375}"/>
              </a:ext>
            </a:extLst>
          </p:cNvPr>
          <p:cNvSpPr/>
          <p:nvPr/>
        </p:nvSpPr>
        <p:spPr>
          <a:xfrm>
            <a:off x="4624753" y="3245437"/>
            <a:ext cx="4352193" cy="10353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Average rate: (20 + 24) / 2 = 22°/s</a:t>
            </a:r>
            <a:br>
              <a:rPr lang="en-US" dirty="0"/>
            </a:br>
            <a:r>
              <a:rPr lang="en-US" dirty="0"/>
              <a:t>Angular movement: 22 × 0.01 = 0.22°</a:t>
            </a:r>
          </a:p>
        </p:txBody>
      </p:sp>
      <p:sp>
        <p:nvSpPr>
          <p:cNvPr id="14" name="TextBox 13">
            <a:extLst>
              <a:ext uri="{FF2B5EF4-FFF2-40B4-BE49-F238E27FC236}">
                <a16:creationId xmlns:a16="http://schemas.microsoft.com/office/drawing/2014/main" id="{FFE0CC4F-509E-5641-CD34-7EEF788794C8}"/>
              </a:ext>
            </a:extLst>
          </p:cNvPr>
          <p:cNvSpPr txBox="1"/>
          <p:nvPr/>
        </p:nvSpPr>
        <p:spPr>
          <a:xfrm>
            <a:off x="426426" y="1602902"/>
            <a:ext cx="1151794" cy="369332"/>
          </a:xfrm>
          <a:prstGeom prst="rect">
            <a:avLst/>
          </a:prstGeom>
          <a:noFill/>
        </p:spPr>
        <p:txBody>
          <a:bodyPr wrap="square">
            <a:spAutoFit/>
          </a:bodyPr>
          <a:lstStyle/>
          <a:p>
            <a:r>
              <a:rPr lang="en-US" sz="1800" dirty="0"/>
              <a:t>Example</a:t>
            </a:r>
            <a:endParaRPr lang="en-US" dirty="0"/>
          </a:p>
        </p:txBody>
      </p:sp>
      <p:sp>
        <p:nvSpPr>
          <p:cNvPr id="16" name="TextBox 15">
            <a:extLst>
              <a:ext uri="{FF2B5EF4-FFF2-40B4-BE49-F238E27FC236}">
                <a16:creationId xmlns:a16="http://schemas.microsoft.com/office/drawing/2014/main" id="{FD5B03EF-FD48-483D-E993-5FB1321F5F16}"/>
              </a:ext>
            </a:extLst>
          </p:cNvPr>
          <p:cNvSpPr txBox="1"/>
          <p:nvPr/>
        </p:nvSpPr>
        <p:spPr>
          <a:xfrm>
            <a:off x="945171" y="4630652"/>
            <a:ext cx="3486151" cy="1754326"/>
          </a:xfrm>
          <a:prstGeom prst="rect">
            <a:avLst/>
          </a:prstGeom>
          <a:noFill/>
        </p:spPr>
        <p:txBody>
          <a:bodyPr wrap="square">
            <a:spAutoFit/>
          </a:bodyPr>
          <a:lstStyle/>
          <a:p>
            <a:r>
              <a:rPr lang="en-US" dirty="0"/>
              <a:t>tiny movements continuously</a:t>
            </a:r>
          </a:p>
          <a:p>
            <a:r>
              <a:rPr lang="en-US" dirty="0"/>
              <a:t>0°</a:t>
            </a:r>
          </a:p>
          <a:p>
            <a:r>
              <a:rPr lang="en-US" dirty="0"/>
              <a:t>0.22°</a:t>
            </a:r>
          </a:p>
          <a:p>
            <a:r>
              <a:rPr lang="en-US" dirty="0"/>
              <a:t>0.47°</a:t>
            </a:r>
          </a:p>
          <a:p>
            <a:r>
              <a:rPr lang="en-US" dirty="0"/>
              <a:t>0.68°</a:t>
            </a:r>
          </a:p>
          <a:p>
            <a:r>
              <a:rPr lang="en-US" dirty="0"/>
              <a:t>...</a:t>
            </a:r>
          </a:p>
        </p:txBody>
      </p:sp>
      <p:sp>
        <p:nvSpPr>
          <p:cNvPr id="18" name="TextBox 17">
            <a:extLst>
              <a:ext uri="{FF2B5EF4-FFF2-40B4-BE49-F238E27FC236}">
                <a16:creationId xmlns:a16="http://schemas.microsoft.com/office/drawing/2014/main" id="{8B423BB9-81CD-A7D0-435C-DBF0F9877B0C}"/>
              </a:ext>
            </a:extLst>
          </p:cNvPr>
          <p:cNvSpPr txBox="1"/>
          <p:nvPr/>
        </p:nvSpPr>
        <p:spPr>
          <a:xfrm>
            <a:off x="5213839" y="5138483"/>
            <a:ext cx="6207368" cy="369332"/>
          </a:xfrm>
          <a:prstGeom prst="rect">
            <a:avLst/>
          </a:prstGeom>
          <a:noFill/>
        </p:spPr>
        <p:txBody>
          <a:bodyPr wrap="square">
            <a:spAutoFit/>
          </a:bodyPr>
          <a:lstStyle/>
          <a:p>
            <a:r>
              <a:rPr lang="en-US" dirty="0"/>
              <a:t>estimated response azimuth</a:t>
            </a:r>
          </a:p>
        </p:txBody>
      </p:sp>
      <p:cxnSp>
        <p:nvCxnSpPr>
          <p:cNvPr id="19" name="Straight Arrow Connector 18">
            <a:extLst>
              <a:ext uri="{FF2B5EF4-FFF2-40B4-BE49-F238E27FC236}">
                <a16:creationId xmlns:a16="http://schemas.microsoft.com/office/drawing/2014/main" id="{4A4A0868-835F-043D-45FE-4CEABFFCEF39}"/>
              </a:ext>
            </a:extLst>
          </p:cNvPr>
          <p:cNvCxnSpPr>
            <a:cxnSpLocks/>
          </p:cNvCxnSpPr>
          <p:nvPr/>
        </p:nvCxnSpPr>
        <p:spPr>
          <a:xfrm flipV="1">
            <a:off x="4246683" y="5323149"/>
            <a:ext cx="74734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52353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FED6-6BEE-E4A5-376B-72301AE7C1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67F9A-DAAB-56D6-08B3-579C99EFBDEA}"/>
              </a:ext>
            </a:extLst>
          </p:cNvPr>
          <p:cNvSpPr>
            <a:spLocks noGrp="1"/>
          </p:cNvSpPr>
          <p:nvPr>
            <p:ph type="title"/>
          </p:nvPr>
        </p:nvSpPr>
        <p:spPr>
          <a:xfrm>
            <a:off x="0" y="18255"/>
            <a:ext cx="12192000" cy="587801"/>
          </a:xfrm>
        </p:spPr>
        <p:txBody>
          <a:bodyPr>
            <a:normAutofit fontScale="90000"/>
          </a:bodyPr>
          <a:lstStyle/>
          <a:p>
            <a:r>
              <a:rPr lang="en-US" dirty="0"/>
              <a:t>Wheel vs. Pointing mode</a:t>
            </a:r>
          </a:p>
        </p:txBody>
      </p:sp>
      <p:sp>
        <p:nvSpPr>
          <p:cNvPr id="4" name="TextBox 3">
            <a:extLst>
              <a:ext uri="{FF2B5EF4-FFF2-40B4-BE49-F238E27FC236}">
                <a16:creationId xmlns:a16="http://schemas.microsoft.com/office/drawing/2014/main" id="{2E59CCE2-5479-0B4D-634A-7ECC8EB3F611}"/>
              </a:ext>
            </a:extLst>
          </p:cNvPr>
          <p:cNvSpPr txBox="1"/>
          <p:nvPr/>
        </p:nvSpPr>
        <p:spPr>
          <a:xfrm>
            <a:off x="905608" y="1613319"/>
            <a:ext cx="6207368" cy="923330"/>
          </a:xfrm>
          <a:prstGeom prst="rect">
            <a:avLst/>
          </a:prstGeom>
          <a:noFill/>
        </p:spPr>
        <p:txBody>
          <a:bodyPr wrap="square">
            <a:spAutoFit/>
          </a:bodyPr>
          <a:lstStyle/>
          <a:p>
            <a:r>
              <a:rPr lang="en-US" dirty="0"/>
              <a:t>Wheel mode</a:t>
            </a:r>
          </a:p>
          <a:p>
            <a:r>
              <a:rPr lang="en-US" dirty="0"/>
              <a:t>Accelerometer → absolute gravity reference</a:t>
            </a:r>
          </a:p>
          <a:p>
            <a:r>
              <a:rPr lang="en-US" dirty="0"/>
              <a:t>              	             → doesn't continuously accumulate drift</a:t>
            </a:r>
          </a:p>
        </p:txBody>
      </p:sp>
      <p:sp>
        <p:nvSpPr>
          <p:cNvPr id="6" name="TextBox 5">
            <a:extLst>
              <a:ext uri="{FF2B5EF4-FFF2-40B4-BE49-F238E27FC236}">
                <a16:creationId xmlns:a16="http://schemas.microsoft.com/office/drawing/2014/main" id="{AE0A668F-16F8-13E4-E44C-49BE9C81D693}"/>
              </a:ext>
            </a:extLst>
          </p:cNvPr>
          <p:cNvSpPr txBox="1"/>
          <p:nvPr/>
        </p:nvSpPr>
        <p:spPr>
          <a:xfrm>
            <a:off x="905608" y="3398022"/>
            <a:ext cx="6207368" cy="923330"/>
          </a:xfrm>
          <a:prstGeom prst="rect">
            <a:avLst/>
          </a:prstGeom>
          <a:noFill/>
        </p:spPr>
        <p:txBody>
          <a:bodyPr wrap="square">
            <a:spAutoFit/>
          </a:bodyPr>
          <a:lstStyle/>
          <a:p>
            <a:r>
              <a:rPr lang="en-US" dirty="0"/>
              <a:t>Pointing mode</a:t>
            </a:r>
          </a:p>
          <a:p>
            <a:r>
              <a:rPr lang="en-US" dirty="0"/>
              <a:t>Gyro velocity → integration → relative orientation</a:t>
            </a:r>
          </a:p>
          <a:p>
            <a:r>
              <a:rPr lang="en-US" dirty="0"/>
              <a:t>                             → drift accumulates</a:t>
            </a:r>
          </a:p>
        </p:txBody>
      </p:sp>
    </p:spTree>
    <p:extLst>
      <p:ext uri="{BB962C8B-B14F-4D97-AF65-F5344CB8AC3E}">
        <p14:creationId xmlns:p14="http://schemas.microsoft.com/office/powerpoint/2010/main" val="13328275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D38F3-715B-2229-EFB0-F7108FABE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D10927-13D6-19A6-9DA0-5F732901BCC5}"/>
              </a:ext>
            </a:extLst>
          </p:cNvPr>
          <p:cNvSpPr>
            <a:spLocks noGrp="1"/>
          </p:cNvSpPr>
          <p:nvPr>
            <p:ph type="title"/>
          </p:nvPr>
        </p:nvSpPr>
        <p:spPr>
          <a:xfrm>
            <a:off x="0" y="18255"/>
            <a:ext cx="12192000" cy="587801"/>
          </a:xfrm>
        </p:spPr>
        <p:txBody>
          <a:bodyPr>
            <a:normAutofit fontScale="90000"/>
          </a:bodyPr>
          <a:lstStyle/>
          <a:p>
            <a:r>
              <a:rPr lang="en-US" dirty="0"/>
              <a:t>Mapping angles to the LED strip</a:t>
            </a:r>
          </a:p>
        </p:txBody>
      </p:sp>
      <p:sp>
        <p:nvSpPr>
          <p:cNvPr id="4" name="TextBox 3">
            <a:extLst>
              <a:ext uri="{FF2B5EF4-FFF2-40B4-BE49-F238E27FC236}">
                <a16:creationId xmlns:a16="http://schemas.microsoft.com/office/drawing/2014/main" id="{70AD4673-4389-E3BE-C3D5-C54E564F9B79}"/>
              </a:ext>
            </a:extLst>
          </p:cNvPr>
          <p:cNvSpPr txBox="1"/>
          <p:nvPr/>
        </p:nvSpPr>
        <p:spPr>
          <a:xfrm>
            <a:off x="1485899" y="1487968"/>
            <a:ext cx="4404947" cy="1754326"/>
          </a:xfrm>
          <a:prstGeom prst="rect">
            <a:avLst/>
          </a:prstGeom>
          <a:noFill/>
        </p:spPr>
        <p:txBody>
          <a:bodyPr wrap="square">
            <a:spAutoFit/>
          </a:bodyPr>
          <a:lstStyle/>
          <a:p>
            <a:r>
              <a:rPr lang="en-US" dirty="0"/>
              <a:t>       -60°                       0°                            +60°</a:t>
            </a:r>
          </a:p>
          <a:p>
            <a:r>
              <a:rPr lang="en-US" dirty="0"/>
              <a:t>          |                            |                                   |</a:t>
            </a:r>
          </a:p>
          <a:p>
            <a:r>
              <a:rPr lang="en-US" dirty="0"/>
              <a:t>        ▼                         ▼                                ▼</a:t>
            </a:r>
          </a:p>
          <a:p>
            <a:endParaRPr lang="en-US" dirty="0"/>
          </a:p>
          <a:p>
            <a:r>
              <a:rPr lang="en-US" dirty="0"/>
              <a:t>LED 0  1  2  3 ... 8  [9]  10 ... 15 16 17 18</a:t>
            </a:r>
          </a:p>
          <a:p>
            <a:r>
              <a:rPr lang="en-US" dirty="0"/>
              <a:t>                               CENTER</a:t>
            </a:r>
          </a:p>
        </p:txBody>
      </p:sp>
      <p:sp>
        <p:nvSpPr>
          <p:cNvPr id="6" name="TextBox 5">
            <a:extLst>
              <a:ext uri="{FF2B5EF4-FFF2-40B4-BE49-F238E27FC236}">
                <a16:creationId xmlns:a16="http://schemas.microsoft.com/office/drawing/2014/main" id="{FE8399C2-5C16-D09D-0B18-D6CA5F222620}"/>
              </a:ext>
            </a:extLst>
          </p:cNvPr>
          <p:cNvSpPr txBox="1"/>
          <p:nvPr/>
        </p:nvSpPr>
        <p:spPr>
          <a:xfrm>
            <a:off x="6301156" y="2101335"/>
            <a:ext cx="6207368" cy="369332"/>
          </a:xfrm>
          <a:prstGeom prst="rect">
            <a:avLst/>
          </a:prstGeom>
          <a:noFill/>
        </p:spPr>
        <p:txBody>
          <a:bodyPr wrap="square">
            <a:spAutoFit/>
          </a:bodyPr>
          <a:lstStyle/>
          <a:p>
            <a:r>
              <a:rPr lang="en-US" dirty="0"/>
              <a:t>angles are rounded to the nearest LED.</a:t>
            </a:r>
          </a:p>
        </p:txBody>
      </p:sp>
      <p:sp>
        <p:nvSpPr>
          <p:cNvPr id="8" name="TextBox 7">
            <a:extLst>
              <a:ext uri="{FF2B5EF4-FFF2-40B4-BE49-F238E27FC236}">
                <a16:creationId xmlns:a16="http://schemas.microsoft.com/office/drawing/2014/main" id="{FBB9BDD5-CD58-91D2-1177-8E9CDA65D996}"/>
              </a:ext>
            </a:extLst>
          </p:cNvPr>
          <p:cNvSpPr txBox="1"/>
          <p:nvPr/>
        </p:nvSpPr>
        <p:spPr>
          <a:xfrm>
            <a:off x="1934308" y="3965946"/>
            <a:ext cx="6365630" cy="923330"/>
          </a:xfrm>
          <a:prstGeom prst="rect">
            <a:avLst/>
          </a:prstGeom>
          <a:noFill/>
        </p:spPr>
        <p:txBody>
          <a:bodyPr wrap="square">
            <a:spAutoFit/>
          </a:bodyPr>
          <a:lstStyle/>
          <a:p>
            <a:r>
              <a:rPr lang="en-US" dirty="0"/>
              <a:t>-30°  → ≈ LED 4–5</a:t>
            </a:r>
          </a:p>
          <a:p>
            <a:r>
              <a:rPr lang="en-US" dirty="0"/>
              <a:t>  0°    → LED 9</a:t>
            </a:r>
          </a:p>
          <a:p>
            <a:r>
              <a:rPr lang="en-US" dirty="0"/>
              <a:t>+30° → ≈ LED 13–14</a:t>
            </a:r>
          </a:p>
        </p:txBody>
      </p:sp>
    </p:spTree>
    <p:extLst>
      <p:ext uri="{BB962C8B-B14F-4D97-AF65-F5344CB8AC3E}">
        <p14:creationId xmlns:p14="http://schemas.microsoft.com/office/powerpoint/2010/main" val="8103626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FA238-3AA2-C7A3-945D-DB84F9F70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4197B8-DCB5-1308-FBD7-770988898AC7}"/>
              </a:ext>
            </a:extLst>
          </p:cNvPr>
          <p:cNvSpPr>
            <a:spLocks noGrp="1"/>
          </p:cNvSpPr>
          <p:nvPr>
            <p:ph type="title"/>
          </p:nvPr>
        </p:nvSpPr>
        <p:spPr>
          <a:xfrm>
            <a:off x="0" y="18255"/>
            <a:ext cx="12192000" cy="587801"/>
          </a:xfrm>
        </p:spPr>
        <p:txBody>
          <a:bodyPr>
            <a:normAutofit fontScale="90000"/>
          </a:bodyPr>
          <a:lstStyle/>
          <a:p>
            <a:r>
              <a:rPr lang="en-US" dirty="0"/>
              <a:t>Issues so far?</a:t>
            </a:r>
          </a:p>
        </p:txBody>
      </p:sp>
      <p:sp>
        <p:nvSpPr>
          <p:cNvPr id="4" name="TextBox 3">
            <a:extLst>
              <a:ext uri="{FF2B5EF4-FFF2-40B4-BE49-F238E27FC236}">
                <a16:creationId xmlns:a16="http://schemas.microsoft.com/office/drawing/2014/main" id="{D867D916-7E19-B6DB-0F6B-9FB24D1955B3}"/>
              </a:ext>
            </a:extLst>
          </p:cNvPr>
          <p:cNvSpPr txBox="1"/>
          <p:nvPr/>
        </p:nvSpPr>
        <p:spPr>
          <a:xfrm>
            <a:off x="553916" y="1055049"/>
            <a:ext cx="6207368" cy="369332"/>
          </a:xfrm>
          <a:prstGeom prst="rect">
            <a:avLst/>
          </a:prstGeom>
          <a:noFill/>
        </p:spPr>
        <p:txBody>
          <a:bodyPr wrap="square">
            <a:spAutoFit/>
          </a:bodyPr>
          <a:lstStyle/>
          <a:p>
            <a:r>
              <a:rPr lang="en-US" dirty="0"/>
              <a:t>What happens when the participant turns too far?</a:t>
            </a:r>
          </a:p>
        </p:txBody>
      </p:sp>
      <p:sp>
        <p:nvSpPr>
          <p:cNvPr id="6" name="TextBox 5">
            <a:extLst>
              <a:ext uri="{FF2B5EF4-FFF2-40B4-BE49-F238E27FC236}">
                <a16:creationId xmlns:a16="http://schemas.microsoft.com/office/drawing/2014/main" id="{EBD637EC-2079-9A82-3B38-68F016DBB9CF}"/>
              </a:ext>
            </a:extLst>
          </p:cNvPr>
          <p:cNvSpPr txBox="1"/>
          <p:nvPr/>
        </p:nvSpPr>
        <p:spPr>
          <a:xfrm>
            <a:off x="553916" y="1688708"/>
            <a:ext cx="1907930" cy="369332"/>
          </a:xfrm>
          <a:prstGeom prst="rect">
            <a:avLst/>
          </a:prstGeom>
          <a:noFill/>
        </p:spPr>
        <p:txBody>
          <a:bodyPr wrap="square">
            <a:spAutoFit/>
          </a:bodyPr>
          <a:lstStyle/>
          <a:p>
            <a:r>
              <a:rPr lang="en-US" dirty="0"/>
              <a:t>wear something?</a:t>
            </a:r>
          </a:p>
        </p:txBody>
      </p:sp>
      <p:sp>
        <p:nvSpPr>
          <p:cNvPr id="8" name="TextBox 7">
            <a:extLst>
              <a:ext uri="{FF2B5EF4-FFF2-40B4-BE49-F238E27FC236}">
                <a16:creationId xmlns:a16="http://schemas.microsoft.com/office/drawing/2014/main" id="{E43F7447-B3D2-0987-F2C5-1CFC641A26E3}"/>
              </a:ext>
            </a:extLst>
          </p:cNvPr>
          <p:cNvSpPr txBox="1"/>
          <p:nvPr/>
        </p:nvSpPr>
        <p:spPr>
          <a:xfrm>
            <a:off x="553916" y="2322367"/>
            <a:ext cx="6207368" cy="369332"/>
          </a:xfrm>
          <a:prstGeom prst="rect">
            <a:avLst/>
          </a:prstGeom>
          <a:noFill/>
        </p:spPr>
        <p:txBody>
          <a:bodyPr wrap="square">
            <a:spAutoFit/>
          </a:bodyPr>
          <a:lstStyle/>
          <a:p>
            <a:r>
              <a:rPr lang="en-US" dirty="0"/>
              <a:t>How often does calibration need?</a:t>
            </a:r>
          </a:p>
        </p:txBody>
      </p:sp>
      <p:sp>
        <p:nvSpPr>
          <p:cNvPr id="10" name="TextBox 9">
            <a:extLst>
              <a:ext uri="{FF2B5EF4-FFF2-40B4-BE49-F238E27FC236}">
                <a16:creationId xmlns:a16="http://schemas.microsoft.com/office/drawing/2014/main" id="{AF2C1955-B2BD-45B6-0326-ADE6E238D64A}"/>
              </a:ext>
            </a:extLst>
          </p:cNvPr>
          <p:cNvSpPr txBox="1"/>
          <p:nvPr/>
        </p:nvSpPr>
        <p:spPr>
          <a:xfrm>
            <a:off x="553916" y="3059668"/>
            <a:ext cx="6207368" cy="369332"/>
          </a:xfrm>
          <a:prstGeom prst="rect">
            <a:avLst/>
          </a:prstGeom>
          <a:noFill/>
        </p:spPr>
        <p:txBody>
          <a:bodyPr wrap="square">
            <a:spAutoFit/>
          </a:bodyPr>
          <a:lstStyle/>
          <a:p>
            <a:r>
              <a:rPr lang="en-US" dirty="0"/>
              <a:t>What if Bluetooth disconnects during a study?</a:t>
            </a:r>
          </a:p>
        </p:txBody>
      </p:sp>
    </p:spTree>
    <p:extLst>
      <p:ext uri="{BB962C8B-B14F-4D97-AF65-F5344CB8AC3E}">
        <p14:creationId xmlns:p14="http://schemas.microsoft.com/office/powerpoint/2010/main" val="31589516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69CCE-407C-D7D4-9913-FF1C02F1A0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2284C-78E4-C6BE-495A-F1E2057C9DCF}"/>
              </a:ext>
            </a:extLst>
          </p:cNvPr>
          <p:cNvSpPr>
            <a:spLocks noGrp="1"/>
          </p:cNvSpPr>
          <p:nvPr>
            <p:ph type="title"/>
          </p:nvPr>
        </p:nvSpPr>
        <p:spPr>
          <a:xfrm>
            <a:off x="0" y="18255"/>
            <a:ext cx="12192000" cy="587801"/>
          </a:xfrm>
        </p:spPr>
        <p:txBody>
          <a:bodyPr>
            <a:normAutofit fontScale="90000"/>
          </a:bodyPr>
          <a:lstStyle/>
          <a:p>
            <a:r>
              <a:rPr lang="en-US" dirty="0"/>
              <a:t>discussion</a:t>
            </a:r>
          </a:p>
        </p:txBody>
      </p:sp>
      <p:sp>
        <p:nvSpPr>
          <p:cNvPr id="4" name="TextBox 3">
            <a:extLst>
              <a:ext uri="{FF2B5EF4-FFF2-40B4-BE49-F238E27FC236}">
                <a16:creationId xmlns:a16="http://schemas.microsoft.com/office/drawing/2014/main" id="{B4D3F00A-0E50-BE8D-B0E9-163C2EC2B058}"/>
              </a:ext>
            </a:extLst>
          </p:cNvPr>
          <p:cNvSpPr txBox="1"/>
          <p:nvPr/>
        </p:nvSpPr>
        <p:spPr>
          <a:xfrm>
            <a:off x="553915" y="1055049"/>
            <a:ext cx="10612315" cy="2862322"/>
          </a:xfrm>
          <a:prstGeom prst="rect">
            <a:avLst/>
          </a:prstGeom>
          <a:noFill/>
        </p:spPr>
        <p:txBody>
          <a:bodyPr wrap="square">
            <a:spAutoFit/>
          </a:bodyPr>
          <a:lstStyle/>
          <a:p>
            <a:pPr marL="285750" indent="-285750">
              <a:buFontTx/>
              <a:buChar char="-"/>
            </a:pPr>
            <a:r>
              <a:rPr lang="en-US" dirty="0"/>
              <a:t>What to measure? Head orientation, hand pointing, wheel position?</a:t>
            </a:r>
          </a:p>
          <a:p>
            <a:pPr marL="285750" indent="-285750">
              <a:buFontTx/>
              <a:buChar char="-"/>
            </a:pPr>
            <a:r>
              <a:rPr lang="en-US" dirty="0"/>
              <a:t>angular range?</a:t>
            </a:r>
          </a:p>
          <a:p>
            <a:pPr marL="285750" indent="-285750">
              <a:buFontTx/>
              <a:buChar char="-"/>
            </a:pPr>
            <a:r>
              <a:rPr lang="en-US" dirty="0"/>
              <a:t>response be continuous or discrete? Like the angle 35.3 or speaker position?</a:t>
            </a:r>
          </a:p>
          <a:p>
            <a:pPr marL="285750" indent="-285750">
              <a:buFontTx/>
              <a:buChar char="-"/>
            </a:pPr>
            <a:r>
              <a:rPr lang="en-US" dirty="0"/>
              <a:t>Allowed to ear anything? earing a tag, headband, headphones?</a:t>
            </a:r>
          </a:p>
          <a:p>
            <a:pPr marL="285750" indent="-285750">
              <a:buFontTx/>
              <a:buChar char="-"/>
            </a:pPr>
            <a:r>
              <a:rPr lang="en-US" dirty="0"/>
              <a:t>head pitch and roll matter, or do we only care about yaw/azimuth?</a:t>
            </a:r>
          </a:p>
          <a:p>
            <a:pPr marL="285750" indent="-285750">
              <a:buFontTx/>
              <a:buChar char="-"/>
            </a:pPr>
            <a:endParaRPr lang="en-US" dirty="0"/>
          </a:p>
          <a:p>
            <a:pPr marL="285750" indent="-285750">
              <a:buFontTx/>
              <a:buChar char="-"/>
            </a:pPr>
            <a:r>
              <a:rPr lang="en-US" dirty="0"/>
              <a:t>LED is for? Participant feedback, experimenter feedback, speaker positions?</a:t>
            </a:r>
          </a:p>
          <a:p>
            <a:pPr marL="285750" indent="-285750">
              <a:buFontTx/>
              <a:buChar char="-"/>
            </a:pPr>
            <a:r>
              <a:rPr lang="en-US" dirty="0"/>
              <a:t>Cross-platform, right now python only.</a:t>
            </a:r>
          </a:p>
          <a:p>
            <a:pPr marL="285750" indent="-285750">
              <a:buFontTx/>
              <a:buChar char="-"/>
            </a:pPr>
            <a:r>
              <a:rPr lang="en-US" dirty="0"/>
              <a:t>send data. what data? via LSL?</a:t>
            </a:r>
          </a:p>
          <a:p>
            <a:pPr marL="285750" indent="-285750">
              <a:buFontTx/>
              <a:buChar char="-"/>
            </a:pPr>
            <a:r>
              <a:rPr lang="en-US" dirty="0"/>
              <a:t>Next phase?</a:t>
            </a:r>
          </a:p>
        </p:txBody>
      </p:sp>
    </p:spTree>
    <p:extLst>
      <p:ext uri="{BB962C8B-B14F-4D97-AF65-F5344CB8AC3E}">
        <p14:creationId xmlns:p14="http://schemas.microsoft.com/office/powerpoint/2010/main" val="35525444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1207</TotalTime>
  <Words>2113</Words>
  <Application>Microsoft Office PowerPoint</Application>
  <PresentationFormat>Widescreen</PresentationFormat>
  <Paragraphs>414</Paragraphs>
  <Slides>30</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Helvetica</vt:lpstr>
      <vt:lpstr>Office Theme</vt:lpstr>
      <vt:lpstr>PowerPoint Presentation</vt:lpstr>
      <vt:lpstr>PowerPoint Presentation</vt:lpstr>
      <vt:lpstr>Camera Calibration</vt:lpstr>
      <vt:lpstr>Camera Calibration</vt:lpstr>
      <vt:lpstr>Camera Calibration</vt:lpstr>
      <vt:lpstr>After Calibration</vt:lpstr>
      <vt:lpstr>extrinsic calibration</vt:lpstr>
      <vt:lpstr>Recalibration? Or every session?</vt:lpstr>
      <vt:lpstr>Calibration Steps</vt:lpstr>
      <vt:lpstr>Calibration Steps (Continued)</vt:lpstr>
      <vt:lpstr>Main.py</vt:lpstr>
      <vt:lpstr>Main.py</vt:lpstr>
      <vt:lpstr>Main.py</vt:lpstr>
      <vt:lpstr>Main.py</vt:lpstr>
      <vt:lpstr>Response azimuth</vt:lpstr>
      <vt:lpstr>Mediapipe</vt:lpstr>
      <vt:lpstr>pointTracker</vt:lpstr>
      <vt:lpstr>LED Response</vt:lpstr>
      <vt:lpstr>Workflow</vt:lpstr>
      <vt:lpstr> Bluetooth HID</vt:lpstr>
      <vt:lpstr>Wheel Mode</vt:lpstr>
      <vt:lpstr>Factory accelerometer calibration</vt:lpstr>
      <vt:lpstr>Angle wrapping</vt:lpstr>
      <vt:lpstr>Pointing Mode (experimental)</vt:lpstr>
      <vt:lpstr>calibration </vt:lpstr>
      <vt:lpstr>Gyro Integration</vt:lpstr>
      <vt:lpstr>Wheel vs. Pointing mode</vt:lpstr>
      <vt:lpstr>Mapping angles to the LED strip</vt:lpstr>
      <vt:lpstr>Issues so far?</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Jang, Won</dc:creator>
  <cp:lastModifiedBy>Won Jang</cp:lastModifiedBy>
  <cp:revision>6</cp:revision>
  <dcterms:created xsi:type="dcterms:W3CDTF">2026-09-16T18:06:47Z</dcterms:created>
  <dcterms:modified xsi:type="dcterms:W3CDTF">2026-09-17T15:48:40Z</dcterms:modified>
</cp:coreProperties>
</file>