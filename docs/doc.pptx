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77"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232"/>
  </p:normalViewPr>
  <p:slideViewPr>
    <p:cSldViewPr snapToGrid="0">
      <p:cViewPr varScale="1">
        <p:scale>
          <a:sx n="105" d="100"/>
          <a:sy n="105" d="100"/>
        </p:scale>
        <p:origin x="10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77BCF-4664-F249-B601-020BB9DD71F4}"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216D2-D6F4-114F-8434-85056A76A144}" type="slidenum">
              <a:rPr lang="en-US" smtClean="0"/>
              <a:t>‹#›</a:t>
            </a:fld>
            <a:endParaRPr lang="en-US"/>
          </a:p>
        </p:txBody>
      </p:sp>
    </p:spTree>
    <p:extLst>
      <p:ext uri="{BB962C8B-B14F-4D97-AF65-F5344CB8AC3E}">
        <p14:creationId xmlns:p14="http://schemas.microsoft.com/office/powerpoint/2010/main" val="1053156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calibrate each webcam once at the intended operating resolution. That calibration estimates the lens and camera projection characteristics. During tracking, we combine that calibration with the known physical marker size and detected marker corners to estimate 3D head pose.</a:t>
            </a:r>
          </a:p>
        </p:txBody>
      </p:sp>
      <p:sp>
        <p:nvSpPr>
          <p:cNvPr id="4" name="Slide Number Placeholder 3"/>
          <p:cNvSpPr>
            <a:spLocks noGrp="1"/>
          </p:cNvSpPr>
          <p:nvPr>
            <p:ph type="sldNum" sz="quarter" idx="5"/>
          </p:nvPr>
        </p:nvSpPr>
        <p:spPr/>
        <p:txBody>
          <a:bodyPr/>
          <a:lstStyle/>
          <a:p>
            <a:fld id="{6B1216D2-D6F4-114F-8434-85056A76A144}" type="slidenum">
              <a:rPr lang="en-US" smtClean="0"/>
              <a:t>3</a:t>
            </a:fld>
            <a:endParaRPr lang="en-US"/>
          </a:p>
        </p:txBody>
      </p:sp>
    </p:spTree>
    <p:extLst>
      <p:ext uri="{BB962C8B-B14F-4D97-AF65-F5344CB8AC3E}">
        <p14:creationId xmlns:p14="http://schemas.microsoft.com/office/powerpoint/2010/main" val="2805489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MediaPipe</a:t>
            </a:r>
            <a:r>
              <a:rPr lang="en-US" dirty="0"/>
              <a:t> is currently a </a:t>
            </a:r>
            <a:r>
              <a:rPr lang="en-US" dirty="0" err="1"/>
              <a:t>markerless</a:t>
            </a:r>
            <a:r>
              <a:rPr lang="en-US" dirty="0"/>
              <a:t> proof-of-concept. It estimates head yaw from facial landmarks using an approximate camera model. Zero reference removes the forward-facing offset, but its angular accuracy has not yet been calibrated the same way as the </a:t>
            </a:r>
            <a:r>
              <a:rPr lang="en-US" dirty="0" err="1"/>
              <a:t>AprilTag</a:t>
            </a:r>
            <a:r>
              <a:rPr lang="en-US" dirty="0"/>
              <a:t>/</a:t>
            </a:r>
            <a:r>
              <a:rPr lang="en-US" dirty="0" err="1"/>
              <a:t>ArUco</a:t>
            </a:r>
            <a:r>
              <a:rPr lang="en-US" dirty="0"/>
              <a:t> 3D mode.”</a:t>
            </a:r>
          </a:p>
        </p:txBody>
      </p:sp>
      <p:sp>
        <p:nvSpPr>
          <p:cNvPr id="4" name="Slide Number Placeholder 3"/>
          <p:cNvSpPr>
            <a:spLocks noGrp="1"/>
          </p:cNvSpPr>
          <p:nvPr>
            <p:ph type="sldNum" sz="quarter" idx="5"/>
          </p:nvPr>
        </p:nvSpPr>
        <p:spPr/>
        <p:txBody>
          <a:bodyPr/>
          <a:lstStyle/>
          <a:p>
            <a:fld id="{6B1216D2-D6F4-114F-8434-85056A76A144}" type="slidenum">
              <a:rPr lang="en-US" smtClean="0"/>
              <a:t>16</a:t>
            </a:fld>
            <a:endParaRPr lang="en-US"/>
          </a:p>
        </p:txBody>
      </p:sp>
    </p:spTree>
    <p:extLst>
      <p:ext uri="{BB962C8B-B14F-4D97-AF65-F5344CB8AC3E}">
        <p14:creationId xmlns:p14="http://schemas.microsoft.com/office/powerpoint/2010/main" val="2356230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can we measure where the participant's head/response is pointing?”</a:t>
            </a:r>
          </a:p>
        </p:txBody>
      </p:sp>
      <p:sp>
        <p:nvSpPr>
          <p:cNvPr id="4" name="Slide Number Placeholder 3"/>
          <p:cNvSpPr>
            <a:spLocks noGrp="1"/>
          </p:cNvSpPr>
          <p:nvPr>
            <p:ph type="sldNum" sz="quarter" idx="5"/>
          </p:nvPr>
        </p:nvSpPr>
        <p:spPr/>
        <p:txBody>
          <a:bodyPr/>
          <a:lstStyle/>
          <a:p>
            <a:fld id="{6B1216D2-D6F4-114F-8434-85056A76A144}" type="slidenum">
              <a:rPr lang="en-US" smtClean="0"/>
              <a:t>19</a:t>
            </a:fld>
            <a:endParaRPr lang="en-US"/>
          </a:p>
        </p:txBody>
      </p:sp>
    </p:spTree>
    <p:extLst>
      <p:ext uri="{BB962C8B-B14F-4D97-AF65-F5344CB8AC3E}">
        <p14:creationId xmlns:p14="http://schemas.microsoft.com/office/powerpoint/2010/main" val="3207534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E8B8-086B-1075-756B-7CB5C16936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1BAEA1-C737-9122-1BF4-F8E85DBB23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35E96A-40A3-5916-FA52-B789C7F5D1A9}"/>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5" name="Footer Placeholder 4">
            <a:extLst>
              <a:ext uri="{FF2B5EF4-FFF2-40B4-BE49-F238E27FC236}">
                <a16:creationId xmlns:a16="http://schemas.microsoft.com/office/drawing/2014/main" id="{76A47947-73C7-5FC2-BFD3-C30281F9CD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054E8-8C6B-F39C-A151-404DFA3E140D}"/>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223078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6530-700A-07F1-4966-95F52519D8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81EE81-E0B9-61D9-64FC-E9B752CF81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08897C-50CD-C132-2262-584AAEE6C527}"/>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5" name="Footer Placeholder 4">
            <a:extLst>
              <a:ext uri="{FF2B5EF4-FFF2-40B4-BE49-F238E27FC236}">
                <a16:creationId xmlns:a16="http://schemas.microsoft.com/office/drawing/2014/main" id="{D49D0B79-0D12-0E58-C6E8-E82EA2AE0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92400-357C-3618-54A0-59ABD06B7189}"/>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1749712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F61C-0537-F716-4BA0-BDFFA1AA8C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137EE0-C3A4-9151-F0D7-3F8666DBB0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25DFD0-E40E-8EAB-2250-D66ABD278D7B}"/>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5" name="Footer Placeholder 4">
            <a:extLst>
              <a:ext uri="{FF2B5EF4-FFF2-40B4-BE49-F238E27FC236}">
                <a16:creationId xmlns:a16="http://schemas.microsoft.com/office/drawing/2014/main" id="{1CED5A97-3B64-9405-078B-5AEFA4A375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C25ABD-8954-3643-50D4-F810D12EB8EB}"/>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1910206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C8B1-47F6-C223-0437-62AB83E2A6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817F24-62F0-9CD9-2C7E-491E6A5BA1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2FEBD9-6863-836E-C0FD-5B3F1D3311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62634E-D4B7-377A-BF0B-199E710B93EB}"/>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6" name="Footer Placeholder 5">
            <a:extLst>
              <a:ext uri="{FF2B5EF4-FFF2-40B4-BE49-F238E27FC236}">
                <a16:creationId xmlns:a16="http://schemas.microsoft.com/office/drawing/2014/main" id="{72C999EE-D909-46FC-BFF9-863DF3CF93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E7AD1A-AD58-2BD3-C903-7A23E053E626}"/>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264112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6DD7-D11F-85E3-92B3-81BEC21259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F76F1A-BC29-A56E-5103-216FE6B99E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92106F-F746-CEDE-0121-16CA53D277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1C35A8-552A-8462-71F7-0AF170E66E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EA91F7-A02C-EFB5-D91E-4C3E46DE3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0FF884-C4AA-CABD-BDC2-52768603B8A5}"/>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8" name="Footer Placeholder 7">
            <a:extLst>
              <a:ext uri="{FF2B5EF4-FFF2-40B4-BE49-F238E27FC236}">
                <a16:creationId xmlns:a16="http://schemas.microsoft.com/office/drawing/2014/main" id="{4760C4B5-87D2-0A49-AE35-A4C60CC425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C323B0-9EB4-0740-8BE2-E2A95E3058AB}"/>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2910010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53E4E-0B2C-9A09-6685-5044015EC7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5E6141-17BD-099C-0BC6-9EB9550C10D3}"/>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4" name="Footer Placeholder 3">
            <a:extLst>
              <a:ext uri="{FF2B5EF4-FFF2-40B4-BE49-F238E27FC236}">
                <a16:creationId xmlns:a16="http://schemas.microsoft.com/office/drawing/2014/main" id="{7C3AB18A-0703-DE71-2327-01BFFA8B6A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E42F7E-566C-AB57-8F52-020441AD1768}"/>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418651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31634D-F30C-7D70-F7C8-9284A35668B0}"/>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3" name="Footer Placeholder 2">
            <a:extLst>
              <a:ext uri="{FF2B5EF4-FFF2-40B4-BE49-F238E27FC236}">
                <a16:creationId xmlns:a16="http://schemas.microsoft.com/office/drawing/2014/main" id="{7FB8C0FD-21EE-F856-824F-E80E806A98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5175A1-99F2-5F29-5248-D2AF4290DF17}"/>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3523138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278EB-63E6-ED0A-230F-E580D456E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3BC4B0-18AA-DC26-0D2D-8BF249F652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D3B8C9-3D50-B2F4-5B3A-E4F8604BA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7155B9-CC5E-0D45-04E3-37568C8A0DA8}"/>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6" name="Footer Placeholder 5">
            <a:extLst>
              <a:ext uri="{FF2B5EF4-FFF2-40B4-BE49-F238E27FC236}">
                <a16:creationId xmlns:a16="http://schemas.microsoft.com/office/drawing/2014/main" id="{C2D00DB2-33DD-5266-C94A-60CC076B5F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DCBFDC-2EEA-6C20-F3C8-91E7DD75FFC7}"/>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2992836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BB80-F92E-48FD-B56C-96B370E4C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CB7EF8-B482-0CD7-270F-F08AE811DE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B18191-7058-7B01-C21B-06AEFE143D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CA8ADA-E3E2-D76E-A503-A0EADEF2C4D8}"/>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6" name="Footer Placeholder 5">
            <a:extLst>
              <a:ext uri="{FF2B5EF4-FFF2-40B4-BE49-F238E27FC236}">
                <a16:creationId xmlns:a16="http://schemas.microsoft.com/office/drawing/2014/main" id="{15AD14C6-406C-A150-7547-CDB3F2ADA1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256C21-880C-24C9-5C9D-F857E6ECA770}"/>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3537802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275B-945E-4F19-DE1A-A658D0C89B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C74387-D527-4FFC-D3D8-FCEA09A1DF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52FA60-8782-9404-EC09-E71AB2E46DBA}"/>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5" name="Footer Placeholder 4">
            <a:extLst>
              <a:ext uri="{FF2B5EF4-FFF2-40B4-BE49-F238E27FC236}">
                <a16:creationId xmlns:a16="http://schemas.microsoft.com/office/drawing/2014/main" id="{1CB1987E-9F05-EAFA-F831-04A3C98008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E38657-D28E-C39B-BCCB-94745C293112}"/>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2401604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BD8B26-8988-5DFC-7F10-F46B75ACE2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021BBE-D48C-1157-55F4-73B135185E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0D3403-723C-0F5F-0BEC-3B590D0467BF}"/>
              </a:ext>
            </a:extLst>
          </p:cNvPr>
          <p:cNvSpPr>
            <a:spLocks noGrp="1"/>
          </p:cNvSpPr>
          <p:nvPr>
            <p:ph type="dt" sz="half" idx="10"/>
          </p:nvPr>
        </p:nvSpPr>
        <p:spPr/>
        <p:txBody>
          <a:bodyPr/>
          <a:lstStyle/>
          <a:p>
            <a:fld id="{C201A91A-3286-664F-B181-3F299156E507}" type="datetimeFigureOut">
              <a:rPr lang="en-US" smtClean="0"/>
              <a:t>9/16/26</a:t>
            </a:fld>
            <a:endParaRPr lang="en-US"/>
          </a:p>
        </p:txBody>
      </p:sp>
      <p:sp>
        <p:nvSpPr>
          <p:cNvPr id="5" name="Footer Placeholder 4">
            <a:extLst>
              <a:ext uri="{FF2B5EF4-FFF2-40B4-BE49-F238E27FC236}">
                <a16:creationId xmlns:a16="http://schemas.microsoft.com/office/drawing/2014/main" id="{6D24AEAD-BF53-87D5-63FD-D6C55CFC4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C32DF-FBE9-A520-8AC3-7D4AFCA80808}"/>
              </a:ext>
            </a:extLst>
          </p:cNvPr>
          <p:cNvSpPr>
            <a:spLocks noGrp="1"/>
          </p:cNvSpPr>
          <p:nvPr>
            <p:ph type="sldNum" sz="quarter" idx="12"/>
          </p:nvPr>
        </p:nvSpPr>
        <p:spPr/>
        <p:txBody>
          <a:bodyPr/>
          <a:lstStyle/>
          <a:p>
            <a:fld id="{77BEBD50-BC7A-DC4A-A628-929E83651B68}" type="slidenum">
              <a:rPr lang="en-US" smtClean="0"/>
              <a:t>‹#›</a:t>
            </a:fld>
            <a:endParaRPr lang="en-US"/>
          </a:p>
        </p:txBody>
      </p:sp>
    </p:spTree>
    <p:extLst>
      <p:ext uri="{BB962C8B-B14F-4D97-AF65-F5344CB8AC3E}">
        <p14:creationId xmlns:p14="http://schemas.microsoft.com/office/powerpoint/2010/main" val="268131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47A23-FE88-FF41-4F5E-9FA585F019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35F59F-13F1-3D2F-9457-E197C48EE0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64F0E-AC31-51E7-AA71-FC370E39F6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01A91A-3286-664F-B181-3F299156E507}" type="datetimeFigureOut">
              <a:rPr lang="en-US" smtClean="0"/>
              <a:t>9/16/26</a:t>
            </a:fld>
            <a:endParaRPr lang="en-US"/>
          </a:p>
        </p:txBody>
      </p:sp>
      <p:sp>
        <p:nvSpPr>
          <p:cNvPr id="5" name="Footer Placeholder 4">
            <a:extLst>
              <a:ext uri="{FF2B5EF4-FFF2-40B4-BE49-F238E27FC236}">
                <a16:creationId xmlns:a16="http://schemas.microsoft.com/office/drawing/2014/main" id="{C8E42A33-180C-9493-3269-C998F2730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ACA4F2-E0D5-E457-D8AB-0CC721C24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BEBD50-BC7A-DC4A-A628-929E83651B68}" type="slidenum">
              <a:rPr lang="en-US" smtClean="0"/>
              <a:t>‹#›</a:t>
            </a:fld>
            <a:endParaRPr lang="en-US"/>
          </a:p>
        </p:txBody>
      </p:sp>
    </p:spTree>
    <p:extLst>
      <p:ext uri="{BB962C8B-B14F-4D97-AF65-F5344CB8AC3E}">
        <p14:creationId xmlns:p14="http://schemas.microsoft.com/office/powerpoint/2010/main" val="1048132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ocs.opencv.org/3.4.20/df/d4a/tutorial_charuco_detection.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opentrack/opentrack/tree/master/tracker-pt" TargetMode="External"/><Relationship Id="rId2" Type="http://schemas.openxmlformats.org/officeDocument/2006/relationships/hyperlink" Target="https://github.com/opentrack/opentrack"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DC55-CA29-9EB9-4D5A-F39760F6F59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4F56C11-9B2C-A165-0C7A-0F06E1AF1B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36744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9FE2-47A1-3372-F7E1-1652B7730906}"/>
              </a:ext>
            </a:extLst>
          </p:cNvPr>
          <p:cNvSpPr>
            <a:spLocks noGrp="1"/>
          </p:cNvSpPr>
          <p:nvPr>
            <p:ph type="title"/>
          </p:nvPr>
        </p:nvSpPr>
        <p:spPr>
          <a:xfrm>
            <a:off x="0" y="18255"/>
            <a:ext cx="12192000" cy="587801"/>
          </a:xfrm>
        </p:spPr>
        <p:txBody>
          <a:bodyPr>
            <a:normAutofit fontScale="90000"/>
          </a:bodyPr>
          <a:lstStyle/>
          <a:p>
            <a:endParaRPr lang="en-US"/>
          </a:p>
        </p:txBody>
      </p:sp>
      <p:sp>
        <p:nvSpPr>
          <p:cNvPr id="5" name="TextBox 4">
            <a:extLst>
              <a:ext uri="{FF2B5EF4-FFF2-40B4-BE49-F238E27FC236}">
                <a16:creationId xmlns:a16="http://schemas.microsoft.com/office/drawing/2014/main" id="{13C5081F-647D-9BF6-A015-FC1F57D042E4}"/>
              </a:ext>
            </a:extLst>
          </p:cNvPr>
          <p:cNvSpPr txBox="1"/>
          <p:nvPr/>
        </p:nvSpPr>
        <p:spPr>
          <a:xfrm>
            <a:off x="523653" y="1222491"/>
            <a:ext cx="2740542" cy="2031325"/>
          </a:xfrm>
          <a:prstGeom prst="rect">
            <a:avLst/>
          </a:prstGeom>
          <a:noFill/>
        </p:spPr>
        <p:txBody>
          <a:bodyPr wrap="square">
            <a:spAutoFit/>
          </a:bodyPr>
          <a:lstStyle/>
          <a:p>
            <a:r>
              <a:rPr lang="en-US" dirty="0"/>
              <a:t>4 detected image corners</a:t>
            </a:r>
          </a:p>
          <a:p>
            <a:r>
              <a:rPr lang="en-US" dirty="0"/>
              <a:t>        +</a:t>
            </a:r>
          </a:p>
          <a:p>
            <a:r>
              <a:rPr lang="en-US" dirty="0"/>
              <a:t>known tag size</a:t>
            </a:r>
          </a:p>
          <a:p>
            <a:r>
              <a:rPr lang="en-US" dirty="0"/>
              <a:t>        +</a:t>
            </a:r>
          </a:p>
          <a:p>
            <a:r>
              <a:rPr lang="en-US" dirty="0"/>
              <a:t>camera calibration</a:t>
            </a:r>
          </a:p>
          <a:p>
            <a:r>
              <a:rPr lang="en-US" dirty="0"/>
              <a:t>        ↓</a:t>
            </a:r>
          </a:p>
          <a:p>
            <a:r>
              <a:rPr lang="en-US" dirty="0"/>
              <a:t>3D pose</a:t>
            </a:r>
          </a:p>
        </p:txBody>
      </p:sp>
    </p:spTree>
    <p:extLst>
      <p:ext uri="{BB962C8B-B14F-4D97-AF65-F5344CB8AC3E}">
        <p14:creationId xmlns:p14="http://schemas.microsoft.com/office/powerpoint/2010/main" val="131328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8150-4C32-78A7-268A-9DC50F52F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20ABA-9C63-65FF-0723-11FDE6A8C885}"/>
              </a:ext>
            </a:extLst>
          </p:cNvPr>
          <p:cNvSpPr>
            <a:spLocks noGrp="1"/>
          </p:cNvSpPr>
          <p:nvPr>
            <p:ph type="title"/>
          </p:nvPr>
        </p:nvSpPr>
        <p:spPr>
          <a:xfrm>
            <a:off x="0" y="18255"/>
            <a:ext cx="12192000" cy="587801"/>
          </a:xfrm>
        </p:spPr>
        <p:txBody>
          <a:bodyPr>
            <a:normAutofit fontScale="90000"/>
          </a:bodyPr>
          <a:lstStyle/>
          <a:p>
            <a:r>
              <a:rPr lang="en-US" dirty="0"/>
              <a:t>Camera Calibration</a:t>
            </a:r>
          </a:p>
        </p:txBody>
      </p:sp>
      <p:sp>
        <p:nvSpPr>
          <p:cNvPr id="5" name="TextBox 4">
            <a:extLst>
              <a:ext uri="{FF2B5EF4-FFF2-40B4-BE49-F238E27FC236}">
                <a16:creationId xmlns:a16="http://schemas.microsoft.com/office/drawing/2014/main" id="{75E30AD2-B224-EBB7-1C49-8A90029B7AD6}"/>
              </a:ext>
            </a:extLst>
          </p:cNvPr>
          <p:cNvSpPr txBox="1"/>
          <p:nvPr/>
        </p:nvSpPr>
        <p:spPr>
          <a:xfrm>
            <a:off x="523653" y="1222491"/>
            <a:ext cx="11193426" cy="372393"/>
          </a:xfrm>
          <a:prstGeom prst="rect">
            <a:avLst/>
          </a:prstGeom>
          <a:noFill/>
        </p:spPr>
        <p:txBody>
          <a:bodyPr wrap="square">
            <a:spAutoFit/>
          </a:bodyPr>
          <a:lstStyle/>
          <a:p>
            <a:r>
              <a:rPr lang="en-US" dirty="0"/>
              <a:t>Camera calibration teaches the program how your specific webcam turns real 3D rays into distorted 2D pixels.</a:t>
            </a:r>
          </a:p>
        </p:txBody>
      </p:sp>
      <p:sp>
        <p:nvSpPr>
          <p:cNvPr id="11" name="TextBox 10">
            <a:extLst>
              <a:ext uri="{FF2B5EF4-FFF2-40B4-BE49-F238E27FC236}">
                <a16:creationId xmlns:a16="http://schemas.microsoft.com/office/drawing/2014/main" id="{B3DAB173-181A-A346-EB0A-4146036769BA}"/>
              </a:ext>
            </a:extLst>
          </p:cNvPr>
          <p:cNvSpPr txBox="1"/>
          <p:nvPr/>
        </p:nvSpPr>
        <p:spPr>
          <a:xfrm>
            <a:off x="3213247" y="2317645"/>
            <a:ext cx="5765506" cy="3693319"/>
          </a:xfrm>
          <a:prstGeom prst="rect">
            <a:avLst/>
          </a:prstGeom>
          <a:noFill/>
        </p:spPr>
        <p:txBody>
          <a:bodyPr wrap="square">
            <a:spAutoFit/>
          </a:bodyPr>
          <a:lstStyle/>
          <a:p>
            <a:pPr algn="ctr"/>
            <a:r>
              <a:rPr lang="en-US" dirty="0"/>
              <a:t>Print calibration board</a:t>
            </a:r>
          </a:p>
          <a:p>
            <a:pPr algn="ctr"/>
            <a:r>
              <a:rPr lang="en-US" dirty="0"/>
              <a:t>        ↓</a:t>
            </a:r>
          </a:p>
          <a:p>
            <a:pPr algn="ctr"/>
            <a:r>
              <a:rPr lang="en-US" dirty="0"/>
              <a:t>Show board to webcam at many positions/angles</a:t>
            </a:r>
          </a:p>
          <a:p>
            <a:pPr algn="ctr"/>
            <a:r>
              <a:rPr lang="en-US" dirty="0"/>
              <a:t>        ↓</a:t>
            </a:r>
          </a:p>
          <a:p>
            <a:pPr algn="ctr"/>
            <a:r>
              <a:rPr lang="en-US" dirty="0"/>
              <a:t>Detect known board geometry</a:t>
            </a:r>
          </a:p>
          <a:p>
            <a:pPr algn="ctr"/>
            <a:r>
              <a:rPr lang="en-US" dirty="0"/>
              <a:t>        ↓</a:t>
            </a:r>
          </a:p>
          <a:p>
            <a:pPr algn="ctr"/>
            <a:r>
              <a:rPr lang="en-US" dirty="0"/>
              <a:t>Compare known geometry vs observed image points</a:t>
            </a:r>
          </a:p>
          <a:p>
            <a:pPr algn="ctr"/>
            <a:r>
              <a:rPr lang="en-US" dirty="0"/>
              <a:t>        ↓</a:t>
            </a:r>
          </a:p>
          <a:p>
            <a:pPr algn="ctr"/>
            <a:r>
              <a:rPr lang="en-US" dirty="0"/>
              <a:t>Estimate camera parameters</a:t>
            </a:r>
          </a:p>
          <a:p>
            <a:pPr algn="ctr"/>
            <a:r>
              <a:rPr lang="en-US" dirty="0"/>
              <a:t>        ↓</a:t>
            </a:r>
          </a:p>
          <a:p>
            <a:pPr algn="ctr"/>
            <a:r>
              <a:rPr lang="en-US" dirty="0"/>
              <a:t>Save calibration file</a:t>
            </a:r>
          </a:p>
          <a:p>
            <a:pPr algn="ctr"/>
            <a:r>
              <a:rPr lang="en-US" dirty="0"/>
              <a:t>        ↓</a:t>
            </a:r>
          </a:p>
          <a:p>
            <a:pPr algn="ctr"/>
            <a:r>
              <a:rPr lang="en-US" dirty="0"/>
              <a:t>Use those parameters later for </a:t>
            </a:r>
            <a:r>
              <a:rPr lang="en-US" dirty="0" err="1"/>
              <a:t>AprilTag</a:t>
            </a:r>
            <a:r>
              <a:rPr lang="en-US" dirty="0"/>
              <a:t>/</a:t>
            </a:r>
            <a:r>
              <a:rPr lang="en-US" dirty="0" err="1"/>
              <a:t>ArUco</a:t>
            </a:r>
            <a:r>
              <a:rPr lang="en-US" dirty="0"/>
              <a:t> 3D pose</a:t>
            </a:r>
          </a:p>
        </p:txBody>
      </p:sp>
    </p:spTree>
    <p:extLst>
      <p:ext uri="{BB962C8B-B14F-4D97-AF65-F5344CB8AC3E}">
        <p14:creationId xmlns:p14="http://schemas.microsoft.com/office/powerpoint/2010/main" val="3774935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E9459-D9B6-6C6D-6B02-0DE5BA9DB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21748-4BED-86F3-3DB7-711099896717}"/>
              </a:ext>
            </a:extLst>
          </p:cNvPr>
          <p:cNvSpPr>
            <a:spLocks noGrp="1"/>
          </p:cNvSpPr>
          <p:nvPr>
            <p:ph type="title"/>
          </p:nvPr>
        </p:nvSpPr>
        <p:spPr>
          <a:xfrm>
            <a:off x="0" y="18255"/>
            <a:ext cx="12192000" cy="587801"/>
          </a:xfrm>
        </p:spPr>
        <p:txBody>
          <a:bodyPr>
            <a:normAutofit fontScale="90000"/>
          </a:bodyPr>
          <a:lstStyle/>
          <a:p>
            <a:r>
              <a:rPr lang="en-US" dirty="0"/>
              <a:t>Camera Calibration</a:t>
            </a:r>
          </a:p>
        </p:txBody>
      </p:sp>
      <p:sp>
        <p:nvSpPr>
          <p:cNvPr id="4" name="TextBox 3">
            <a:extLst>
              <a:ext uri="{FF2B5EF4-FFF2-40B4-BE49-F238E27FC236}">
                <a16:creationId xmlns:a16="http://schemas.microsoft.com/office/drawing/2014/main" id="{C3DA62D1-9E61-1A2D-BA8D-F8D42EEB6BFF}"/>
              </a:ext>
            </a:extLst>
          </p:cNvPr>
          <p:cNvSpPr txBox="1"/>
          <p:nvPr/>
        </p:nvSpPr>
        <p:spPr>
          <a:xfrm>
            <a:off x="2134043" y="1747675"/>
            <a:ext cx="7923914" cy="369332"/>
          </a:xfrm>
          <a:prstGeom prst="rect">
            <a:avLst/>
          </a:prstGeom>
          <a:noFill/>
        </p:spPr>
        <p:txBody>
          <a:bodyPr wrap="square">
            <a:spAutoFit/>
          </a:bodyPr>
          <a:lstStyle/>
          <a:p>
            <a:r>
              <a:rPr lang="en-US" dirty="0">
                <a:hlinkClick r:id="rId2"/>
              </a:rPr>
              <a:t>https://</a:t>
            </a:r>
            <a:r>
              <a:rPr lang="en-US" dirty="0" err="1">
                <a:hlinkClick r:id="rId2"/>
              </a:rPr>
              <a:t>docs.opencv.org</a:t>
            </a:r>
            <a:r>
              <a:rPr lang="en-US" dirty="0">
                <a:hlinkClick r:id="rId2"/>
              </a:rPr>
              <a:t>/3.4.20/</a:t>
            </a:r>
            <a:r>
              <a:rPr lang="en-US" dirty="0" err="1">
                <a:hlinkClick r:id="rId2"/>
              </a:rPr>
              <a:t>df</a:t>
            </a:r>
            <a:r>
              <a:rPr lang="en-US" dirty="0">
                <a:hlinkClick r:id="rId2"/>
              </a:rPr>
              <a:t>/d4a/</a:t>
            </a:r>
            <a:r>
              <a:rPr lang="en-US" dirty="0" err="1">
                <a:hlinkClick r:id="rId2"/>
              </a:rPr>
              <a:t>tutorial_charuco_detection.html</a:t>
            </a:r>
            <a:endParaRPr lang="en-US" dirty="0"/>
          </a:p>
        </p:txBody>
      </p:sp>
      <p:sp>
        <p:nvSpPr>
          <p:cNvPr id="7" name="TextBox 6">
            <a:extLst>
              <a:ext uri="{FF2B5EF4-FFF2-40B4-BE49-F238E27FC236}">
                <a16:creationId xmlns:a16="http://schemas.microsoft.com/office/drawing/2014/main" id="{88862C1A-963A-B313-A02C-EC6C225320CC}"/>
              </a:ext>
            </a:extLst>
          </p:cNvPr>
          <p:cNvSpPr txBox="1"/>
          <p:nvPr/>
        </p:nvSpPr>
        <p:spPr>
          <a:xfrm>
            <a:off x="808517" y="1206501"/>
            <a:ext cx="3713421" cy="910506"/>
          </a:xfrm>
          <a:prstGeom prst="rect">
            <a:avLst/>
          </a:prstGeom>
          <a:noFill/>
        </p:spPr>
        <p:txBody>
          <a:bodyPr wrap="square">
            <a:spAutoFit/>
          </a:bodyPr>
          <a:lstStyle/>
          <a:p>
            <a:pPr marL="19050" marR="19050" indent="0" algn="l">
              <a:lnSpc>
                <a:spcPct val="100000"/>
              </a:lnSpc>
              <a:spcBef>
                <a:spcPts val="750"/>
              </a:spcBef>
              <a:spcAft>
                <a:spcPts val="750"/>
              </a:spcAft>
              <a:buNone/>
            </a:pPr>
            <a:r>
              <a:rPr lang="en-US" sz="1800" b="1" dirty="0">
                <a:solidFill>
                  <a:schemeClr val="tx1"/>
                </a:solidFill>
                <a:effectLst/>
                <a:latin typeface="+mn-lt"/>
              </a:rPr>
              <a:t>Detection of </a:t>
            </a:r>
            <a:r>
              <a:rPr lang="en-US" sz="1800" b="1" dirty="0" err="1">
                <a:solidFill>
                  <a:schemeClr val="tx1"/>
                </a:solidFill>
                <a:effectLst/>
                <a:latin typeface="+mn-lt"/>
              </a:rPr>
              <a:t>ChArUco</a:t>
            </a:r>
            <a:r>
              <a:rPr lang="en-US" sz="1800" b="1" dirty="0">
                <a:solidFill>
                  <a:schemeClr val="tx1"/>
                </a:solidFill>
                <a:effectLst/>
                <a:latin typeface="+mn-lt"/>
              </a:rPr>
              <a:t> Boards</a:t>
            </a:r>
          </a:p>
          <a:p>
            <a:pPr indent="0" algn="l">
              <a:lnSpc>
                <a:spcPct val="100000"/>
              </a:lnSpc>
              <a:buNone/>
            </a:pPr>
            <a:br>
              <a:rPr lang="en-US" sz="1800" b="0" dirty="0">
                <a:solidFill>
                  <a:schemeClr val="tx1"/>
                </a:solidFill>
                <a:effectLst/>
                <a:latin typeface="+mn-lt"/>
              </a:rPr>
            </a:br>
            <a:endParaRPr lang="en-US" sz="1050" b="0" dirty="0">
              <a:solidFill>
                <a:srgbClr val="000000"/>
              </a:solidFill>
              <a:effectLst/>
              <a:latin typeface="Helvetica" pitchFamily="2" charset="0"/>
            </a:endParaRPr>
          </a:p>
        </p:txBody>
      </p:sp>
      <p:sp>
        <p:nvSpPr>
          <p:cNvPr id="9" name="TextBox 8">
            <a:extLst>
              <a:ext uri="{FF2B5EF4-FFF2-40B4-BE49-F238E27FC236}">
                <a16:creationId xmlns:a16="http://schemas.microsoft.com/office/drawing/2014/main" id="{41A7755E-5790-B303-B3EB-D16A417AC92D}"/>
              </a:ext>
            </a:extLst>
          </p:cNvPr>
          <p:cNvSpPr txBox="1"/>
          <p:nvPr/>
        </p:nvSpPr>
        <p:spPr>
          <a:xfrm>
            <a:off x="28353" y="6311256"/>
            <a:ext cx="11642209" cy="369332"/>
          </a:xfrm>
          <a:prstGeom prst="rect">
            <a:avLst/>
          </a:prstGeom>
          <a:noFill/>
        </p:spPr>
        <p:txBody>
          <a:bodyPr wrap="square">
            <a:spAutoFit/>
          </a:bodyPr>
          <a:lstStyle/>
          <a:p>
            <a:r>
              <a:rPr lang="en-US" dirty="0"/>
              <a:t>planned calibration utility uses a collection of roughly </a:t>
            </a:r>
            <a:r>
              <a:rPr lang="en-US" b="1" dirty="0"/>
              <a:t>15–25 useful views</a:t>
            </a:r>
            <a:r>
              <a:rPr lang="en-US" dirty="0"/>
              <a:t>, rather than 15 nearly identical snapshots.</a:t>
            </a:r>
          </a:p>
        </p:txBody>
      </p:sp>
      <p:sp>
        <p:nvSpPr>
          <p:cNvPr id="12" name="TextBox 11">
            <a:extLst>
              <a:ext uri="{FF2B5EF4-FFF2-40B4-BE49-F238E27FC236}">
                <a16:creationId xmlns:a16="http://schemas.microsoft.com/office/drawing/2014/main" id="{2AF38A36-628D-32F4-E478-D0D8617A9A0F}"/>
              </a:ext>
            </a:extLst>
          </p:cNvPr>
          <p:cNvSpPr txBox="1"/>
          <p:nvPr/>
        </p:nvSpPr>
        <p:spPr>
          <a:xfrm>
            <a:off x="808517" y="2473515"/>
            <a:ext cx="6204096" cy="369332"/>
          </a:xfrm>
          <a:prstGeom prst="rect">
            <a:avLst/>
          </a:prstGeom>
          <a:noFill/>
        </p:spPr>
        <p:txBody>
          <a:bodyPr wrap="square">
            <a:spAutoFit/>
          </a:bodyPr>
          <a:lstStyle/>
          <a:p>
            <a:r>
              <a:rPr lang="en-US" dirty="0"/>
              <a:t>A </a:t>
            </a:r>
            <a:r>
              <a:rPr lang="en-US" dirty="0" err="1"/>
              <a:t>ChArUco</a:t>
            </a:r>
            <a:r>
              <a:rPr lang="en-US" dirty="0"/>
              <a:t> board combines:</a:t>
            </a:r>
          </a:p>
        </p:txBody>
      </p:sp>
      <p:sp>
        <p:nvSpPr>
          <p:cNvPr id="14" name="TextBox 13">
            <a:extLst>
              <a:ext uri="{FF2B5EF4-FFF2-40B4-BE49-F238E27FC236}">
                <a16:creationId xmlns:a16="http://schemas.microsoft.com/office/drawing/2014/main" id="{EF1637AC-C2B3-5F64-7B83-5326653CE1AA}"/>
              </a:ext>
            </a:extLst>
          </p:cNvPr>
          <p:cNvSpPr txBox="1"/>
          <p:nvPr/>
        </p:nvSpPr>
        <p:spPr>
          <a:xfrm>
            <a:off x="2134043" y="2842847"/>
            <a:ext cx="6204096" cy="923330"/>
          </a:xfrm>
          <a:prstGeom prst="rect">
            <a:avLst/>
          </a:prstGeom>
          <a:noFill/>
        </p:spPr>
        <p:txBody>
          <a:bodyPr wrap="square">
            <a:spAutoFit/>
          </a:bodyPr>
          <a:lstStyle/>
          <a:p>
            <a:r>
              <a:rPr lang="en-US" dirty="0"/>
              <a:t>chessboard corners</a:t>
            </a:r>
          </a:p>
          <a:p>
            <a:r>
              <a:rPr lang="en-US" dirty="0"/>
              <a:t>+</a:t>
            </a:r>
          </a:p>
          <a:p>
            <a:r>
              <a:rPr lang="en-US" dirty="0" err="1"/>
              <a:t>ArUco</a:t>
            </a:r>
            <a:r>
              <a:rPr lang="en-US" dirty="0"/>
              <a:t> marker IDs</a:t>
            </a:r>
          </a:p>
        </p:txBody>
      </p:sp>
      <p:sp>
        <p:nvSpPr>
          <p:cNvPr id="16" name="TextBox 15">
            <a:extLst>
              <a:ext uri="{FF2B5EF4-FFF2-40B4-BE49-F238E27FC236}">
                <a16:creationId xmlns:a16="http://schemas.microsoft.com/office/drawing/2014/main" id="{245D421C-3902-5B91-F01C-CEF54E9CD99F}"/>
              </a:ext>
            </a:extLst>
          </p:cNvPr>
          <p:cNvSpPr txBox="1"/>
          <p:nvPr/>
        </p:nvSpPr>
        <p:spPr>
          <a:xfrm>
            <a:off x="808517" y="4174171"/>
            <a:ext cx="6204096" cy="1477328"/>
          </a:xfrm>
          <a:prstGeom prst="rect">
            <a:avLst/>
          </a:prstGeom>
          <a:noFill/>
        </p:spPr>
        <p:txBody>
          <a:bodyPr wrap="square">
            <a:spAutoFit/>
          </a:bodyPr>
          <a:lstStyle/>
          <a:p>
            <a:r>
              <a:rPr lang="en-US" dirty="0" err="1"/>
              <a:t>ChArUco</a:t>
            </a:r>
            <a:r>
              <a:rPr lang="en-US" dirty="0"/>
              <a:t> board</a:t>
            </a:r>
          </a:p>
          <a:p>
            <a:r>
              <a:rPr lang="en-US" dirty="0"/>
              <a:t>    → calibrates the CAMERA</a:t>
            </a:r>
          </a:p>
          <a:p>
            <a:endParaRPr lang="en-US" dirty="0"/>
          </a:p>
          <a:p>
            <a:r>
              <a:rPr lang="en-US" dirty="0" err="1"/>
              <a:t>AprilTag</a:t>
            </a:r>
            <a:r>
              <a:rPr lang="en-US" dirty="0"/>
              <a:t> / </a:t>
            </a:r>
            <a:r>
              <a:rPr lang="en-US" dirty="0" err="1"/>
              <a:t>ArUco</a:t>
            </a:r>
            <a:r>
              <a:rPr lang="en-US" dirty="0"/>
              <a:t> head marker</a:t>
            </a:r>
          </a:p>
          <a:p>
            <a:r>
              <a:rPr lang="en-US" dirty="0"/>
              <a:t>    → tracks the PARTICIPANT</a:t>
            </a:r>
          </a:p>
        </p:txBody>
      </p:sp>
      <p:sp>
        <p:nvSpPr>
          <p:cNvPr id="18" name="TextBox 17">
            <a:extLst>
              <a:ext uri="{FF2B5EF4-FFF2-40B4-BE49-F238E27FC236}">
                <a16:creationId xmlns:a16="http://schemas.microsoft.com/office/drawing/2014/main" id="{6C323221-9223-1916-68E1-F045A30BBE37}"/>
              </a:ext>
            </a:extLst>
          </p:cNvPr>
          <p:cNvSpPr txBox="1"/>
          <p:nvPr/>
        </p:nvSpPr>
        <p:spPr>
          <a:xfrm>
            <a:off x="7567794" y="2658181"/>
            <a:ext cx="4102768" cy="2308324"/>
          </a:xfrm>
          <a:prstGeom prst="rect">
            <a:avLst/>
          </a:prstGeom>
          <a:noFill/>
        </p:spPr>
        <p:txBody>
          <a:bodyPr wrap="square">
            <a:spAutoFit/>
          </a:bodyPr>
          <a:lstStyle/>
          <a:p>
            <a:r>
              <a:rPr lang="en-US" dirty="0" err="1"/>
              <a:t>ChArUco</a:t>
            </a:r>
            <a:r>
              <a:rPr lang="en-US" dirty="0"/>
              <a:t> board</a:t>
            </a:r>
          </a:p>
          <a:p>
            <a:r>
              <a:rPr lang="en-US" dirty="0"/>
              <a:t>      ↓</a:t>
            </a:r>
          </a:p>
          <a:p>
            <a:r>
              <a:rPr lang="en-US" dirty="0"/>
              <a:t>camera calibration</a:t>
            </a:r>
          </a:p>
          <a:p>
            <a:r>
              <a:rPr lang="en-US" dirty="0"/>
              <a:t>      ↓</a:t>
            </a:r>
          </a:p>
          <a:p>
            <a:r>
              <a:rPr lang="en-US" dirty="0" err="1"/>
              <a:t>camera_matrix</a:t>
            </a:r>
            <a:r>
              <a:rPr lang="en-US" dirty="0"/>
              <a:t> + </a:t>
            </a:r>
            <a:r>
              <a:rPr lang="en-US" dirty="0" err="1"/>
              <a:t>dist_coeffs</a:t>
            </a:r>
            <a:endParaRPr lang="en-US" dirty="0"/>
          </a:p>
          <a:p>
            <a:r>
              <a:rPr lang="en-US" dirty="0"/>
              <a:t>      ↓</a:t>
            </a:r>
          </a:p>
          <a:p>
            <a:r>
              <a:rPr lang="en-US" dirty="0"/>
              <a:t>      ├── </a:t>
            </a:r>
            <a:r>
              <a:rPr lang="en-US" dirty="0" err="1"/>
              <a:t>ArUco</a:t>
            </a:r>
            <a:r>
              <a:rPr lang="en-US" dirty="0"/>
              <a:t> 3D pose</a:t>
            </a:r>
          </a:p>
          <a:p>
            <a:r>
              <a:rPr lang="en-US" dirty="0"/>
              <a:t>      └── </a:t>
            </a:r>
            <a:r>
              <a:rPr lang="en-US" dirty="0" err="1"/>
              <a:t>AprilTag</a:t>
            </a:r>
            <a:r>
              <a:rPr lang="en-US" dirty="0"/>
              <a:t> 3D pose</a:t>
            </a:r>
          </a:p>
        </p:txBody>
      </p:sp>
    </p:spTree>
    <p:extLst>
      <p:ext uri="{BB962C8B-B14F-4D97-AF65-F5344CB8AC3E}">
        <p14:creationId xmlns:p14="http://schemas.microsoft.com/office/powerpoint/2010/main" val="1162103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0B835-3486-0C49-8B19-3AC595B00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CCE03-3269-4F68-77E9-F4A5E061B25A}"/>
              </a:ext>
            </a:extLst>
          </p:cNvPr>
          <p:cNvSpPr>
            <a:spLocks noGrp="1"/>
          </p:cNvSpPr>
          <p:nvPr>
            <p:ph type="title"/>
          </p:nvPr>
        </p:nvSpPr>
        <p:spPr>
          <a:xfrm>
            <a:off x="0" y="18255"/>
            <a:ext cx="12192000" cy="587801"/>
          </a:xfrm>
        </p:spPr>
        <p:txBody>
          <a:bodyPr>
            <a:normAutofit fontScale="90000"/>
          </a:bodyPr>
          <a:lstStyle/>
          <a:p>
            <a:r>
              <a:rPr lang="en-US" dirty="0"/>
              <a:t>Camera Calibration</a:t>
            </a:r>
          </a:p>
        </p:txBody>
      </p:sp>
      <p:sp>
        <p:nvSpPr>
          <p:cNvPr id="5" name="TextBox 4">
            <a:extLst>
              <a:ext uri="{FF2B5EF4-FFF2-40B4-BE49-F238E27FC236}">
                <a16:creationId xmlns:a16="http://schemas.microsoft.com/office/drawing/2014/main" id="{F8B8CC07-32CB-AFF6-9901-F0C72F5792F8}"/>
              </a:ext>
            </a:extLst>
          </p:cNvPr>
          <p:cNvSpPr txBox="1"/>
          <p:nvPr/>
        </p:nvSpPr>
        <p:spPr>
          <a:xfrm>
            <a:off x="1263316" y="1287069"/>
            <a:ext cx="3705726" cy="2585323"/>
          </a:xfrm>
          <a:prstGeom prst="rect">
            <a:avLst/>
          </a:prstGeom>
          <a:noFill/>
        </p:spPr>
        <p:txBody>
          <a:bodyPr wrap="square">
            <a:spAutoFit/>
          </a:bodyPr>
          <a:lstStyle/>
          <a:p>
            <a:r>
              <a:rPr lang="en-US" dirty="0" err="1"/>
              <a:t>ArUco</a:t>
            </a:r>
            <a:r>
              <a:rPr lang="en-US" dirty="0"/>
              <a:t> detector</a:t>
            </a:r>
          </a:p>
          <a:p>
            <a:r>
              <a:rPr lang="en-US" dirty="0"/>
              <a:t>   ↓</a:t>
            </a:r>
          </a:p>
          <a:p>
            <a:r>
              <a:rPr lang="en-US" dirty="0"/>
              <a:t>4 </a:t>
            </a:r>
            <a:r>
              <a:rPr lang="en-US" dirty="0" err="1"/>
              <a:t>ArUco</a:t>
            </a:r>
            <a:r>
              <a:rPr lang="en-US" dirty="0"/>
              <a:t> corners</a:t>
            </a:r>
          </a:p>
          <a:p>
            <a:r>
              <a:rPr lang="en-US" dirty="0"/>
              <a:t>   ↓</a:t>
            </a:r>
          </a:p>
          <a:p>
            <a:r>
              <a:rPr lang="en-US" dirty="0"/>
              <a:t>shared pose estimator</a:t>
            </a:r>
          </a:p>
          <a:p>
            <a:r>
              <a:rPr lang="en-US" dirty="0"/>
              <a:t>   ↓</a:t>
            </a:r>
          </a:p>
          <a:p>
            <a:r>
              <a:rPr lang="en-US" dirty="0"/>
              <a:t>use </a:t>
            </a:r>
            <a:r>
              <a:rPr lang="en-US" dirty="0" err="1"/>
              <a:t>camera_matrix</a:t>
            </a:r>
            <a:r>
              <a:rPr lang="en-US" dirty="0"/>
              <a:t> + </a:t>
            </a:r>
            <a:r>
              <a:rPr lang="en-US" dirty="0" err="1"/>
              <a:t>dist_coeffs</a:t>
            </a:r>
            <a:endParaRPr lang="en-US" dirty="0"/>
          </a:p>
          <a:p>
            <a:r>
              <a:rPr lang="en-US" dirty="0"/>
              <a:t>   ↓</a:t>
            </a:r>
          </a:p>
          <a:p>
            <a:r>
              <a:rPr lang="en-US" dirty="0"/>
              <a:t>x/y/z + yaw/pitch/roll</a:t>
            </a:r>
          </a:p>
        </p:txBody>
      </p:sp>
      <p:sp>
        <p:nvSpPr>
          <p:cNvPr id="8" name="TextBox 7">
            <a:extLst>
              <a:ext uri="{FF2B5EF4-FFF2-40B4-BE49-F238E27FC236}">
                <a16:creationId xmlns:a16="http://schemas.microsoft.com/office/drawing/2014/main" id="{BEAB942F-89E6-DDA1-5591-B987648D516A}"/>
              </a:ext>
            </a:extLst>
          </p:cNvPr>
          <p:cNvSpPr txBox="1"/>
          <p:nvPr/>
        </p:nvSpPr>
        <p:spPr>
          <a:xfrm>
            <a:off x="6821905" y="1287068"/>
            <a:ext cx="3549316" cy="2585323"/>
          </a:xfrm>
          <a:prstGeom prst="rect">
            <a:avLst/>
          </a:prstGeom>
          <a:noFill/>
        </p:spPr>
        <p:txBody>
          <a:bodyPr wrap="square">
            <a:spAutoFit/>
          </a:bodyPr>
          <a:lstStyle/>
          <a:p>
            <a:r>
              <a:rPr lang="en-US" dirty="0" err="1"/>
              <a:t>AprilTag</a:t>
            </a:r>
            <a:r>
              <a:rPr lang="en-US" dirty="0"/>
              <a:t> detector</a:t>
            </a:r>
          </a:p>
          <a:p>
            <a:r>
              <a:rPr lang="en-US" dirty="0"/>
              <a:t>   ↓</a:t>
            </a:r>
          </a:p>
          <a:p>
            <a:r>
              <a:rPr lang="en-US" dirty="0"/>
              <a:t>4 </a:t>
            </a:r>
            <a:r>
              <a:rPr lang="en-US" dirty="0" err="1"/>
              <a:t>AprilTag</a:t>
            </a:r>
            <a:r>
              <a:rPr lang="en-US" dirty="0"/>
              <a:t> corners</a:t>
            </a:r>
          </a:p>
          <a:p>
            <a:r>
              <a:rPr lang="en-US" dirty="0"/>
              <a:t>   ↓</a:t>
            </a:r>
          </a:p>
          <a:p>
            <a:r>
              <a:rPr lang="en-US" dirty="0"/>
              <a:t>shared pose estimator</a:t>
            </a:r>
          </a:p>
          <a:p>
            <a:r>
              <a:rPr lang="en-US" dirty="0"/>
              <a:t>   ↓</a:t>
            </a:r>
          </a:p>
          <a:p>
            <a:r>
              <a:rPr lang="en-US" dirty="0"/>
              <a:t>use </a:t>
            </a:r>
            <a:r>
              <a:rPr lang="en-US" dirty="0" err="1"/>
              <a:t>camera_matrix</a:t>
            </a:r>
            <a:r>
              <a:rPr lang="en-US" dirty="0"/>
              <a:t> + </a:t>
            </a:r>
            <a:r>
              <a:rPr lang="en-US" dirty="0" err="1"/>
              <a:t>dist_coeffs</a:t>
            </a:r>
            <a:endParaRPr lang="en-US" dirty="0"/>
          </a:p>
          <a:p>
            <a:r>
              <a:rPr lang="en-US" dirty="0"/>
              <a:t>   ↓</a:t>
            </a:r>
          </a:p>
          <a:p>
            <a:r>
              <a:rPr lang="en-US" dirty="0"/>
              <a:t>x/y/z + yaw/pitch/roll</a:t>
            </a:r>
          </a:p>
        </p:txBody>
      </p:sp>
      <p:sp>
        <p:nvSpPr>
          <p:cNvPr id="11" name="TextBox 10">
            <a:extLst>
              <a:ext uri="{FF2B5EF4-FFF2-40B4-BE49-F238E27FC236}">
                <a16:creationId xmlns:a16="http://schemas.microsoft.com/office/drawing/2014/main" id="{5315D142-3EA3-6220-D710-4C56E39446AF}"/>
              </a:ext>
            </a:extLst>
          </p:cNvPr>
          <p:cNvSpPr txBox="1"/>
          <p:nvPr/>
        </p:nvSpPr>
        <p:spPr>
          <a:xfrm>
            <a:off x="613611" y="716659"/>
            <a:ext cx="3308684" cy="369332"/>
          </a:xfrm>
          <a:prstGeom prst="rect">
            <a:avLst/>
          </a:prstGeom>
          <a:noFill/>
        </p:spPr>
        <p:txBody>
          <a:bodyPr wrap="square">
            <a:spAutoFit/>
          </a:bodyPr>
          <a:lstStyle/>
          <a:p>
            <a:r>
              <a:rPr lang="en-US" dirty="0"/>
              <a:t>For </a:t>
            </a:r>
            <a:r>
              <a:rPr lang="en-US" dirty="0" err="1"/>
              <a:t>ArUco</a:t>
            </a:r>
            <a:r>
              <a:rPr lang="en-US" dirty="0"/>
              <a:t>:</a:t>
            </a:r>
          </a:p>
        </p:txBody>
      </p:sp>
      <p:sp>
        <p:nvSpPr>
          <p:cNvPr id="15" name="TextBox 14">
            <a:extLst>
              <a:ext uri="{FF2B5EF4-FFF2-40B4-BE49-F238E27FC236}">
                <a16:creationId xmlns:a16="http://schemas.microsoft.com/office/drawing/2014/main" id="{84FB87E1-A51D-FF3E-7E66-FADFA726CC48}"/>
              </a:ext>
            </a:extLst>
          </p:cNvPr>
          <p:cNvSpPr txBox="1"/>
          <p:nvPr/>
        </p:nvSpPr>
        <p:spPr>
          <a:xfrm>
            <a:off x="5492416" y="716659"/>
            <a:ext cx="1546058" cy="369332"/>
          </a:xfrm>
          <a:prstGeom prst="rect">
            <a:avLst/>
          </a:prstGeom>
          <a:noFill/>
        </p:spPr>
        <p:txBody>
          <a:bodyPr wrap="square">
            <a:spAutoFit/>
          </a:bodyPr>
          <a:lstStyle/>
          <a:p>
            <a:r>
              <a:rPr lang="en-US" dirty="0"/>
              <a:t>For </a:t>
            </a:r>
            <a:r>
              <a:rPr lang="en-US" dirty="0" err="1"/>
              <a:t>AprilTag</a:t>
            </a:r>
            <a:r>
              <a:rPr lang="en-US" dirty="0"/>
              <a:t>:</a:t>
            </a:r>
          </a:p>
        </p:txBody>
      </p:sp>
      <p:sp>
        <p:nvSpPr>
          <p:cNvPr id="19" name="TextBox 18">
            <a:extLst>
              <a:ext uri="{FF2B5EF4-FFF2-40B4-BE49-F238E27FC236}">
                <a16:creationId xmlns:a16="http://schemas.microsoft.com/office/drawing/2014/main" id="{6D118CF7-B299-FFB9-9F08-D722108F6623}"/>
              </a:ext>
            </a:extLst>
          </p:cNvPr>
          <p:cNvSpPr txBox="1"/>
          <p:nvPr/>
        </p:nvSpPr>
        <p:spPr>
          <a:xfrm>
            <a:off x="493295" y="4555268"/>
            <a:ext cx="6208294" cy="2031325"/>
          </a:xfrm>
          <a:prstGeom prst="rect">
            <a:avLst/>
          </a:prstGeom>
          <a:noFill/>
        </p:spPr>
        <p:txBody>
          <a:bodyPr wrap="square">
            <a:spAutoFit/>
          </a:bodyPr>
          <a:lstStyle/>
          <a:p>
            <a:r>
              <a:rPr lang="en-US" dirty="0" err="1"/>
              <a:t>pose_estimator</a:t>
            </a:r>
            <a:r>
              <a:rPr lang="en-US" dirty="0"/>
              <a:t> = </a:t>
            </a:r>
            <a:r>
              <a:rPr lang="en-US" dirty="0" err="1"/>
              <a:t>PlanarMarkerPoseEstimator</a:t>
            </a:r>
            <a:r>
              <a:rPr lang="en-US" dirty="0"/>
              <a:t>(</a:t>
            </a:r>
          </a:p>
          <a:p>
            <a:r>
              <a:rPr lang="en-US" dirty="0"/>
              <a:t>    </a:t>
            </a:r>
            <a:r>
              <a:rPr lang="en-US" dirty="0" err="1"/>
              <a:t>camera_matrix</a:t>
            </a:r>
            <a:r>
              <a:rPr lang="en-US" dirty="0"/>
              <a:t>=</a:t>
            </a:r>
            <a:r>
              <a:rPr lang="en-US" dirty="0" err="1"/>
              <a:t>calibration.camera_matrix</a:t>
            </a:r>
            <a:r>
              <a:rPr lang="en-US" dirty="0"/>
              <a:t>,</a:t>
            </a:r>
          </a:p>
          <a:p>
            <a:r>
              <a:rPr lang="en-US" dirty="0"/>
              <a:t>    </a:t>
            </a:r>
            <a:r>
              <a:rPr lang="en-US" dirty="0" err="1"/>
              <a:t>dist_coeffs</a:t>
            </a:r>
            <a:r>
              <a:rPr lang="en-US" dirty="0"/>
              <a:t>=</a:t>
            </a:r>
            <a:r>
              <a:rPr lang="en-US" dirty="0" err="1"/>
              <a:t>calibration.dist_coeffs</a:t>
            </a:r>
            <a:r>
              <a:rPr lang="en-US" dirty="0"/>
              <a:t>,</a:t>
            </a:r>
          </a:p>
          <a:p>
            <a:r>
              <a:rPr lang="en-US" dirty="0"/>
              <a:t>    </a:t>
            </a:r>
            <a:r>
              <a:rPr lang="en-US" dirty="0" err="1"/>
              <a:t>marker_size_mm</a:t>
            </a:r>
            <a:r>
              <a:rPr lang="en-US" dirty="0"/>
              <a:t>=50.0,</a:t>
            </a:r>
          </a:p>
          <a:p>
            <a:r>
              <a:rPr lang="en-US" dirty="0"/>
              <a:t>)</a:t>
            </a:r>
          </a:p>
          <a:p>
            <a:endParaRPr lang="en-US" dirty="0"/>
          </a:p>
          <a:p>
            <a:r>
              <a:rPr lang="en-US" dirty="0"/>
              <a:t>pose = </a:t>
            </a:r>
            <a:r>
              <a:rPr lang="en-US" dirty="0" err="1"/>
              <a:t>pose_estimator.estimate</a:t>
            </a:r>
            <a:r>
              <a:rPr lang="en-US" dirty="0"/>
              <a:t>(corners)</a:t>
            </a:r>
          </a:p>
        </p:txBody>
      </p:sp>
      <p:sp>
        <p:nvSpPr>
          <p:cNvPr id="21" name="TextBox 20">
            <a:extLst>
              <a:ext uri="{FF2B5EF4-FFF2-40B4-BE49-F238E27FC236}">
                <a16:creationId xmlns:a16="http://schemas.microsoft.com/office/drawing/2014/main" id="{2E5C9196-6DF3-329A-2681-93790D975200}"/>
              </a:ext>
            </a:extLst>
          </p:cNvPr>
          <p:cNvSpPr txBox="1"/>
          <p:nvPr/>
        </p:nvSpPr>
        <p:spPr>
          <a:xfrm>
            <a:off x="6265445" y="4368737"/>
            <a:ext cx="2613860" cy="369332"/>
          </a:xfrm>
          <a:prstGeom prst="rect">
            <a:avLst/>
          </a:prstGeom>
          <a:noFill/>
        </p:spPr>
        <p:txBody>
          <a:bodyPr wrap="square">
            <a:spAutoFit/>
          </a:bodyPr>
          <a:lstStyle/>
          <a:p>
            <a:r>
              <a:rPr lang="en-US" dirty="0"/>
              <a:t>Then </a:t>
            </a:r>
            <a:r>
              <a:rPr lang="en-US" dirty="0">
                <a:latin typeface="+mn-lt"/>
              </a:rPr>
              <a:t>pose</a:t>
            </a:r>
            <a:r>
              <a:rPr lang="en-US" dirty="0"/>
              <a:t> can contain:</a:t>
            </a:r>
          </a:p>
        </p:txBody>
      </p:sp>
      <p:sp>
        <p:nvSpPr>
          <p:cNvPr id="23" name="TextBox 22">
            <a:extLst>
              <a:ext uri="{FF2B5EF4-FFF2-40B4-BE49-F238E27FC236}">
                <a16:creationId xmlns:a16="http://schemas.microsoft.com/office/drawing/2014/main" id="{FAEB4552-9AD7-456E-373A-48A87DC8AFD2}"/>
              </a:ext>
            </a:extLst>
          </p:cNvPr>
          <p:cNvSpPr txBox="1"/>
          <p:nvPr/>
        </p:nvSpPr>
        <p:spPr>
          <a:xfrm>
            <a:off x="8879305" y="4553403"/>
            <a:ext cx="1961147" cy="1754326"/>
          </a:xfrm>
          <a:prstGeom prst="rect">
            <a:avLst/>
          </a:prstGeom>
          <a:noFill/>
        </p:spPr>
        <p:txBody>
          <a:bodyPr wrap="square">
            <a:spAutoFit/>
          </a:bodyPr>
          <a:lstStyle/>
          <a:p>
            <a:r>
              <a:rPr lang="en-US" dirty="0" err="1"/>
              <a:t>x_mm</a:t>
            </a:r>
            <a:endParaRPr lang="en-US" dirty="0"/>
          </a:p>
          <a:p>
            <a:r>
              <a:rPr lang="en-US" dirty="0" err="1"/>
              <a:t>y_mm</a:t>
            </a:r>
            <a:endParaRPr lang="en-US" dirty="0"/>
          </a:p>
          <a:p>
            <a:r>
              <a:rPr lang="en-US" dirty="0" err="1"/>
              <a:t>z_mm</a:t>
            </a:r>
            <a:endParaRPr lang="en-US" dirty="0"/>
          </a:p>
          <a:p>
            <a:r>
              <a:rPr lang="en-US" dirty="0" err="1"/>
              <a:t>yaw_deg</a:t>
            </a:r>
            <a:endParaRPr lang="en-US" dirty="0"/>
          </a:p>
          <a:p>
            <a:r>
              <a:rPr lang="en-US" dirty="0" err="1"/>
              <a:t>pitch_deg</a:t>
            </a:r>
            <a:endParaRPr lang="en-US" dirty="0"/>
          </a:p>
          <a:p>
            <a:r>
              <a:rPr lang="en-US" dirty="0" err="1"/>
              <a:t>roll_deg</a:t>
            </a:r>
            <a:endParaRPr lang="en-US" dirty="0"/>
          </a:p>
        </p:txBody>
      </p:sp>
    </p:spTree>
    <p:extLst>
      <p:ext uri="{BB962C8B-B14F-4D97-AF65-F5344CB8AC3E}">
        <p14:creationId xmlns:p14="http://schemas.microsoft.com/office/powerpoint/2010/main" val="1073333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3571A-8448-EDFE-AF46-1E6E2299F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13856-24EC-CFE0-DBB3-12D67863A1C2}"/>
              </a:ext>
            </a:extLst>
          </p:cNvPr>
          <p:cNvSpPr>
            <a:spLocks noGrp="1"/>
          </p:cNvSpPr>
          <p:nvPr>
            <p:ph type="title"/>
          </p:nvPr>
        </p:nvSpPr>
        <p:spPr>
          <a:xfrm>
            <a:off x="0" y="18255"/>
            <a:ext cx="12192000" cy="587801"/>
          </a:xfrm>
        </p:spPr>
        <p:txBody>
          <a:bodyPr>
            <a:normAutofit fontScale="90000"/>
          </a:bodyPr>
          <a:lstStyle/>
          <a:p>
            <a:r>
              <a:rPr lang="en-US" dirty="0"/>
              <a:t>After Calibration</a:t>
            </a:r>
          </a:p>
        </p:txBody>
      </p:sp>
      <p:sp>
        <p:nvSpPr>
          <p:cNvPr id="5" name="TextBox 4">
            <a:extLst>
              <a:ext uri="{FF2B5EF4-FFF2-40B4-BE49-F238E27FC236}">
                <a16:creationId xmlns:a16="http://schemas.microsoft.com/office/drawing/2014/main" id="{CC106DA2-0E79-988B-3487-869046F80128}"/>
              </a:ext>
            </a:extLst>
          </p:cNvPr>
          <p:cNvSpPr txBox="1"/>
          <p:nvPr/>
        </p:nvSpPr>
        <p:spPr>
          <a:xfrm>
            <a:off x="879845" y="873273"/>
            <a:ext cx="6204096" cy="369332"/>
          </a:xfrm>
          <a:prstGeom prst="rect">
            <a:avLst/>
          </a:prstGeom>
          <a:noFill/>
        </p:spPr>
        <p:txBody>
          <a:bodyPr wrap="square">
            <a:spAutoFit/>
          </a:bodyPr>
          <a:lstStyle/>
          <a:p>
            <a:r>
              <a:rPr lang="en-US" dirty="0"/>
              <a:t>Suppose you later detect a 50 mm </a:t>
            </a:r>
            <a:r>
              <a:rPr lang="en-US" dirty="0" err="1"/>
              <a:t>AprilTag</a:t>
            </a:r>
            <a:r>
              <a:rPr lang="en-US" dirty="0"/>
              <a:t>.</a:t>
            </a:r>
          </a:p>
        </p:txBody>
      </p:sp>
      <p:sp>
        <p:nvSpPr>
          <p:cNvPr id="8" name="TextBox 7">
            <a:extLst>
              <a:ext uri="{FF2B5EF4-FFF2-40B4-BE49-F238E27FC236}">
                <a16:creationId xmlns:a16="http://schemas.microsoft.com/office/drawing/2014/main" id="{D7758A45-CB51-58BF-9456-2CD6E528031F}"/>
              </a:ext>
            </a:extLst>
          </p:cNvPr>
          <p:cNvSpPr txBox="1"/>
          <p:nvPr/>
        </p:nvSpPr>
        <p:spPr>
          <a:xfrm>
            <a:off x="879845" y="1440710"/>
            <a:ext cx="6204096" cy="369332"/>
          </a:xfrm>
          <a:prstGeom prst="rect">
            <a:avLst/>
          </a:prstGeom>
          <a:noFill/>
        </p:spPr>
        <p:txBody>
          <a:bodyPr wrap="square">
            <a:spAutoFit/>
          </a:bodyPr>
          <a:lstStyle/>
          <a:p>
            <a:r>
              <a:rPr lang="en-US" dirty="0"/>
              <a:t>the four corners are physically:</a:t>
            </a:r>
          </a:p>
        </p:txBody>
      </p:sp>
      <p:sp>
        <p:nvSpPr>
          <p:cNvPr id="11" name="TextBox 10">
            <a:extLst>
              <a:ext uri="{FF2B5EF4-FFF2-40B4-BE49-F238E27FC236}">
                <a16:creationId xmlns:a16="http://schemas.microsoft.com/office/drawing/2014/main" id="{F0EB2DFA-95E1-5C0A-77E6-AC920EE3FFFB}"/>
              </a:ext>
            </a:extLst>
          </p:cNvPr>
          <p:cNvSpPr txBox="1"/>
          <p:nvPr/>
        </p:nvSpPr>
        <p:spPr>
          <a:xfrm>
            <a:off x="4122775" y="1440710"/>
            <a:ext cx="1757030" cy="1200329"/>
          </a:xfrm>
          <a:prstGeom prst="rect">
            <a:avLst/>
          </a:prstGeom>
          <a:noFill/>
        </p:spPr>
        <p:txBody>
          <a:bodyPr wrap="square">
            <a:spAutoFit/>
          </a:bodyPr>
          <a:lstStyle/>
          <a:p>
            <a:r>
              <a:rPr lang="en-US" dirty="0"/>
              <a:t>(-25, +25, 0)</a:t>
            </a:r>
          </a:p>
          <a:p>
            <a:r>
              <a:rPr lang="en-US" dirty="0"/>
              <a:t>(+25, +25, 0)</a:t>
            </a:r>
          </a:p>
          <a:p>
            <a:r>
              <a:rPr lang="en-US" dirty="0"/>
              <a:t>(+25, -25, 0)</a:t>
            </a:r>
          </a:p>
          <a:p>
            <a:r>
              <a:rPr lang="en-US" dirty="0"/>
              <a:t>(-25, -25, 0)</a:t>
            </a:r>
          </a:p>
        </p:txBody>
      </p:sp>
      <p:sp>
        <p:nvSpPr>
          <p:cNvPr id="15" name="TextBox 14">
            <a:extLst>
              <a:ext uri="{FF2B5EF4-FFF2-40B4-BE49-F238E27FC236}">
                <a16:creationId xmlns:a16="http://schemas.microsoft.com/office/drawing/2014/main" id="{8E93972C-F62F-2010-41E2-B30730BDA993}"/>
              </a:ext>
            </a:extLst>
          </p:cNvPr>
          <p:cNvSpPr txBox="1"/>
          <p:nvPr/>
        </p:nvSpPr>
        <p:spPr>
          <a:xfrm>
            <a:off x="879845" y="3059668"/>
            <a:ext cx="6204096" cy="369332"/>
          </a:xfrm>
          <a:prstGeom prst="rect">
            <a:avLst/>
          </a:prstGeom>
          <a:noFill/>
        </p:spPr>
        <p:txBody>
          <a:bodyPr wrap="square">
            <a:spAutoFit/>
          </a:bodyPr>
          <a:lstStyle/>
          <a:p>
            <a:r>
              <a:rPr lang="en-US" dirty="0"/>
              <a:t>webcam sees them at positions like:</a:t>
            </a:r>
          </a:p>
        </p:txBody>
      </p:sp>
      <p:sp>
        <p:nvSpPr>
          <p:cNvPr id="18" name="TextBox 17">
            <a:extLst>
              <a:ext uri="{FF2B5EF4-FFF2-40B4-BE49-F238E27FC236}">
                <a16:creationId xmlns:a16="http://schemas.microsoft.com/office/drawing/2014/main" id="{8918D49B-A60A-9308-4D58-4AC15CA5DCF1}"/>
              </a:ext>
            </a:extLst>
          </p:cNvPr>
          <p:cNvSpPr txBox="1"/>
          <p:nvPr/>
        </p:nvSpPr>
        <p:spPr>
          <a:xfrm>
            <a:off x="4739463" y="3059668"/>
            <a:ext cx="1356537" cy="1200329"/>
          </a:xfrm>
          <a:prstGeom prst="rect">
            <a:avLst/>
          </a:prstGeom>
          <a:noFill/>
        </p:spPr>
        <p:txBody>
          <a:bodyPr wrap="square">
            <a:spAutoFit/>
          </a:bodyPr>
          <a:lstStyle/>
          <a:p>
            <a:r>
              <a:rPr lang="en-US" dirty="0"/>
              <a:t>(535, 260)</a:t>
            </a:r>
          </a:p>
          <a:p>
            <a:r>
              <a:rPr lang="en-US" dirty="0"/>
              <a:t>(683, 271)</a:t>
            </a:r>
          </a:p>
          <a:p>
            <a:r>
              <a:rPr lang="en-US" dirty="0"/>
              <a:t>(671, 410)</a:t>
            </a:r>
          </a:p>
          <a:p>
            <a:r>
              <a:rPr lang="en-US" dirty="0"/>
              <a:t>(523, 397)</a:t>
            </a:r>
          </a:p>
        </p:txBody>
      </p:sp>
      <p:sp>
        <p:nvSpPr>
          <p:cNvPr id="20" name="TextBox 19">
            <a:extLst>
              <a:ext uri="{FF2B5EF4-FFF2-40B4-BE49-F238E27FC236}">
                <a16:creationId xmlns:a16="http://schemas.microsoft.com/office/drawing/2014/main" id="{590B9D58-BD4F-8E87-2DFC-6284FD2C7073}"/>
              </a:ext>
            </a:extLst>
          </p:cNvPr>
          <p:cNvSpPr txBox="1"/>
          <p:nvPr/>
        </p:nvSpPr>
        <p:spPr>
          <a:xfrm>
            <a:off x="879845" y="4678626"/>
            <a:ext cx="6204096" cy="369332"/>
          </a:xfrm>
          <a:prstGeom prst="rect">
            <a:avLst/>
          </a:prstGeom>
          <a:noFill/>
        </p:spPr>
        <p:txBody>
          <a:bodyPr wrap="square">
            <a:spAutoFit/>
          </a:bodyPr>
          <a:lstStyle/>
          <a:p>
            <a:r>
              <a:rPr lang="en-US" dirty="0"/>
              <a:t>OpenCV has three pieces of information:</a:t>
            </a:r>
          </a:p>
        </p:txBody>
      </p:sp>
      <p:sp>
        <p:nvSpPr>
          <p:cNvPr id="24" name="TextBox 23">
            <a:extLst>
              <a:ext uri="{FF2B5EF4-FFF2-40B4-BE49-F238E27FC236}">
                <a16:creationId xmlns:a16="http://schemas.microsoft.com/office/drawing/2014/main" id="{CEA1E686-F90A-2166-B82D-4C716A136C6A}"/>
              </a:ext>
            </a:extLst>
          </p:cNvPr>
          <p:cNvSpPr txBox="1"/>
          <p:nvPr/>
        </p:nvSpPr>
        <p:spPr>
          <a:xfrm>
            <a:off x="3981893" y="5125191"/>
            <a:ext cx="6204096" cy="1477328"/>
          </a:xfrm>
          <a:prstGeom prst="rect">
            <a:avLst/>
          </a:prstGeom>
          <a:noFill/>
        </p:spPr>
        <p:txBody>
          <a:bodyPr wrap="square">
            <a:spAutoFit/>
          </a:bodyPr>
          <a:lstStyle/>
          <a:p>
            <a:r>
              <a:rPr lang="en-US" dirty="0"/>
              <a:t>known physical tag geometry</a:t>
            </a:r>
          </a:p>
          <a:p>
            <a:r>
              <a:rPr lang="en-US" dirty="0"/>
              <a:t>+</a:t>
            </a:r>
          </a:p>
          <a:p>
            <a:r>
              <a:rPr lang="en-US" dirty="0"/>
              <a:t>measured image corner positions</a:t>
            </a:r>
          </a:p>
          <a:p>
            <a:r>
              <a:rPr lang="en-US" dirty="0"/>
              <a:t>+</a:t>
            </a:r>
          </a:p>
          <a:p>
            <a:r>
              <a:rPr lang="en-US" dirty="0"/>
              <a:t>calibrated camera model</a:t>
            </a:r>
          </a:p>
        </p:txBody>
      </p:sp>
      <p:sp>
        <p:nvSpPr>
          <p:cNvPr id="26" name="TextBox 25">
            <a:extLst>
              <a:ext uri="{FF2B5EF4-FFF2-40B4-BE49-F238E27FC236}">
                <a16:creationId xmlns:a16="http://schemas.microsoft.com/office/drawing/2014/main" id="{B6BA4117-8E4B-10A3-F61C-FA510678A71B}"/>
              </a:ext>
            </a:extLst>
          </p:cNvPr>
          <p:cNvSpPr txBox="1"/>
          <p:nvPr/>
        </p:nvSpPr>
        <p:spPr>
          <a:xfrm>
            <a:off x="8437821" y="3244334"/>
            <a:ext cx="1517797" cy="369332"/>
          </a:xfrm>
          <a:prstGeom prst="rect">
            <a:avLst/>
          </a:prstGeom>
          <a:noFill/>
        </p:spPr>
        <p:txBody>
          <a:bodyPr wrap="square">
            <a:spAutoFit/>
          </a:bodyPr>
          <a:lstStyle/>
          <a:p>
            <a:r>
              <a:rPr lang="en-US" dirty="0" err="1"/>
              <a:t>solvePnP</a:t>
            </a:r>
            <a:r>
              <a:rPr lang="en-US" dirty="0"/>
              <a:t>()</a:t>
            </a:r>
          </a:p>
        </p:txBody>
      </p:sp>
      <p:sp>
        <p:nvSpPr>
          <p:cNvPr id="28" name="TextBox 27">
            <a:extLst>
              <a:ext uri="{FF2B5EF4-FFF2-40B4-BE49-F238E27FC236}">
                <a16:creationId xmlns:a16="http://schemas.microsoft.com/office/drawing/2014/main" id="{1381F307-6A91-AE8C-C1A4-02470CA31762}"/>
              </a:ext>
            </a:extLst>
          </p:cNvPr>
          <p:cNvSpPr txBox="1"/>
          <p:nvPr/>
        </p:nvSpPr>
        <p:spPr>
          <a:xfrm>
            <a:off x="9704867" y="3570630"/>
            <a:ext cx="2692695" cy="2585323"/>
          </a:xfrm>
          <a:prstGeom prst="rect">
            <a:avLst/>
          </a:prstGeom>
          <a:noFill/>
        </p:spPr>
        <p:txBody>
          <a:bodyPr wrap="square">
            <a:spAutoFit/>
          </a:bodyPr>
          <a:lstStyle/>
          <a:p>
            <a:r>
              <a:rPr lang="en-US" dirty="0"/>
              <a:t>translation:</a:t>
            </a:r>
          </a:p>
          <a:p>
            <a:r>
              <a:rPr lang="en-US" dirty="0"/>
              <a:t>X = 30 mm</a:t>
            </a:r>
          </a:p>
          <a:p>
            <a:r>
              <a:rPr lang="en-US" dirty="0"/>
              <a:t>Y = -12 mm</a:t>
            </a:r>
          </a:p>
          <a:p>
            <a:r>
              <a:rPr lang="en-US" dirty="0"/>
              <a:t>Z = 725 mm</a:t>
            </a:r>
          </a:p>
          <a:p>
            <a:endParaRPr lang="en-US" dirty="0"/>
          </a:p>
          <a:p>
            <a:r>
              <a:rPr lang="en-US" dirty="0"/>
              <a:t>rotation:</a:t>
            </a:r>
          </a:p>
          <a:p>
            <a:r>
              <a:rPr lang="en-US" dirty="0"/>
              <a:t>yaw   = 38°</a:t>
            </a:r>
          </a:p>
          <a:p>
            <a:r>
              <a:rPr lang="en-US" dirty="0"/>
              <a:t>pitch = 7°</a:t>
            </a:r>
          </a:p>
          <a:p>
            <a:r>
              <a:rPr lang="en-US" dirty="0"/>
              <a:t>roll  = -3°</a:t>
            </a:r>
          </a:p>
        </p:txBody>
      </p:sp>
    </p:spTree>
    <p:extLst>
      <p:ext uri="{BB962C8B-B14F-4D97-AF65-F5344CB8AC3E}">
        <p14:creationId xmlns:p14="http://schemas.microsoft.com/office/powerpoint/2010/main" val="1751098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8C37A-9B56-5EFA-F31E-E9DDA87AD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B3A12-2DBA-33AA-B4AC-E0C93217D78C}"/>
              </a:ext>
            </a:extLst>
          </p:cNvPr>
          <p:cNvSpPr>
            <a:spLocks noGrp="1"/>
          </p:cNvSpPr>
          <p:nvPr>
            <p:ph type="title"/>
          </p:nvPr>
        </p:nvSpPr>
        <p:spPr>
          <a:xfrm>
            <a:off x="0" y="18255"/>
            <a:ext cx="12192000" cy="587801"/>
          </a:xfrm>
        </p:spPr>
        <p:txBody>
          <a:bodyPr>
            <a:normAutofit fontScale="90000"/>
          </a:bodyPr>
          <a:lstStyle/>
          <a:p>
            <a:r>
              <a:rPr lang="en-US" dirty="0"/>
              <a:t>extrinsic calibration</a:t>
            </a:r>
          </a:p>
        </p:txBody>
      </p:sp>
      <p:sp>
        <p:nvSpPr>
          <p:cNvPr id="4" name="TextBox 3">
            <a:extLst>
              <a:ext uri="{FF2B5EF4-FFF2-40B4-BE49-F238E27FC236}">
                <a16:creationId xmlns:a16="http://schemas.microsoft.com/office/drawing/2014/main" id="{7FD172A9-BD58-AD60-D9E9-2C1F6B155D95}"/>
              </a:ext>
            </a:extLst>
          </p:cNvPr>
          <p:cNvSpPr txBox="1"/>
          <p:nvPr/>
        </p:nvSpPr>
        <p:spPr>
          <a:xfrm>
            <a:off x="1878862" y="1000588"/>
            <a:ext cx="8434276" cy="369332"/>
          </a:xfrm>
          <a:prstGeom prst="rect">
            <a:avLst/>
          </a:prstGeom>
          <a:noFill/>
        </p:spPr>
        <p:txBody>
          <a:bodyPr wrap="square">
            <a:spAutoFit/>
          </a:bodyPr>
          <a:lstStyle/>
          <a:p>
            <a:r>
              <a:rPr lang="en-US" dirty="0"/>
              <a:t>“Where is this camera located and oriented relative to the room or speaker array?”</a:t>
            </a:r>
          </a:p>
        </p:txBody>
      </p:sp>
      <p:sp>
        <p:nvSpPr>
          <p:cNvPr id="7" name="TextBox 6">
            <a:extLst>
              <a:ext uri="{FF2B5EF4-FFF2-40B4-BE49-F238E27FC236}">
                <a16:creationId xmlns:a16="http://schemas.microsoft.com/office/drawing/2014/main" id="{CBF66764-8813-C2DF-C72E-233594457981}"/>
              </a:ext>
            </a:extLst>
          </p:cNvPr>
          <p:cNvSpPr txBox="1"/>
          <p:nvPr/>
        </p:nvSpPr>
        <p:spPr>
          <a:xfrm>
            <a:off x="3931389" y="1924240"/>
            <a:ext cx="6204096" cy="2031325"/>
          </a:xfrm>
          <a:prstGeom prst="rect">
            <a:avLst/>
          </a:prstGeom>
          <a:noFill/>
        </p:spPr>
        <p:txBody>
          <a:bodyPr wrap="square">
            <a:spAutoFit/>
          </a:bodyPr>
          <a:lstStyle/>
          <a:p>
            <a:r>
              <a:rPr lang="en-US" dirty="0"/>
              <a:t>Speaker-array coordinate system</a:t>
            </a:r>
          </a:p>
          <a:p>
            <a:r>
              <a:rPr lang="en-US" dirty="0"/>
              <a:t>        ↑</a:t>
            </a:r>
          </a:p>
          <a:p>
            <a:r>
              <a:rPr lang="en-US" dirty="0"/>
              <a:t>        |</a:t>
            </a:r>
          </a:p>
          <a:p>
            <a:r>
              <a:rPr lang="en-US" dirty="0"/>
              <a:t>        |      Camera</a:t>
            </a:r>
          </a:p>
          <a:p>
            <a:r>
              <a:rPr lang="en-US" dirty="0"/>
              <a:t>        |       /</a:t>
            </a:r>
          </a:p>
          <a:p>
            <a:r>
              <a:rPr lang="en-US" dirty="0"/>
              <a:t>        |      /</a:t>
            </a:r>
          </a:p>
          <a:p>
            <a:r>
              <a:rPr lang="en-US" dirty="0"/>
              <a:t>Participant</a:t>
            </a:r>
          </a:p>
        </p:txBody>
      </p:sp>
      <p:sp>
        <p:nvSpPr>
          <p:cNvPr id="10" name="TextBox 9">
            <a:extLst>
              <a:ext uri="{FF2B5EF4-FFF2-40B4-BE49-F238E27FC236}">
                <a16:creationId xmlns:a16="http://schemas.microsoft.com/office/drawing/2014/main" id="{DC5AA603-ED91-4C0E-0D7E-19AE8BC5A690}"/>
              </a:ext>
            </a:extLst>
          </p:cNvPr>
          <p:cNvSpPr txBox="1"/>
          <p:nvPr/>
        </p:nvSpPr>
        <p:spPr>
          <a:xfrm>
            <a:off x="4856421" y="4764788"/>
            <a:ext cx="1916519" cy="369332"/>
          </a:xfrm>
          <a:prstGeom prst="rect">
            <a:avLst/>
          </a:prstGeom>
          <a:noFill/>
        </p:spPr>
        <p:txBody>
          <a:bodyPr wrap="square">
            <a:spAutoFit/>
          </a:bodyPr>
          <a:lstStyle/>
          <a:p>
            <a:r>
              <a:rPr lang="en-US" dirty="0"/>
              <a:t>Set 0° Reference</a:t>
            </a:r>
          </a:p>
        </p:txBody>
      </p:sp>
    </p:spTree>
    <p:extLst>
      <p:ext uri="{BB962C8B-B14F-4D97-AF65-F5344CB8AC3E}">
        <p14:creationId xmlns:p14="http://schemas.microsoft.com/office/powerpoint/2010/main" val="2839826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C875-A313-B919-352F-F3699C474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F13D7-F835-7B6A-ADBD-535879966E23}"/>
              </a:ext>
            </a:extLst>
          </p:cNvPr>
          <p:cNvSpPr>
            <a:spLocks noGrp="1"/>
          </p:cNvSpPr>
          <p:nvPr>
            <p:ph type="title"/>
          </p:nvPr>
        </p:nvSpPr>
        <p:spPr>
          <a:xfrm>
            <a:off x="0" y="18255"/>
            <a:ext cx="12192000" cy="587801"/>
          </a:xfrm>
        </p:spPr>
        <p:txBody>
          <a:bodyPr>
            <a:normAutofit fontScale="90000"/>
          </a:bodyPr>
          <a:lstStyle/>
          <a:p>
            <a:r>
              <a:rPr lang="en-US" dirty="0"/>
              <a:t>Recalibration? Or every session?</a:t>
            </a:r>
          </a:p>
        </p:txBody>
      </p:sp>
      <p:sp>
        <p:nvSpPr>
          <p:cNvPr id="4" name="TextBox 3">
            <a:extLst>
              <a:ext uri="{FF2B5EF4-FFF2-40B4-BE49-F238E27FC236}">
                <a16:creationId xmlns:a16="http://schemas.microsoft.com/office/drawing/2014/main" id="{373B0825-3A32-A5EF-EA15-C215BECBBC49}"/>
              </a:ext>
            </a:extLst>
          </p:cNvPr>
          <p:cNvSpPr txBox="1"/>
          <p:nvPr/>
        </p:nvSpPr>
        <p:spPr>
          <a:xfrm>
            <a:off x="1592226" y="1265849"/>
            <a:ext cx="6204096" cy="1477328"/>
          </a:xfrm>
          <a:prstGeom prst="rect">
            <a:avLst/>
          </a:prstGeom>
          <a:noFill/>
        </p:spPr>
        <p:txBody>
          <a:bodyPr wrap="square">
            <a:spAutoFit/>
          </a:bodyPr>
          <a:lstStyle/>
          <a:p>
            <a:r>
              <a:rPr lang="en-US" dirty="0"/>
              <a:t>No recalibration</a:t>
            </a:r>
          </a:p>
          <a:p>
            <a:pPr marL="285750" indent="-285750">
              <a:buFont typeface="Arial" panose="020B0604020202020204" pitchFamily="34" charset="0"/>
              <a:buChar char="•"/>
            </a:pPr>
            <a:r>
              <a:rPr lang="en-US" dirty="0"/>
              <a:t>same webcam</a:t>
            </a:r>
          </a:p>
          <a:p>
            <a:pPr marL="285750" indent="-285750">
              <a:buFont typeface="Arial" panose="020B0604020202020204" pitchFamily="34" charset="0"/>
              <a:buChar char="•"/>
            </a:pPr>
            <a:r>
              <a:rPr lang="en-US" dirty="0"/>
              <a:t>same resolution</a:t>
            </a:r>
          </a:p>
          <a:p>
            <a:pPr marL="285750" indent="-285750">
              <a:buFont typeface="Arial" panose="020B0604020202020204" pitchFamily="34" charset="0"/>
              <a:buChar char="•"/>
            </a:pPr>
            <a:r>
              <a:rPr lang="en-US" dirty="0"/>
              <a:t>same focus/zoom setting</a:t>
            </a:r>
          </a:p>
          <a:p>
            <a:pPr marL="285750" indent="-285750">
              <a:buFont typeface="Arial" panose="020B0604020202020204" pitchFamily="34" charset="0"/>
              <a:buChar char="•"/>
            </a:pPr>
            <a:r>
              <a:rPr lang="en-US" dirty="0"/>
              <a:t>same lens</a:t>
            </a:r>
          </a:p>
        </p:txBody>
      </p:sp>
      <p:sp>
        <p:nvSpPr>
          <p:cNvPr id="6" name="TextBox 5">
            <a:extLst>
              <a:ext uri="{FF2B5EF4-FFF2-40B4-BE49-F238E27FC236}">
                <a16:creationId xmlns:a16="http://schemas.microsoft.com/office/drawing/2014/main" id="{453A6735-D7AE-7F4F-7E5D-C8F3A34727D6}"/>
              </a:ext>
            </a:extLst>
          </p:cNvPr>
          <p:cNvSpPr txBox="1"/>
          <p:nvPr/>
        </p:nvSpPr>
        <p:spPr>
          <a:xfrm>
            <a:off x="1592226" y="3657347"/>
            <a:ext cx="6204096" cy="2308324"/>
          </a:xfrm>
          <a:prstGeom prst="rect">
            <a:avLst/>
          </a:prstGeom>
          <a:noFill/>
        </p:spPr>
        <p:txBody>
          <a:bodyPr wrap="square">
            <a:spAutoFit/>
          </a:bodyPr>
          <a:lstStyle/>
          <a:p>
            <a:pPr lvl="0"/>
            <a:r>
              <a:rPr lang="en-US" dirty="0"/>
              <a:t>Calibration</a:t>
            </a:r>
          </a:p>
          <a:p>
            <a:pPr marL="342900" lvl="0" indent="-342900">
              <a:buFont typeface="Arial" panose="020B0604020202020204" pitchFamily="34" charset="0"/>
              <a:buChar char="•"/>
            </a:pPr>
            <a:r>
              <a:rPr lang="en-US" dirty="0"/>
              <a:t>Changed webcam </a:t>
            </a:r>
          </a:p>
          <a:p>
            <a:pPr marL="342900" lvl="0" indent="-342900">
              <a:buFont typeface="Arial" panose="020B0604020202020204" pitchFamily="34" charset="0"/>
              <a:buChar char="•"/>
            </a:pPr>
            <a:r>
              <a:rPr lang="en-US" dirty="0"/>
              <a:t>change lens </a:t>
            </a:r>
          </a:p>
          <a:p>
            <a:pPr marL="342900" lvl="0" indent="-342900">
              <a:buFont typeface="Arial" panose="020B0604020202020204" pitchFamily="34" charset="0"/>
              <a:buChar char="•"/>
            </a:pPr>
            <a:r>
              <a:rPr lang="en-US" dirty="0"/>
              <a:t>change hardware zoom/focus in a way that changes camera intrinsics </a:t>
            </a:r>
          </a:p>
          <a:p>
            <a:pPr marL="342900" lvl="0" indent="-342900">
              <a:buFont typeface="Arial" panose="020B0604020202020204" pitchFamily="34" charset="0"/>
              <a:buChar char="•"/>
            </a:pPr>
            <a:r>
              <a:rPr lang="en-US" dirty="0"/>
              <a:t>change to a substantially different camera resolution/cropping mode </a:t>
            </a:r>
          </a:p>
          <a:p>
            <a:pPr marL="342900" lvl="0" indent="-342900">
              <a:buFont typeface="Arial" panose="020B0604020202020204" pitchFamily="34" charset="0"/>
              <a:buChar char="•"/>
            </a:pPr>
            <a:r>
              <a:rPr lang="en-US" dirty="0"/>
              <a:t>physically modify the optics</a:t>
            </a:r>
          </a:p>
        </p:txBody>
      </p:sp>
    </p:spTree>
    <p:extLst>
      <p:ext uri="{BB962C8B-B14F-4D97-AF65-F5344CB8AC3E}">
        <p14:creationId xmlns:p14="http://schemas.microsoft.com/office/powerpoint/2010/main" val="1747378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806AA-1A96-6570-D21F-808F5863F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B6655-E763-08A1-940B-BAB20C371309}"/>
              </a:ext>
            </a:extLst>
          </p:cNvPr>
          <p:cNvSpPr>
            <a:spLocks noGrp="1"/>
          </p:cNvSpPr>
          <p:nvPr>
            <p:ph type="title"/>
          </p:nvPr>
        </p:nvSpPr>
        <p:spPr>
          <a:xfrm>
            <a:off x="0" y="18255"/>
            <a:ext cx="12192000" cy="587801"/>
          </a:xfrm>
        </p:spPr>
        <p:txBody>
          <a:bodyPr>
            <a:normAutofit fontScale="90000"/>
          </a:bodyPr>
          <a:lstStyle/>
          <a:p>
            <a:r>
              <a:rPr lang="en-US" dirty="0"/>
              <a:t>Calibration Steps</a:t>
            </a:r>
          </a:p>
        </p:txBody>
      </p:sp>
      <p:sp>
        <p:nvSpPr>
          <p:cNvPr id="10" name="TextBox 9">
            <a:extLst>
              <a:ext uri="{FF2B5EF4-FFF2-40B4-BE49-F238E27FC236}">
                <a16:creationId xmlns:a16="http://schemas.microsoft.com/office/drawing/2014/main" id="{CFCA7AE7-273B-1699-2B4B-C3B85FAA8FB8}"/>
              </a:ext>
            </a:extLst>
          </p:cNvPr>
          <p:cNvSpPr txBox="1"/>
          <p:nvPr/>
        </p:nvSpPr>
        <p:spPr>
          <a:xfrm>
            <a:off x="794083" y="916223"/>
            <a:ext cx="8674769" cy="646331"/>
          </a:xfrm>
          <a:prstGeom prst="rect">
            <a:avLst/>
          </a:prstGeom>
          <a:noFill/>
        </p:spPr>
        <p:txBody>
          <a:bodyPr wrap="square">
            <a:spAutoFit/>
          </a:bodyPr>
          <a:lstStyle/>
          <a:p>
            <a:r>
              <a:rPr lang="en-US" dirty="0"/>
              <a:t>Step1) activate the virtual environment and generate the board:</a:t>
            </a:r>
          </a:p>
          <a:p>
            <a:r>
              <a:rPr lang="en-US" dirty="0">
                <a:solidFill>
                  <a:srgbClr val="FF0000"/>
                </a:solidFill>
              </a:rPr>
              <a:t>python tools/</a:t>
            </a:r>
            <a:r>
              <a:rPr lang="en-US" dirty="0" err="1">
                <a:solidFill>
                  <a:srgbClr val="FF0000"/>
                </a:solidFill>
              </a:rPr>
              <a:t>calibrate_camera.py</a:t>
            </a:r>
            <a:r>
              <a:rPr lang="en-US" dirty="0">
                <a:solidFill>
                  <a:srgbClr val="FF0000"/>
                </a:solidFill>
              </a:rPr>
              <a:t> --generate-board calibration/</a:t>
            </a:r>
            <a:r>
              <a:rPr lang="en-US" dirty="0" err="1">
                <a:solidFill>
                  <a:srgbClr val="FF0000"/>
                </a:solidFill>
              </a:rPr>
              <a:t>charuco_board.png</a:t>
            </a:r>
            <a:endParaRPr lang="en-US" dirty="0">
              <a:solidFill>
                <a:srgbClr val="FF0000"/>
              </a:solidFill>
            </a:endParaRPr>
          </a:p>
        </p:txBody>
      </p:sp>
      <p:sp>
        <p:nvSpPr>
          <p:cNvPr id="12" name="TextBox 11">
            <a:extLst>
              <a:ext uri="{FF2B5EF4-FFF2-40B4-BE49-F238E27FC236}">
                <a16:creationId xmlns:a16="http://schemas.microsoft.com/office/drawing/2014/main" id="{089711A4-D137-0896-F6E0-4D37B33C318C}"/>
              </a:ext>
            </a:extLst>
          </p:cNvPr>
          <p:cNvSpPr txBox="1"/>
          <p:nvPr/>
        </p:nvSpPr>
        <p:spPr>
          <a:xfrm>
            <a:off x="794082" y="2004945"/>
            <a:ext cx="9312443" cy="1200329"/>
          </a:xfrm>
          <a:prstGeom prst="rect">
            <a:avLst/>
          </a:prstGeom>
          <a:noFill/>
        </p:spPr>
        <p:txBody>
          <a:bodyPr wrap="square">
            <a:spAutoFit/>
          </a:bodyPr>
          <a:lstStyle/>
          <a:p>
            <a:r>
              <a:rPr lang="en-US" dirty="0"/>
              <a:t>Step2) close/stop camera tracking in the main </a:t>
            </a:r>
            <a:r>
              <a:rPr lang="en-US" dirty="0" err="1"/>
              <a:t>VisualTrackingCore</a:t>
            </a:r>
            <a:r>
              <a:rPr lang="en-US" dirty="0"/>
              <a:t> app so the webcam is free. Start calibration capture:</a:t>
            </a:r>
          </a:p>
          <a:p>
            <a:r>
              <a:rPr lang="en-US" dirty="0">
                <a:solidFill>
                  <a:srgbClr val="FF0000"/>
                </a:solidFill>
              </a:rPr>
              <a:t>python tools/</a:t>
            </a:r>
            <a:r>
              <a:rPr lang="en-US" dirty="0" err="1">
                <a:solidFill>
                  <a:srgbClr val="FF0000"/>
                </a:solidFill>
              </a:rPr>
              <a:t>calibrate_camera.py</a:t>
            </a:r>
            <a:r>
              <a:rPr lang="en-US" dirty="0">
                <a:solidFill>
                  <a:srgbClr val="FF0000"/>
                </a:solidFill>
              </a:rPr>
              <a:t> --camera 0 --width 1280 --height 720 --output calibration/</a:t>
            </a:r>
            <a:r>
              <a:rPr lang="en-US" dirty="0" err="1">
                <a:solidFill>
                  <a:srgbClr val="FF0000"/>
                </a:solidFill>
              </a:rPr>
              <a:t>webcam_calibration.npz</a:t>
            </a:r>
            <a:endParaRPr lang="en-US" dirty="0">
              <a:solidFill>
                <a:srgbClr val="FF0000"/>
              </a:solidFill>
            </a:endParaRPr>
          </a:p>
        </p:txBody>
      </p:sp>
      <p:sp>
        <p:nvSpPr>
          <p:cNvPr id="14" name="TextBox 13">
            <a:extLst>
              <a:ext uri="{FF2B5EF4-FFF2-40B4-BE49-F238E27FC236}">
                <a16:creationId xmlns:a16="http://schemas.microsoft.com/office/drawing/2014/main" id="{B2A82570-21CE-90C4-AA0E-D61AB1E31AF8}"/>
              </a:ext>
            </a:extLst>
          </p:cNvPr>
          <p:cNvSpPr txBox="1"/>
          <p:nvPr/>
        </p:nvSpPr>
        <p:spPr>
          <a:xfrm>
            <a:off x="794082" y="3647665"/>
            <a:ext cx="9312442" cy="1200329"/>
          </a:xfrm>
          <a:prstGeom prst="rect">
            <a:avLst/>
          </a:prstGeom>
          <a:noFill/>
        </p:spPr>
        <p:txBody>
          <a:bodyPr wrap="square">
            <a:spAutoFit/>
          </a:bodyPr>
          <a:lstStyle/>
          <a:p>
            <a:r>
              <a:rPr lang="en-US" dirty="0"/>
              <a:t>Step3) collect views. This part matters more than simply reaching 15 images.</a:t>
            </a:r>
            <a:br>
              <a:rPr lang="en-US" dirty="0"/>
            </a:br>
            <a:r>
              <a:rPr lang="en-US" dirty="0"/>
              <a:t>	</a:t>
            </a:r>
            <a:r>
              <a:rPr lang="en-US" dirty="0">
                <a:solidFill>
                  <a:srgbClr val="FF0000"/>
                </a:solidFill>
              </a:rPr>
              <a:t>Space</a:t>
            </a:r>
            <a:r>
              <a:rPr lang="en-US" dirty="0"/>
              <a:t>   capture this view</a:t>
            </a:r>
          </a:p>
          <a:p>
            <a:r>
              <a:rPr lang="en-US" dirty="0"/>
              <a:t>	</a:t>
            </a:r>
            <a:r>
              <a:rPr lang="en-US" dirty="0">
                <a:solidFill>
                  <a:srgbClr val="FF0000"/>
                </a:solidFill>
              </a:rPr>
              <a:t>C </a:t>
            </a:r>
            <a:r>
              <a:rPr lang="en-US" dirty="0"/>
              <a:t>      calculate calibration and save</a:t>
            </a:r>
          </a:p>
          <a:p>
            <a:r>
              <a:rPr lang="en-US" dirty="0"/>
              <a:t>	</a:t>
            </a:r>
            <a:r>
              <a:rPr lang="en-US" dirty="0">
                <a:solidFill>
                  <a:srgbClr val="FF0000"/>
                </a:solidFill>
              </a:rPr>
              <a:t>Q/Esc   </a:t>
            </a:r>
            <a:r>
              <a:rPr lang="en-US" dirty="0"/>
              <a:t>cancel</a:t>
            </a:r>
          </a:p>
        </p:txBody>
      </p:sp>
      <p:pic>
        <p:nvPicPr>
          <p:cNvPr id="16" name="Picture 15">
            <a:extLst>
              <a:ext uri="{FF2B5EF4-FFF2-40B4-BE49-F238E27FC236}">
                <a16:creationId xmlns:a16="http://schemas.microsoft.com/office/drawing/2014/main" id="{8C8C3F9F-848F-E71C-D3AD-8AA7749E8A41}"/>
              </a:ext>
            </a:extLst>
          </p:cNvPr>
          <p:cNvPicPr>
            <a:picLocks noChangeAspect="1"/>
          </p:cNvPicPr>
          <p:nvPr/>
        </p:nvPicPr>
        <p:blipFill>
          <a:blip r:embed="rId2"/>
          <a:stretch>
            <a:fillRect/>
          </a:stretch>
        </p:blipFill>
        <p:spPr>
          <a:xfrm>
            <a:off x="6354856" y="4141184"/>
            <a:ext cx="3113996" cy="2431073"/>
          </a:xfrm>
          <a:prstGeom prst="rect">
            <a:avLst/>
          </a:prstGeom>
        </p:spPr>
      </p:pic>
    </p:spTree>
    <p:extLst>
      <p:ext uri="{BB962C8B-B14F-4D97-AF65-F5344CB8AC3E}">
        <p14:creationId xmlns:p14="http://schemas.microsoft.com/office/powerpoint/2010/main" val="2590338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9280C-E1AC-7542-F5F1-D4B564D39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CA1BD-F6B8-549E-9894-5A17984B8EEB}"/>
              </a:ext>
            </a:extLst>
          </p:cNvPr>
          <p:cNvSpPr>
            <a:spLocks noGrp="1"/>
          </p:cNvSpPr>
          <p:nvPr>
            <p:ph type="title"/>
          </p:nvPr>
        </p:nvSpPr>
        <p:spPr>
          <a:xfrm>
            <a:off x="0" y="18255"/>
            <a:ext cx="12192000" cy="587801"/>
          </a:xfrm>
        </p:spPr>
        <p:txBody>
          <a:bodyPr>
            <a:normAutofit fontScale="90000"/>
          </a:bodyPr>
          <a:lstStyle/>
          <a:p>
            <a:r>
              <a:rPr lang="en-US" dirty="0"/>
              <a:t>Calibration Steps (Continued)</a:t>
            </a:r>
          </a:p>
        </p:txBody>
      </p:sp>
      <p:sp>
        <p:nvSpPr>
          <p:cNvPr id="8" name="TextBox 7">
            <a:extLst>
              <a:ext uri="{FF2B5EF4-FFF2-40B4-BE49-F238E27FC236}">
                <a16:creationId xmlns:a16="http://schemas.microsoft.com/office/drawing/2014/main" id="{7C2C093C-8C54-A551-BEE9-80B378DB2D0B}"/>
              </a:ext>
            </a:extLst>
          </p:cNvPr>
          <p:cNvSpPr txBox="1"/>
          <p:nvPr/>
        </p:nvSpPr>
        <p:spPr>
          <a:xfrm>
            <a:off x="649705" y="1006324"/>
            <a:ext cx="10852483" cy="646331"/>
          </a:xfrm>
          <a:prstGeom prst="rect">
            <a:avLst/>
          </a:prstGeom>
          <a:noFill/>
        </p:spPr>
        <p:txBody>
          <a:bodyPr wrap="square">
            <a:spAutoFit/>
          </a:bodyPr>
          <a:lstStyle/>
          <a:p>
            <a:r>
              <a:rPr lang="en-US" dirty="0"/>
              <a:t>Start with the board centered and approximately facing the camera, then move it around. Capture something like:</a:t>
            </a:r>
          </a:p>
        </p:txBody>
      </p:sp>
      <p:sp>
        <p:nvSpPr>
          <p:cNvPr id="10" name="TextBox 9">
            <a:extLst>
              <a:ext uri="{FF2B5EF4-FFF2-40B4-BE49-F238E27FC236}">
                <a16:creationId xmlns:a16="http://schemas.microsoft.com/office/drawing/2014/main" id="{67B9B1AA-5AC1-D20E-50DA-441C72957636}"/>
              </a:ext>
            </a:extLst>
          </p:cNvPr>
          <p:cNvSpPr txBox="1"/>
          <p:nvPr/>
        </p:nvSpPr>
        <p:spPr>
          <a:xfrm>
            <a:off x="1684421" y="1652655"/>
            <a:ext cx="6208294" cy="2308324"/>
          </a:xfrm>
          <a:prstGeom prst="rect">
            <a:avLst/>
          </a:prstGeom>
          <a:noFill/>
        </p:spPr>
        <p:txBody>
          <a:bodyPr wrap="square">
            <a:spAutoFit/>
          </a:bodyPr>
          <a:lstStyle/>
          <a:p>
            <a:r>
              <a:rPr lang="en-US" dirty="0"/>
              <a:t>1–3     center, different distances</a:t>
            </a:r>
          </a:p>
          <a:p>
            <a:r>
              <a:rPr lang="en-US" dirty="0"/>
              <a:t>4–6     left side</a:t>
            </a:r>
          </a:p>
          <a:p>
            <a:r>
              <a:rPr lang="en-US" dirty="0"/>
              <a:t>7–9     right side</a:t>
            </a:r>
          </a:p>
          <a:p>
            <a:r>
              <a:rPr lang="en-US" dirty="0"/>
              <a:t>10–12   upper part of image</a:t>
            </a:r>
          </a:p>
          <a:p>
            <a:r>
              <a:rPr lang="en-US" dirty="0"/>
              <a:t>13–15   lower part of image</a:t>
            </a:r>
          </a:p>
          <a:p>
            <a:r>
              <a:rPr lang="en-US" dirty="0"/>
              <a:t>16–18   tilted left/right</a:t>
            </a:r>
          </a:p>
          <a:p>
            <a:r>
              <a:rPr lang="en-US" dirty="0"/>
              <a:t>19–21   tilted forward/backward</a:t>
            </a:r>
          </a:p>
          <a:p>
            <a:r>
              <a:rPr lang="en-US" dirty="0"/>
              <a:t>22–25   combinations of edge position + tilt</a:t>
            </a:r>
          </a:p>
        </p:txBody>
      </p:sp>
      <p:sp>
        <p:nvSpPr>
          <p:cNvPr id="12" name="TextBox 11">
            <a:extLst>
              <a:ext uri="{FF2B5EF4-FFF2-40B4-BE49-F238E27FC236}">
                <a16:creationId xmlns:a16="http://schemas.microsoft.com/office/drawing/2014/main" id="{8638D1CC-CEDB-4804-643B-7F7192BA41BF}"/>
              </a:ext>
            </a:extLst>
          </p:cNvPr>
          <p:cNvSpPr txBox="1"/>
          <p:nvPr/>
        </p:nvSpPr>
        <p:spPr>
          <a:xfrm>
            <a:off x="649705" y="4607310"/>
            <a:ext cx="6208294" cy="369332"/>
          </a:xfrm>
          <a:prstGeom prst="rect">
            <a:avLst/>
          </a:prstGeom>
          <a:noFill/>
        </p:spPr>
        <p:txBody>
          <a:bodyPr wrap="square">
            <a:spAutoFit/>
          </a:bodyPr>
          <a:lstStyle/>
          <a:p>
            <a:r>
              <a:rPr lang="en-US" dirty="0"/>
              <a:t>have at least 15 good views—preferably 20–25—press:</a:t>
            </a:r>
          </a:p>
        </p:txBody>
      </p:sp>
      <p:sp>
        <p:nvSpPr>
          <p:cNvPr id="14" name="TextBox 13">
            <a:extLst>
              <a:ext uri="{FF2B5EF4-FFF2-40B4-BE49-F238E27FC236}">
                <a16:creationId xmlns:a16="http://schemas.microsoft.com/office/drawing/2014/main" id="{A975133D-ED52-25DB-B665-A89E7BB6DABD}"/>
              </a:ext>
            </a:extLst>
          </p:cNvPr>
          <p:cNvSpPr txBox="1"/>
          <p:nvPr/>
        </p:nvSpPr>
        <p:spPr>
          <a:xfrm>
            <a:off x="6497052" y="4607310"/>
            <a:ext cx="721894" cy="369332"/>
          </a:xfrm>
          <a:prstGeom prst="rect">
            <a:avLst/>
          </a:prstGeom>
          <a:noFill/>
        </p:spPr>
        <p:txBody>
          <a:bodyPr wrap="square">
            <a:spAutoFit/>
          </a:bodyPr>
          <a:lstStyle/>
          <a:p>
            <a:r>
              <a:rPr lang="en-US" dirty="0">
                <a:solidFill>
                  <a:srgbClr val="FF0000"/>
                </a:solidFill>
              </a:rPr>
              <a:t>C</a:t>
            </a:r>
          </a:p>
        </p:txBody>
      </p:sp>
      <p:sp>
        <p:nvSpPr>
          <p:cNvPr id="16" name="TextBox 15">
            <a:extLst>
              <a:ext uri="{FF2B5EF4-FFF2-40B4-BE49-F238E27FC236}">
                <a16:creationId xmlns:a16="http://schemas.microsoft.com/office/drawing/2014/main" id="{321BFE38-359C-66B1-69EA-2FA92A269813}"/>
              </a:ext>
            </a:extLst>
          </p:cNvPr>
          <p:cNvSpPr txBox="1"/>
          <p:nvPr/>
        </p:nvSpPr>
        <p:spPr>
          <a:xfrm>
            <a:off x="649705" y="5205345"/>
            <a:ext cx="6208294" cy="369332"/>
          </a:xfrm>
          <a:prstGeom prst="rect">
            <a:avLst/>
          </a:prstGeom>
          <a:noFill/>
        </p:spPr>
        <p:txBody>
          <a:bodyPr wrap="square">
            <a:spAutoFit/>
          </a:bodyPr>
          <a:lstStyle/>
          <a:p>
            <a:r>
              <a:rPr lang="en-US" dirty="0"/>
              <a:t>output</a:t>
            </a:r>
          </a:p>
        </p:txBody>
      </p:sp>
      <p:sp>
        <p:nvSpPr>
          <p:cNvPr id="18" name="TextBox 17">
            <a:extLst>
              <a:ext uri="{FF2B5EF4-FFF2-40B4-BE49-F238E27FC236}">
                <a16:creationId xmlns:a16="http://schemas.microsoft.com/office/drawing/2014/main" id="{6206FC07-9C8C-E123-A1C9-66885A3770B6}"/>
              </a:ext>
            </a:extLst>
          </p:cNvPr>
          <p:cNvSpPr txBox="1"/>
          <p:nvPr/>
        </p:nvSpPr>
        <p:spPr>
          <a:xfrm>
            <a:off x="1191127" y="5452758"/>
            <a:ext cx="6208294" cy="1200329"/>
          </a:xfrm>
          <a:prstGeom prst="rect">
            <a:avLst/>
          </a:prstGeom>
          <a:noFill/>
        </p:spPr>
        <p:txBody>
          <a:bodyPr wrap="square">
            <a:spAutoFit/>
          </a:bodyPr>
          <a:lstStyle/>
          <a:p>
            <a:r>
              <a:rPr lang="en-US" dirty="0"/>
              <a:t>Resolution: 1280 x 720</a:t>
            </a:r>
          </a:p>
          <a:p>
            <a:r>
              <a:rPr lang="en-US" dirty="0"/>
              <a:t>Valid frames: 22</a:t>
            </a:r>
          </a:p>
          <a:p>
            <a:r>
              <a:rPr lang="en-US" dirty="0"/>
              <a:t>Reprojection RMS: 0.42 </a:t>
            </a:r>
            <a:r>
              <a:rPr lang="en-US" dirty="0" err="1"/>
              <a:t>px</a:t>
            </a:r>
            <a:endParaRPr lang="en-US" dirty="0"/>
          </a:p>
          <a:p>
            <a:r>
              <a:rPr lang="en-US" dirty="0"/>
              <a:t>Saved: .../calibration/</a:t>
            </a:r>
            <a:r>
              <a:rPr lang="en-US" dirty="0" err="1"/>
              <a:t>webcam_calibration.npz</a:t>
            </a:r>
            <a:endParaRPr lang="en-US" dirty="0"/>
          </a:p>
        </p:txBody>
      </p:sp>
      <p:sp>
        <p:nvSpPr>
          <p:cNvPr id="20" name="TextBox 19">
            <a:extLst>
              <a:ext uri="{FF2B5EF4-FFF2-40B4-BE49-F238E27FC236}">
                <a16:creationId xmlns:a16="http://schemas.microsoft.com/office/drawing/2014/main" id="{DCDEF6B3-D081-2EE0-C39E-C8A111AA32D7}"/>
              </a:ext>
            </a:extLst>
          </p:cNvPr>
          <p:cNvSpPr txBox="1"/>
          <p:nvPr/>
        </p:nvSpPr>
        <p:spPr>
          <a:xfrm>
            <a:off x="6857999" y="2628701"/>
            <a:ext cx="5089359" cy="369332"/>
          </a:xfrm>
          <a:prstGeom prst="rect">
            <a:avLst/>
          </a:prstGeom>
          <a:noFill/>
        </p:spPr>
        <p:txBody>
          <a:bodyPr wrap="square">
            <a:spAutoFit/>
          </a:bodyPr>
          <a:lstStyle/>
          <a:p>
            <a:r>
              <a:rPr lang="en-US" dirty="0"/>
              <a:t>The </a:t>
            </a:r>
            <a:r>
              <a:rPr lang="en-US" dirty="0">
                <a:latin typeface="+mn-lt"/>
              </a:rPr>
              <a:t>.</a:t>
            </a:r>
            <a:r>
              <a:rPr lang="en-US" dirty="0" err="1">
                <a:latin typeface="+mn-lt"/>
              </a:rPr>
              <a:t>npz</a:t>
            </a:r>
            <a:r>
              <a:rPr lang="en-US" dirty="0"/>
              <a:t> stores the important camera information</a:t>
            </a:r>
          </a:p>
        </p:txBody>
      </p:sp>
      <p:sp>
        <p:nvSpPr>
          <p:cNvPr id="22" name="TextBox 21">
            <a:extLst>
              <a:ext uri="{FF2B5EF4-FFF2-40B4-BE49-F238E27FC236}">
                <a16:creationId xmlns:a16="http://schemas.microsoft.com/office/drawing/2014/main" id="{C6FC4A0A-BCBD-1A8F-CFFD-6A43AD42FC7C}"/>
              </a:ext>
            </a:extLst>
          </p:cNvPr>
          <p:cNvSpPr txBox="1"/>
          <p:nvPr/>
        </p:nvSpPr>
        <p:spPr>
          <a:xfrm>
            <a:off x="8698830" y="2998033"/>
            <a:ext cx="3332747" cy="2031325"/>
          </a:xfrm>
          <a:prstGeom prst="rect">
            <a:avLst/>
          </a:prstGeom>
          <a:noFill/>
        </p:spPr>
        <p:txBody>
          <a:bodyPr wrap="square">
            <a:spAutoFit/>
          </a:bodyPr>
          <a:lstStyle/>
          <a:p>
            <a:r>
              <a:rPr lang="en-US" dirty="0" err="1"/>
              <a:t>camera_matrix</a:t>
            </a:r>
            <a:endParaRPr lang="en-US" dirty="0"/>
          </a:p>
          <a:p>
            <a:r>
              <a:rPr lang="en-US" dirty="0" err="1"/>
              <a:t>dist_coeffs</a:t>
            </a:r>
            <a:endParaRPr lang="en-US" dirty="0"/>
          </a:p>
          <a:p>
            <a:r>
              <a:rPr lang="en-US" dirty="0" err="1"/>
              <a:t>image_width</a:t>
            </a:r>
            <a:endParaRPr lang="en-US" dirty="0"/>
          </a:p>
          <a:p>
            <a:r>
              <a:rPr lang="en-US" dirty="0" err="1"/>
              <a:t>image_height</a:t>
            </a:r>
            <a:endParaRPr lang="en-US" dirty="0"/>
          </a:p>
          <a:p>
            <a:r>
              <a:rPr lang="en-US" dirty="0" err="1"/>
              <a:t>reprojection_error</a:t>
            </a:r>
            <a:endParaRPr lang="en-US" dirty="0"/>
          </a:p>
          <a:p>
            <a:r>
              <a:rPr lang="en-US" dirty="0"/>
              <a:t>timestamp</a:t>
            </a:r>
          </a:p>
          <a:p>
            <a:r>
              <a:rPr lang="en-US" dirty="0" err="1"/>
              <a:t>board_definition</a:t>
            </a:r>
            <a:endParaRPr lang="en-US" dirty="0"/>
          </a:p>
        </p:txBody>
      </p:sp>
    </p:spTree>
    <p:extLst>
      <p:ext uri="{BB962C8B-B14F-4D97-AF65-F5344CB8AC3E}">
        <p14:creationId xmlns:p14="http://schemas.microsoft.com/office/powerpoint/2010/main" val="1615482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7A5C7-7532-7690-83F4-767E53D0B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CD127-259C-A7C2-67EC-356FE7CD8F28}"/>
              </a:ext>
            </a:extLst>
          </p:cNvPr>
          <p:cNvSpPr>
            <a:spLocks noGrp="1"/>
          </p:cNvSpPr>
          <p:nvPr>
            <p:ph type="title"/>
          </p:nvPr>
        </p:nvSpPr>
        <p:spPr>
          <a:xfrm>
            <a:off x="0" y="18255"/>
            <a:ext cx="12192000" cy="587801"/>
          </a:xfrm>
        </p:spPr>
        <p:txBody>
          <a:bodyPr>
            <a:normAutofit fontScale="90000"/>
          </a:bodyPr>
          <a:lstStyle/>
          <a:p>
            <a:r>
              <a:rPr lang="en-US" dirty="0" err="1"/>
              <a:t>Main.py</a:t>
            </a:r>
            <a:endParaRPr lang="en-US" dirty="0"/>
          </a:p>
        </p:txBody>
      </p:sp>
      <p:sp>
        <p:nvSpPr>
          <p:cNvPr id="5" name="TextBox 4">
            <a:extLst>
              <a:ext uri="{FF2B5EF4-FFF2-40B4-BE49-F238E27FC236}">
                <a16:creationId xmlns:a16="http://schemas.microsoft.com/office/drawing/2014/main" id="{CAC46BCA-5106-F6CE-22BA-A4B39322337F}"/>
              </a:ext>
            </a:extLst>
          </p:cNvPr>
          <p:cNvSpPr txBox="1"/>
          <p:nvPr/>
        </p:nvSpPr>
        <p:spPr>
          <a:xfrm>
            <a:off x="4345405" y="1997839"/>
            <a:ext cx="3501189" cy="2862322"/>
          </a:xfrm>
          <a:prstGeom prst="rect">
            <a:avLst/>
          </a:prstGeom>
          <a:noFill/>
        </p:spPr>
        <p:txBody>
          <a:bodyPr wrap="square">
            <a:spAutoFit/>
          </a:bodyPr>
          <a:lstStyle/>
          <a:p>
            <a:r>
              <a:rPr lang="en-US" dirty="0"/>
              <a:t>1. Start </a:t>
            </a:r>
            <a:r>
              <a:rPr lang="en-US" dirty="0" err="1"/>
              <a:t>VisualTrackingCore</a:t>
            </a:r>
            <a:endParaRPr lang="en-US" dirty="0"/>
          </a:p>
          <a:p>
            <a:r>
              <a:rPr lang="en-US" dirty="0"/>
              <a:t>2. Select </a:t>
            </a:r>
            <a:r>
              <a:rPr lang="en-US" dirty="0" err="1"/>
              <a:t>AprilTag</a:t>
            </a:r>
            <a:r>
              <a:rPr lang="en-US" dirty="0"/>
              <a:t> or </a:t>
            </a:r>
            <a:r>
              <a:rPr lang="en-US" dirty="0" err="1"/>
              <a:t>ArUco</a:t>
            </a:r>
            <a:endParaRPr lang="en-US" dirty="0"/>
          </a:p>
          <a:p>
            <a:r>
              <a:rPr lang="en-US" dirty="0"/>
              <a:t>3. Select 3D Pose</a:t>
            </a:r>
          </a:p>
          <a:p>
            <a:r>
              <a:rPr lang="en-US" dirty="0"/>
              <a:t>4. Enter the real tag size</a:t>
            </a:r>
          </a:p>
          <a:p>
            <a:r>
              <a:rPr lang="en-US" dirty="0"/>
              <a:t>5. Load </a:t>
            </a:r>
            <a:r>
              <a:rPr lang="en-US" dirty="0" err="1"/>
              <a:t>webcam_calibration.npz</a:t>
            </a:r>
            <a:endParaRPr lang="en-US" dirty="0"/>
          </a:p>
          <a:p>
            <a:r>
              <a:rPr lang="en-US" dirty="0"/>
              <a:t>6. Start tracking</a:t>
            </a:r>
          </a:p>
          <a:p>
            <a:r>
              <a:rPr lang="en-US" dirty="0"/>
              <a:t>7. Verify XYZ + yaw/pitch/roll</a:t>
            </a:r>
          </a:p>
          <a:p>
            <a:r>
              <a:rPr lang="en-US" dirty="0"/>
              <a:t>8. Set 0° Reference</a:t>
            </a:r>
          </a:p>
          <a:p>
            <a:r>
              <a:rPr lang="en-US" dirty="0"/>
              <a:t>9. Verify </a:t>
            </a:r>
            <a:r>
              <a:rPr lang="en-US" dirty="0" err="1"/>
              <a:t>response_azimuth_deg</a:t>
            </a:r>
            <a:endParaRPr lang="en-US" dirty="0"/>
          </a:p>
          <a:p>
            <a:r>
              <a:rPr lang="en-US" dirty="0"/>
              <a:t>10. Optionally verify LSL</a:t>
            </a:r>
          </a:p>
        </p:txBody>
      </p:sp>
      <p:sp>
        <p:nvSpPr>
          <p:cNvPr id="8" name="TextBox 7">
            <a:extLst>
              <a:ext uri="{FF2B5EF4-FFF2-40B4-BE49-F238E27FC236}">
                <a16:creationId xmlns:a16="http://schemas.microsoft.com/office/drawing/2014/main" id="{B501A2A5-DE4F-998F-25CF-C07C05DCFA76}"/>
              </a:ext>
            </a:extLst>
          </p:cNvPr>
          <p:cNvSpPr txBox="1"/>
          <p:nvPr/>
        </p:nvSpPr>
        <p:spPr>
          <a:xfrm>
            <a:off x="5247774" y="1324825"/>
            <a:ext cx="1239252" cy="369332"/>
          </a:xfrm>
          <a:prstGeom prst="rect">
            <a:avLst/>
          </a:prstGeom>
          <a:noFill/>
        </p:spPr>
        <p:txBody>
          <a:bodyPr wrap="square">
            <a:spAutoFit/>
          </a:bodyPr>
          <a:lstStyle/>
          <a:p>
            <a:r>
              <a:rPr lang="en-US" dirty="0"/>
              <a:t>Workflow</a:t>
            </a:r>
          </a:p>
        </p:txBody>
      </p:sp>
    </p:spTree>
    <p:extLst>
      <p:ext uri="{BB962C8B-B14F-4D97-AF65-F5344CB8AC3E}">
        <p14:creationId xmlns:p14="http://schemas.microsoft.com/office/powerpoint/2010/main" val="3759096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0C77F-E408-76FA-885C-D868A9BB4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859A9-C825-ED80-E282-4976A29D5FB6}"/>
              </a:ext>
            </a:extLst>
          </p:cNvPr>
          <p:cNvSpPr>
            <a:spLocks noGrp="1"/>
          </p:cNvSpPr>
          <p:nvPr>
            <p:ph type="title"/>
          </p:nvPr>
        </p:nvSpPr>
        <p:spPr>
          <a:xfrm>
            <a:off x="0" y="18255"/>
            <a:ext cx="12192000" cy="587801"/>
          </a:xfrm>
        </p:spPr>
        <p:txBody>
          <a:bodyPr>
            <a:normAutofit fontScale="90000"/>
          </a:bodyPr>
          <a:lstStyle/>
          <a:p>
            <a:r>
              <a:rPr lang="en-US" dirty="0" err="1"/>
              <a:t>Main.py</a:t>
            </a:r>
            <a:endParaRPr lang="en-US" dirty="0"/>
          </a:p>
        </p:txBody>
      </p:sp>
      <p:sp>
        <p:nvSpPr>
          <p:cNvPr id="4" name="TextBox 3">
            <a:extLst>
              <a:ext uri="{FF2B5EF4-FFF2-40B4-BE49-F238E27FC236}">
                <a16:creationId xmlns:a16="http://schemas.microsoft.com/office/drawing/2014/main" id="{A3677B8A-443E-BC38-8BFA-38AA2A0D5677}"/>
              </a:ext>
            </a:extLst>
          </p:cNvPr>
          <p:cNvSpPr txBox="1"/>
          <p:nvPr/>
        </p:nvSpPr>
        <p:spPr>
          <a:xfrm>
            <a:off x="2887579" y="1769103"/>
            <a:ext cx="6208294" cy="3416320"/>
          </a:xfrm>
          <a:prstGeom prst="rect">
            <a:avLst/>
          </a:prstGeom>
          <a:noFill/>
        </p:spPr>
        <p:txBody>
          <a:bodyPr wrap="square">
            <a:spAutoFit/>
          </a:bodyPr>
          <a:lstStyle/>
          <a:p>
            <a:r>
              <a:rPr lang="en-US" dirty="0"/>
              <a:t>[Setup]</a:t>
            </a:r>
          </a:p>
          <a:p>
            <a:r>
              <a:rPr lang="en-US" dirty="0"/>
              <a:t>Tracking Method: </a:t>
            </a:r>
            <a:r>
              <a:rPr lang="en-US" dirty="0" err="1"/>
              <a:t>AprilTag</a:t>
            </a:r>
            <a:endParaRPr lang="en-US" dirty="0"/>
          </a:p>
          <a:p>
            <a:r>
              <a:rPr lang="en-US" dirty="0"/>
              <a:t>Tracking Mode:   3D Pose</a:t>
            </a:r>
          </a:p>
          <a:p>
            <a:endParaRPr lang="en-US" dirty="0"/>
          </a:p>
          <a:p>
            <a:r>
              <a:rPr lang="en-US" dirty="0"/>
              <a:t>Tag Family:      tagStandard41h12</a:t>
            </a:r>
          </a:p>
          <a:p>
            <a:r>
              <a:rPr lang="en-US" dirty="0"/>
              <a:t>Tag ID:          0</a:t>
            </a:r>
          </a:p>
          <a:p>
            <a:r>
              <a:rPr lang="en-US" dirty="0"/>
              <a:t>Tag Size:        50.0 mm</a:t>
            </a:r>
          </a:p>
          <a:p>
            <a:endParaRPr lang="en-US" dirty="0"/>
          </a:p>
          <a:p>
            <a:r>
              <a:rPr lang="en-US" dirty="0"/>
              <a:t>Calibration:</a:t>
            </a:r>
          </a:p>
          <a:p>
            <a:r>
              <a:rPr lang="en-US" dirty="0"/>
              <a:t>calibration/</a:t>
            </a:r>
            <a:r>
              <a:rPr lang="en-US" dirty="0" err="1"/>
              <a:t>webcam_calibration.npz</a:t>
            </a:r>
            <a:endParaRPr lang="en-US" dirty="0"/>
          </a:p>
          <a:p>
            <a:endParaRPr lang="en-US" dirty="0"/>
          </a:p>
          <a:p>
            <a:r>
              <a:rPr lang="en-US" dirty="0"/>
              <a:t>Calibration status: Valid</a:t>
            </a:r>
          </a:p>
        </p:txBody>
      </p:sp>
      <p:sp>
        <p:nvSpPr>
          <p:cNvPr id="6" name="TextBox 5">
            <a:extLst>
              <a:ext uri="{FF2B5EF4-FFF2-40B4-BE49-F238E27FC236}">
                <a16:creationId xmlns:a16="http://schemas.microsoft.com/office/drawing/2014/main" id="{C7328CE5-E755-6BD8-0FB9-A18E4959D9FA}"/>
              </a:ext>
            </a:extLst>
          </p:cNvPr>
          <p:cNvSpPr txBox="1"/>
          <p:nvPr/>
        </p:nvSpPr>
        <p:spPr>
          <a:xfrm>
            <a:off x="2045369" y="5596507"/>
            <a:ext cx="6208294" cy="369332"/>
          </a:xfrm>
          <a:prstGeom prst="rect">
            <a:avLst/>
          </a:prstGeom>
          <a:noFill/>
        </p:spPr>
        <p:txBody>
          <a:bodyPr wrap="square">
            <a:spAutoFit/>
          </a:bodyPr>
          <a:lstStyle/>
          <a:p>
            <a:r>
              <a:rPr lang="en-US" dirty="0"/>
              <a:t>tag size must match the physical printed marker size</a:t>
            </a:r>
          </a:p>
        </p:txBody>
      </p:sp>
    </p:spTree>
    <p:extLst>
      <p:ext uri="{BB962C8B-B14F-4D97-AF65-F5344CB8AC3E}">
        <p14:creationId xmlns:p14="http://schemas.microsoft.com/office/powerpoint/2010/main" val="1581990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2A338-0914-BE93-AE92-3FBE8EE3E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A80BB-2F23-D295-95A1-30085BF163B2}"/>
              </a:ext>
            </a:extLst>
          </p:cNvPr>
          <p:cNvSpPr>
            <a:spLocks noGrp="1"/>
          </p:cNvSpPr>
          <p:nvPr>
            <p:ph type="title"/>
          </p:nvPr>
        </p:nvSpPr>
        <p:spPr>
          <a:xfrm>
            <a:off x="0" y="18255"/>
            <a:ext cx="12192000" cy="587801"/>
          </a:xfrm>
        </p:spPr>
        <p:txBody>
          <a:bodyPr>
            <a:normAutofit fontScale="90000"/>
          </a:bodyPr>
          <a:lstStyle/>
          <a:p>
            <a:r>
              <a:rPr lang="en-US" dirty="0" err="1"/>
              <a:t>Main.py</a:t>
            </a:r>
            <a:endParaRPr lang="en-US" dirty="0"/>
          </a:p>
        </p:txBody>
      </p:sp>
      <p:sp>
        <p:nvSpPr>
          <p:cNvPr id="4" name="TextBox 3">
            <a:extLst>
              <a:ext uri="{FF2B5EF4-FFF2-40B4-BE49-F238E27FC236}">
                <a16:creationId xmlns:a16="http://schemas.microsoft.com/office/drawing/2014/main" id="{656CAF28-B3BF-074F-3579-B194DC597A37}"/>
              </a:ext>
            </a:extLst>
          </p:cNvPr>
          <p:cNvSpPr txBox="1"/>
          <p:nvPr/>
        </p:nvSpPr>
        <p:spPr>
          <a:xfrm>
            <a:off x="2887579" y="1353604"/>
            <a:ext cx="6208294" cy="3970318"/>
          </a:xfrm>
          <a:prstGeom prst="rect">
            <a:avLst/>
          </a:prstGeom>
          <a:noFill/>
        </p:spPr>
        <p:txBody>
          <a:bodyPr wrap="square">
            <a:spAutoFit/>
          </a:bodyPr>
          <a:lstStyle/>
          <a:p>
            <a:r>
              <a:rPr lang="en-US" dirty="0"/>
              <a:t>Move left/right</a:t>
            </a:r>
          </a:p>
          <a:p>
            <a:r>
              <a:rPr lang="en-US" dirty="0"/>
              <a:t>→ mostly X changes</a:t>
            </a:r>
          </a:p>
          <a:p>
            <a:endParaRPr lang="en-US" dirty="0"/>
          </a:p>
          <a:p>
            <a:r>
              <a:rPr lang="en-US" dirty="0"/>
              <a:t>Move closer/farther from camera</a:t>
            </a:r>
          </a:p>
          <a:p>
            <a:r>
              <a:rPr lang="en-US" dirty="0"/>
              <a:t>→ mostly Z changes</a:t>
            </a:r>
          </a:p>
          <a:p>
            <a:endParaRPr lang="en-US" dirty="0"/>
          </a:p>
          <a:p>
            <a:r>
              <a:rPr lang="en-US" dirty="0"/>
              <a:t>Rotate head/marker left-right</a:t>
            </a:r>
          </a:p>
          <a:p>
            <a:r>
              <a:rPr lang="en-US" dirty="0"/>
              <a:t>→ mostly Yaw changes</a:t>
            </a:r>
          </a:p>
          <a:p>
            <a:endParaRPr lang="en-US" dirty="0"/>
          </a:p>
          <a:p>
            <a:r>
              <a:rPr lang="en-US" dirty="0"/>
              <a:t>Tilt forward/back</a:t>
            </a:r>
          </a:p>
          <a:p>
            <a:r>
              <a:rPr lang="en-US" dirty="0"/>
              <a:t>→ mostly Pitch changes</a:t>
            </a:r>
          </a:p>
          <a:p>
            <a:endParaRPr lang="en-US" dirty="0"/>
          </a:p>
          <a:p>
            <a:r>
              <a:rPr lang="en-US" dirty="0"/>
              <a:t>Tilt sideways</a:t>
            </a:r>
          </a:p>
          <a:p>
            <a:r>
              <a:rPr lang="en-US" dirty="0"/>
              <a:t>→ mostly Roll changes</a:t>
            </a:r>
          </a:p>
        </p:txBody>
      </p:sp>
    </p:spTree>
    <p:extLst>
      <p:ext uri="{BB962C8B-B14F-4D97-AF65-F5344CB8AC3E}">
        <p14:creationId xmlns:p14="http://schemas.microsoft.com/office/powerpoint/2010/main" val="2001600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460A9-470F-528D-7796-223F37012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49652-6E9F-3D77-ECF0-851962DAC475}"/>
              </a:ext>
            </a:extLst>
          </p:cNvPr>
          <p:cNvSpPr>
            <a:spLocks noGrp="1"/>
          </p:cNvSpPr>
          <p:nvPr>
            <p:ph type="title"/>
          </p:nvPr>
        </p:nvSpPr>
        <p:spPr>
          <a:xfrm>
            <a:off x="0" y="18255"/>
            <a:ext cx="12192000" cy="587801"/>
          </a:xfrm>
        </p:spPr>
        <p:txBody>
          <a:bodyPr>
            <a:normAutofit fontScale="90000"/>
          </a:bodyPr>
          <a:lstStyle/>
          <a:p>
            <a:r>
              <a:rPr lang="en-US" dirty="0" err="1"/>
              <a:t>Main.py</a:t>
            </a:r>
            <a:endParaRPr lang="en-US" dirty="0"/>
          </a:p>
        </p:txBody>
      </p:sp>
      <p:sp>
        <p:nvSpPr>
          <p:cNvPr id="4" name="TextBox 3">
            <a:extLst>
              <a:ext uri="{FF2B5EF4-FFF2-40B4-BE49-F238E27FC236}">
                <a16:creationId xmlns:a16="http://schemas.microsoft.com/office/drawing/2014/main" id="{1B122027-168F-49EB-7BF8-04FF455888F3}"/>
              </a:ext>
            </a:extLst>
          </p:cNvPr>
          <p:cNvSpPr txBox="1"/>
          <p:nvPr/>
        </p:nvSpPr>
        <p:spPr>
          <a:xfrm>
            <a:off x="397043" y="813819"/>
            <a:ext cx="9697452" cy="369332"/>
          </a:xfrm>
          <a:prstGeom prst="rect">
            <a:avLst/>
          </a:prstGeom>
          <a:noFill/>
        </p:spPr>
        <p:txBody>
          <a:bodyPr wrap="square">
            <a:spAutoFit/>
          </a:bodyPr>
          <a:lstStyle/>
          <a:p>
            <a:r>
              <a:rPr lang="en-US" dirty="0"/>
              <a:t>Face the marker toward your defined center-speaker direction and press:</a:t>
            </a:r>
          </a:p>
        </p:txBody>
      </p:sp>
      <p:sp>
        <p:nvSpPr>
          <p:cNvPr id="6" name="TextBox 5">
            <a:extLst>
              <a:ext uri="{FF2B5EF4-FFF2-40B4-BE49-F238E27FC236}">
                <a16:creationId xmlns:a16="http://schemas.microsoft.com/office/drawing/2014/main" id="{19B74C30-6B4E-C905-E9DF-EAA11C7BBD2C}"/>
              </a:ext>
            </a:extLst>
          </p:cNvPr>
          <p:cNvSpPr txBox="1"/>
          <p:nvPr/>
        </p:nvSpPr>
        <p:spPr>
          <a:xfrm>
            <a:off x="8345905" y="813819"/>
            <a:ext cx="2073442" cy="369332"/>
          </a:xfrm>
          <a:prstGeom prst="rect">
            <a:avLst/>
          </a:prstGeom>
          <a:noFill/>
        </p:spPr>
        <p:txBody>
          <a:bodyPr wrap="square">
            <a:spAutoFit/>
          </a:bodyPr>
          <a:lstStyle/>
          <a:p>
            <a:r>
              <a:rPr lang="en-US" dirty="0"/>
              <a:t>Set 0° Reference</a:t>
            </a:r>
          </a:p>
        </p:txBody>
      </p:sp>
      <p:sp>
        <p:nvSpPr>
          <p:cNvPr id="8" name="TextBox 7">
            <a:extLst>
              <a:ext uri="{FF2B5EF4-FFF2-40B4-BE49-F238E27FC236}">
                <a16:creationId xmlns:a16="http://schemas.microsoft.com/office/drawing/2014/main" id="{4E169D8C-70A9-3E1B-9F88-75A6602D3F5F}"/>
              </a:ext>
            </a:extLst>
          </p:cNvPr>
          <p:cNvSpPr txBox="1"/>
          <p:nvPr/>
        </p:nvSpPr>
        <p:spPr>
          <a:xfrm>
            <a:off x="397043" y="1758434"/>
            <a:ext cx="6208294" cy="369332"/>
          </a:xfrm>
          <a:prstGeom prst="rect">
            <a:avLst/>
          </a:prstGeom>
          <a:noFill/>
        </p:spPr>
        <p:txBody>
          <a:bodyPr wrap="square">
            <a:spAutoFit/>
          </a:bodyPr>
          <a:lstStyle/>
          <a:p>
            <a:r>
              <a:rPr lang="en-US" dirty="0"/>
              <a:t>should show something like:</a:t>
            </a:r>
          </a:p>
        </p:txBody>
      </p:sp>
      <p:sp>
        <p:nvSpPr>
          <p:cNvPr id="10" name="TextBox 9">
            <a:extLst>
              <a:ext uri="{FF2B5EF4-FFF2-40B4-BE49-F238E27FC236}">
                <a16:creationId xmlns:a16="http://schemas.microsoft.com/office/drawing/2014/main" id="{251B4DB4-9E7D-161B-087B-B5A50A927F26}"/>
              </a:ext>
            </a:extLst>
          </p:cNvPr>
          <p:cNvSpPr txBox="1"/>
          <p:nvPr/>
        </p:nvSpPr>
        <p:spPr>
          <a:xfrm>
            <a:off x="3886201" y="1804600"/>
            <a:ext cx="6208294" cy="646331"/>
          </a:xfrm>
          <a:prstGeom prst="rect">
            <a:avLst/>
          </a:prstGeom>
          <a:noFill/>
        </p:spPr>
        <p:txBody>
          <a:bodyPr wrap="square">
            <a:spAutoFit/>
          </a:bodyPr>
          <a:lstStyle/>
          <a:p>
            <a:r>
              <a:rPr lang="en-US" dirty="0"/>
              <a:t>Reference: 3D yaw 14.6° = speaker-array 0°</a:t>
            </a:r>
          </a:p>
          <a:p>
            <a:r>
              <a:rPr lang="en-US" dirty="0"/>
              <a:t>Response azimuth: 0.0°</a:t>
            </a:r>
          </a:p>
        </p:txBody>
      </p:sp>
      <p:sp>
        <p:nvSpPr>
          <p:cNvPr id="12" name="TextBox 11">
            <a:extLst>
              <a:ext uri="{FF2B5EF4-FFF2-40B4-BE49-F238E27FC236}">
                <a16:creationId xmlns:a16="http://schemas.microsoft.com/office/drawing/2014/main" id="{5A88346D-F4E9-8F19-65AF-E8F9A6A0CEC4}"/>
              </a:ext>
            </a:extLst>
          </p:cNvPr>
          <p:cNvSpPr txBox="1"/>
          <p:nvPr/>
        </p:nvSpPr>
        <p:spPr>
          <a:xfrm>
            <a:off x="2466473" y="4566853"/>
            <a:ext cx="6208294" cy="1477328"/>
          </a:xfrm>
          <a:prstGeom prst="rect">
            <a:avLst/>
          </a:prstGeom>
          <a:noFill/>
        </p:spPr>
        <p:txBody>
          <a:bodyPr wrap="square">
            <a:spAutoFit/>
          </a:bodyPr>
          <a:lstStyle/>
          <a:p>
            <a:pPr marL="342900" lvl="0" indent="-342900">
              <a:buFont typeface="Arial" panose="020B0604020202020204" pitchFamily="34" charset="0"/>
              <a:buChar char="•"/>
            </a:pPr>
            <a:r>
              <a:rPr lang="en-US" dirty="0"/>
              <a:t>tracking stays valid </a:t>
            </a:r>
          </a:p>
          <a:p>
            <a:pPr marL="342900" lvl="0" indent="-342900">
              <a:buFont typeface="Arial" panose="020B0604020202020204" pitchFamily="34" charset="0"/>
              <a:buChar char="•"/>
            </a:pPr>
            <a:r>
              <a:rPr lang="en-US" dirty="0"/>
              <a:t>yaw changes in the expected direction </a:t>
            </a:r>
          </a:p>
          <a:p>
            <a:pPr marL="342900" lvl="0" indent="-342900">
              <a:buFont typeface="Arial" panose="020B0604020202020204" pitchFamily="34" charset="0"/>
              <a:buChar char="•"/>
            </a:pPr>
            <a:r>
              <a:rPr lang="en-US" dirty="0"/>
              <a:t>zero reference works </a:t>
            </a:r>
          </a:p>
          <a:p>
            <a:pPr marL="342900" lvl="0" indent="-342900">
              <a:buFont typeface="Arial" panose="020B0604020202020204" pitchFamily="34" charset="0"/>
              <a:buChar char="•"/>
            </a:pPr>
            <a:r>
              <a:rPr lang="en-US" dirty="0"/>
              <a:t>response azimuth is stable </a:t>
            </a:r>
          </a:p>
          <a:p>
            <a:pPr marL="342900" lvl="0" indent="-342900">
              <a:buFont typeface="Arial" panose="020B0604020202020204" pitchFamily="34" charset="0"/>
              <a:buChar char="•"/>
            </a:pPr>
            <a:r>
              <a:rPr lang="en-US" dirty="0"/>
              <a:t>pitch/roll don’t badly corrupt yaw</a:t>
            </a:r>
          </a:p>
        </p:txBody>
      </p:sp>
      <p:sp>
        <p:nvSpPr>
          <p:cNvPr id="13" name="TextBox 12">
            <a:extLst>
              <a:ext uri="{FF2B5EF4-FFF2-40B4-BE49-F238E27FC236}">
                <a16:creationId xmlns:a16="http://schemas.microsoft.com/office/drawing/2014/main" id="{BDC603D2-D950-EF94-309B-4187D607B5B9}"/>
              </a:ext>
            </a:extLst>
          </p:cNvPr>
          <p:cNvSpPr txBox="1"/>
          <p:nvPr/>
        </p:nvSpPr>
        <p:spPr>
          <a:xfrm>
            <a:off x="1941094" y="4197521"/>
            <a:ext cx="2073442" cy="369332"/>
          </a:xfrm>
          <a:prstGeom prst="rect">
            <a:avLst/>
          </a:prstGeom>
          <a:noFill/>
        </p:spPr>
        <p:txBody>
          <a:bodyPr wrap="square">
            <a:spAutoFit/>
          </a:bodyPr>
          <a:lstStyle/>
          <a:p>
            <a:r>
              <a:rPr lang="en-US" dirty="0"/>
              <a:t>Need to verify</a:t>
            </a:r>
          </a:p>
        </p:txBody>
      </p:sp>
    </p:spTree>
    <p:extLst>
      <p:ext uri="{BB962C8B-B14F-4D97-AF65-F5344CB8AC3E}">
        <p14:creationId xmlns:p14="http://schemas.microsoft.com/office/powerpoint/2010/main" val="1423862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235E6-0A20-4C40-C0F9-743CABB44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0EEDA-59FE-039A-8C93-90A2261E6C47}"/>
              </a:ext>
            </a:extLst>
          </p:cNvPr>
          <p:cNvSpPr>
            <a:spLocks noGrp="1"/>
          </p:cNvSpPr>
          <p:nvPr>
            <p:ph type="title"/>
          </p:nvPr>
        </p:nvSpPr>
        <p:spPr>
          <a:xfrm>
            <a:off x="0" y="18255"/>
            <a:ext cx="12192000" cy="587801"/>
          </a:xfrm>
        </p:spPr>
        <p:txBody>
          <a:bodyPr>
            <a:normAutofit fontScale="90000"/>
          </a:bodyPr>
          <a:lstStyle/>
          <a:p>
            <a:r>
              <a:rPr lang="en-US" dirty="0"/>
              <a:t>Response azimuth</a:t>
            </a:r>
          </a:p>
        </p:txBody>
      </p:sp>
      <p:sp>
        <p:nvSpPr>
          <p:cNvPr id="4" name="TextBox 3">
            <a:extLst>
              <a:ext uri="{FF2B5EF4-FFF2-40B4-BE49-F238E27FC236}">
                <a16:creationId xmlns:a16="http://schemas.microsoft.com/office/drawing/2014/main" id="{A60FE531-11B2-83BB-2C31-A797C88FA5BE}"/>
              </a:ext>
            </a:extLst>
          </p:cNvPr>
          <p:cNvSpPr txBox="1"/>
          <p:nvPr/>
        </p:nvSpPr>
        <p:spPr>
          <a:xfrm>
            <a:off x="733927" y="843488"/>
            <a:ext cx="6509084" cy="369332"/>
          </a:xfrm>
          <a:prstGeom prst="rect">
            <a:avLst/>
          </a:prstGeom>
          <a:noFill/>
        </p:spPr>
        <p:txBody>
          <a:bodyPr wrap="square">
            <a:spAutoFit/>
          </a:bodyPr>
          <a:lstStyle/>
          <a:p>
            <a:r>
              <a:rPr lang="en-US" dirty="0" err="1"/>
              <a:t>response_azimuth</a:t>
            </a:r>
            <a:r>
              <a:rPr lang="en-US" dirty="0"/>
              <a:t> = </a:t>
            </a:r>
            <a:r>
              <a:rPr lang="en-US" dirty="0" err="1"/>
              <a:t>current_orientation</a:t>
            </a:r>
            <a:r>
              <a:rPr lang="en-US" dirty="0"/>
              <a:t> - </a:t>
            </a:r>
            <a:r>
              <a:rPr lang="en-US" dirty="0" err="1"/>
              <a:t>reference_orientation</a:t>
            </a:r>
            <a:endParaRPr lang="en-US" dirty="0"/>
          </a:p>
        </p:txBody>
      </p:sp>
      <p:sp>
        <p:nvSpPr>
          <p:cNvPr id="6" name="TextBox 5">
            <a:extLst>
              <a:ext uri="{FF2B5EF4-FFF2-40B4-BE49-F238E27FC236}">
                <a16:creationId xmlns:a16="http://schemas.microsoft.com/office/drawing/2014/main" id="{26C4A26D-7967-0275-26BB-CAA9E82F21B8}"/>
              </a:ext>
            </a:extLst>
          </p:cNvPr>
          <p:cNvSpPr txBox="1"/>
          <p:nvPr/>
        </p:nvSpPr>
        <p:spPr>
          <a:xfrm>
            <a:off x="733927" y="1450252"/>
            <a:ext cx="6208294" cy="369332"/>
          </a:xfrm>
          <a:prstGeom prst="rect">
            <a:avLst/>
          </a:prstGeom>
          <a:noFill/>
        </p:spPr>
        <p:txBody>
          <a:bodyPr wrap="square">
            <a:spAutoFit/>
          </a:bodyPr>
          <a:lstStyle/>
          <a:p>
            <a:pPr>
              <a:buNone/>
            </a:pPr>
            <a:r>
              <a:rPr lang="en-US" dirty="0"/>
              <a:t>then the result is wrapped into: -180° to +180°</a:t>
            </a:r>
          </a:p>
        </p:txBody>
      </p:sp>
      <p:sp>
        <p:nvSpPr>
          <p:cNvPr id="8" name="TextBox 7">
            <a:extLst>
              <a:ext uri="{FF2B5EF4-FFF2-40B4-BE49-F238E27FC236}">
                <a16:creationId xmlns:a16="http://schemas.microsoft.com/office/drawing/2014/main" id="{7009D6BA-E8C1-B9BA-6365-797CE08F1B02}"/>
              </a:ext>
            </a:extLst>
          </p:cNvPr>
          <p:cNvSpPr txBox="1"/>
          <p:nvPr/>
        </p:nvSpPr>
        <p:spPr>
          <a:xfrm>
            <a:off x="6593305" y="1357919"/>
            <a:ext cx="4668253" cy="923330"/>
          </a:xfrm>
          <a:prstGeom prst="rect">
            <a:avLst/>
          </a:prstGeom>
          <a:noFill/>
        </p:spPr>
        <p:txBody>
          <a:bodyPr wrap="square">
            <a:spAutoFit/>
          </a:bodyPr>
          <a:lstStyle/>
          <a:p>
            <a:r>
              <a:rPr lang="en-US" dirty="0"/>
              <a:t>azimuth = </a:t>
            </a:r>
            <a:r>
              <a:rPr lang="en-US" dirty="0" err="1"/>
              <a:t>wrap_degrees</a:t>
            </a:r>
            <a:r>
              <a:rPr lang="en-US" dirty="0"/>
              <a:t>(</a:t>
            </a:r>
          </a:p>
          <a:p>
            <a:r>
              <a:rPr lang="en-US" dirty="0"/>
              <a:t>    </a:t>
            </a:r>
            <a:r>
              <a:rPr lang="en-US" dirty="0" err="1"/>
              <a:t>self.sign</a:t>
            </a:r>
            <a:r>
              <a:rPr lang="en-US" dirty="0"/>
              <a:t> * (float(value) - </a:t>
            </a:r>
            <a:r>
              <a:rPr lang="en-US" dirty="0" err="1"/>
              <a:t>self.reference_deg</a:t>
            </a:r>
            <a:r>
              <a:rPr lang="en-US" dirty="0"/>
              <a:t>)</a:t>
            </a:r>
          </a:p>
          <a:p>
            <a:r>
              <a:rPr lang="en-US" dirty="0"/>
              <a:t>)</a:t>
            </a:r>
          </a:p>
        </p:txBody>
      </p:sp>
      <p:sp>
        <p:nvSpPr>
          <p:cNvPr id="10" name="TextBox 9">
            <a:extLst>
              <a:ext uri="{FF2B5EF4-FFF2-40B4-BE49-F238E27FC236}">
                <a16:creationId xmlns:a16="http://schemas.microsoft.com/office/drawing/2014/main" id="{93F3F2FF-F92C-2301-D9B0-D5341F9C73D9}"/>
              </a:ext>
            </a:extLst>
          </p:cNvPr>
          <p:cNvSpPr txBox="1"/>
          <p:nvPr/>
        </p:nvSpPr>
        <p:spPr>
          <a:xfrm>
            <a:off x="733927" y="2660530"/>
            <a:ext cx="10202778" cy="646331"/>
          </a:xfrm>
          <a:prstGeom prst="rect">
            <a:avLst/>
          </a:prstGeom>
          <a:noFill/>
        </p:spPr>
        <p:txBody>
          <a:bodyPr wrap="square">
            <a:spAutoFit/>
          </a:bodyPr>
          <a:lstStyle/>
          <a:p>
            <a:r>
              <a:rPr lang="en-US" b="1" dirty="0"/>
              <a:t>Set 0° Reference</a:t>
            </a:r>
            <a:r>
              <a:rPr lang="en-US" dirty="0"/>
              <a:t>, and later subtracts that value from the live orientation. It also checks that tracking is valid and that the source/tag ID still matches the one used for calibration.</a:t>
            </a:r>
          </a:p>
        </p:txBody>
      </p:sp>
      <p:sp>
        <p:nvSpPr>
          <p:cNvPr id="12" name="TextBox 11">
            <a:extLst>
              <a:ext uri="{FF2B5EF4-FFF2-40B4-BE49-F238E27FC236}">
                <a16:creationId xmlns:a16="http://schemas.microsoft.com/office/drawing/2014/main" id="{204E196D-88AE-1B5D-C8E2-16675D8E6C59}"/>
              </a:ext>
            </a:extLst>
          </p:cNvPr>
          <p:cNvSpPr txBox="1"/>
          <p:nvPr/>
        </p:nvSpPr>
        <p:spPr>
          <a:xfrm>
            <a:off x="733927" y="3869022"/>
            <a:ext cx="6208294" cy="2308324"/>
          </a:xfrm>
          <a:prstGeom prst="rect">
            <a:avLst/>
          </a:prstGeom>
          <a:noFill/>
        </p:spPr>
        <p:txBody>
          <a:bodyPr wrap="square">
            <a:spAutoFit/>
          </a:bodyPr>
          <a:lstStyle/>
          <a:p>
            <a:r>
              <a:rPr lang="en-US" dirty="0" err="1"/>
              <a:t>AprilTag</a:t>
            </a:r>
            <a:r>
              <a:rPr lang="en-US" dirty="0"/>
              <a:t> / </a:t>
            </a:r>
            <a:r>
              <a:rPr lang="en-US" dirty="0" err="1"/>
              <a:t>ArUco</a:t>
            </a:r>
            <a:r>
              <a:rPr lang="en-US" dirty="0"/>
              <a:t> 2D mode</a:t>
            </a:r>
          </a:p>
          <a:p>
            <a:r>
              <a:rPr lang="en-US" dirty="0"/>
              <a:t>    → marker rotation</a:t>
            </a:r>
          </a:p>
          <a:p>
            <a:endParaRPr lang="en-US" dirty="0"/>
          </a:p>
          <a:p>
            <a:r>
              <a:rPr lang="en-US" dirty="0" err="1"/>
              <a:t>AprilTag</a:t>
            </a:r>
            <a:r>
              <a:rPr lang="en-US" dirty="0"/>
              <a:t> / </a:t>
            </a:r>
            <a:r>
              <a:rPr lang="en-US" dirty="0" err="1"/>
              <a:t>ArUco</a:t>
            </a:r>
            <a:r>
              <a:rPr lang="en-US" dirty="0"/>
              <a:t> 3D mode</a:t>
            </a:r>
          </a:p>
          <a:p>
            <a:r>
              <a:rPr lang="en-US" dirty="0"/>
              <a:t>    → 3D yaw</a:t>
            </a:r>
          </a:p>
          <a:p>
            <a:endParaRPr lang="en-US" dirty="0"/>
          </a:p>
          <a:p>
            <a:r>
              <a:rPr lang="en-US" dirty="0" err="1"/>
              <a:t>MediaPipe</a:t>
            </a:r>
            <a:endParaRPr lang="en-US" dirty="0"/>
          </a:p>
          <a:p>
            <a:r>
              <a:rPr lang="en-US" dirty="0"/>
              <a:t>    → yaw</a:t>
            </a:r>
          </a:p>
        </p:txBody>
      </p:sp>
    </p:spTree>
    <p:extLst>
      <p:ext uri="{BB962C8B-B14F-4D97-AF65-F5344CB8AC3E}">
        <p14:creationId xmlns:p14="http://schemas.microsoft.com/office/powerpoint/2010/main" val="2785864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B3F58-49B6-2F49-5E5C-FE299F400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0E238-15A2-16A9-3906-56543370E1F0}"/>
              </a:ext>
            </a:extLst>
          </p:cNvPr>
          <p:cNvSpPr>
            <a:spLocks noGrp="1"/>
          </p:cNvSpPr>
          <p:nvPr>
            <p:ph type="title"/>
          </p:nvPr>
        </p:nvSpPr>
        <p:spPr>
          <a:xfrm>
            <a:off x="0" y="18255"/>
            <a:ext cx="12192000" cy="587801"/>
          </a:xfrm>
        </p:spPr>
        <p:txBody>
          <a:bodyPr>
            <a:normAutofit fontScale="90000"/>
          </a:bodyPr>
          <a:lstStyle/>
          <a:p>
            <a:r>
              <a:rPr lang="en-US" dirty="0" err="1"/>
              <a:t>Mediapipe</a:t>
            </a:r>
            <a:endParaRPr lang="en-US" dirty="0"/>
          </a:p>
        </p:txBody>
      </p:sp>
      <p:sp>
        <p:nvSpPr>
          <p:cNvPr id="6" name="TextBox 5">
            <a:extLst>
              <a:ext uri="{FF2B5EF4-FFF2-40B4-BE49-F238E27FC236}">
                <a16:creationId xmlns:a16="http://schemas.microsoft.com/office/drawing/2014/main" id="{D3F9D288-1FD7-77A6-0DFF-79190F783E18}"/>
              </a:ext>
            </a:extLst>
          </p:cNvPr>
          <p:cNvSpPr txBox="1"/>
          <p:nvPr/>
        </p:nvSpPr>
        <p:spPr>
          <a:xfrm>
            <a:off x="1227222" y="1029842"/>
            <a:ext cx="1744579" cy="1754326"/>
          </a:xfrm>
          <a:prstGeom prst="rect">
            <a:avLst/>
          </a:prstGeom>
          <a:noFill/>
        </p:spPr>
        <p:txBody>
          <a:bodyPr wrap="square">
            <a:spAutoFit/>
          </a:bodyPr>
          <a:lstStyle/>
          <a:p>
            <a:r>
              <a:rPr lang="en-US" dirty="0"/>
              <a:t>nose</a:t>
            </a:r>
          </a:p>
          <a:p>
            <a:r>
              <a:rPr lang="en-US" dirty="0"/>
              <a:t>chin</a:t>
            </a:r>
          </a:p>
          <a:p>
            <a:r>
              <a:rPr lang="en-US" dirty="0"/>
              <a:t>left eye</a:t>
            </a:r>
          </a:p>
          <a:p>
            <a:r>
              <a:rPr lang="en-US" dirty="0"/>
              <a:t>right eye</a:t>
            </a:r>
          </a:p>
          <a:p>
            <a:r>
              <a:rPr lang="en-US" dirty="0"/>
              <a:t>left mouth</a:t>
            </a:r>
          </a:p>
          <a:p>
            <a:r>
              <a:rPr lang="en-US" dirty="0"/>
              <a:t>right mouth</a:t>
            </a:r>
          </a:p>
        </p:txBody>
      </p:sp>
      <p:sp>
        <p:nvSpPr>
          <p:cNvPr id="8" name="TextBox 7">
            <a:extLst>
              <a:ext uri="{FF2B5EF4-FFF2-40B4-BE49-F238E27FC236}">
                <a16:creationId xmlns:a16="http://schemas.microsoft.com/office/drawing/2014/main" id="{3B01ACCC-1E44-0BCB-EF3B-98B431407BBC}"/>
              </a:ext>
            </a:extLst>
          </p:cNvPr>
          <p:cNvSpPr txBox="1"/>
          <p:nvPr/>
        </p:nvSpPr>
        <p:spPr>
          <a:xfrm>
            <a:off x="3585410" y="1029842"/>
            <a:ext cx="6208294" cy="2031325"/>
          </a:xfrm>
          <a:prstGeom prst="rect">
            <a:avLst/>
          </a:prstGeom>
          <a:noFill/>
        </p:spPr>
        <p:txBody>
          <a:bodyPr wrap="square">
            <a:spAutoFit/>
          </a:bodyPr>
          <a:lstStyle/>
          <a:p>
            <a:r>
              <a:rPr lang="en-US" dirty="0" err="1"/>
              <a:t>focal_length</a:t>
            </a:r>
            <a:r>
              <a:rPr lang="en-US" dirty="0"/>
              <a:t> = float(width)</a:t>
            </a:r>
          </a:p>
          <a:p>
            <a:endParaRPr lang="en-US" dirty="0"/>
          </a:p>
          <a:p>
            <a:r>
              <a:rPr lang="en-US" dirty="0" err="1"/>
              <a:t>camera_matrix</a:t>
            </a:r>
            <a:r>
              <a:rPr lang="en-US" dirty="0"/>
              <a:t> = [</a:t>
            </a:r>
          </a:p>
          <a:p>
            <a:r>
              <a:rPr lang="en-US" dirty="0"/>
              <a:t>    [</a:t>
            </a:r>
            <a:r>
              <a:rPr lang="en-US" dirty="0" err="1"/>
              <a:t>focal_length</a:t>
            </a:r>
            <a:r>
              <a:rPr lang="en-US" dirty="0"/>
              <a:t>, 0, width / 2],</a:t>
            </a:r>
          </a:p>
          <a:p>
            <a:r>
              <a:rPr lang="en-US" dirty="0"/>
              <a:t>    [0, </a:t>
            </a:r>
            <a:r>
              <a:rPr lang="en-US" dirty="0" err="1"/>
              <a:t>focal_length</a:t>
            </a:r>
            <a:r>
              <a:rPr lang="en-US" dirty="0"/>
              <a:t>, height / 2],</a:t>
            </a:r>
          </a:p>
          <a:p>
            <a:r>
              <a:rPr lang="en-US" dirty="0"/>
              <a:t>    [0, 0, 1]</a:t>
            </a:r>
          </a:p>
          <a:p>
            <a:r>
              <a:rPr lang="en-US" dirty="0"/>
              <a:t>]</a:t>
            </a:r>
          </a:p>
        </p:txBody>
      </p:sp>
      <p:sp>
        <p:nvSpPr>
          <p:cNvPr id="10" name="TextBox 9">
            <a:extLst>
              <a:ext uri="{FF2B5EF4-FFF2-40B4-BE49-F238E27FC236}">
                <a16:creationId xmlns:a16="http://schemas.microsoft.com/office/drawing/2014/main" id="{707015F8-2932-D934-56AA-60F7ABA214AA}"/>
              </a:ext>
            </a:extLst>
          </p:cNvPr>
          <p:cNvSpPr txBox="1"/>
          <p:nvPr/>
        </p:nvSpPr>
        <p:spPr>
          <a:xfrm>
            <a:off x="3585410" y="3367344"/>
            <a:ext cx="6208294" cy="369332"/>
          </a:xfrm>
          <a:prstGeom prst="rect">
            <a:avLst/>
          </a:prstGeom>
          <a:noFill/>
        </p:spPr>
        <p:txBody>
          <a:bodyPr wrap="square">
            <a:spAutoFit/>
          </a:bodyPr>
          <a:lstStyle/>
          <a:p>
            <a:r>
              <a:rPr lang="en-US" dirty="0"/>
              <a:t>distortion = zeros</a:t>
            </a:r>
          </a:p>
        </p:txBody>
      </p:sp>
      <p:sp>
        <p:nvSpPr>
          <p:cNvPr id="12" name="TextBox 11">
            <a:extLst>
              <a:ext uri="{FF2B5EF4-FFF2-40B4-BE49-F238E27FC236}">
                <a16:creationId xmlns:a16="http://schemas.microsoft.com/office/drawing/2014/main" id="{3B2F941B-EBC9-A22E-BAC4-1BDD232CA798}"/>
              </a:ext>
            </a:extLst>
          </p:cNvPr>
          <p:cNvSpPr txBox="1"/>
          <p:nvPr/>
        </p:nvSpPr>
        <p:spPr>
          <a:xfrm>
            <a:off x="2406316" y="127489"/>
            <a:ext cx="3429000" cy="369332"/>
          </a:xfrm>
          <a:prstGeom prst="rect">
            <a:avLst/>
          </a:prstGeom>
          <a:noFill/>
        </p:spPr>
        <p:txBody>
          <a:bodyPr wrap="square">
            <a:spAutoFit/>
          </a:bodyPr>
          <a:lstStyle/>
          <a:p>
            <a:pPr>
              <a:buNone/>
            </a:pPr>
            <a:r>
              <a:rPr lang="en-US" dirty="0">
                <a:solidFill>
                  <a:srgbClr val="FF0000"/>
                </a:solidFill>
              </a:rPr>
              <a:t>key issue. Need to review</a:t>
            </a:r>
          </a:p>
        </p:txBody>
      </p:sp>
      <p:sp>
        <p:nvSpPr>
          <p:cNvPr id="14" name="TextBox 13">
            <a:extLst>
              <a:ext uri="{FF2B5EF4-FFF2-40B4-BE49-F238E27FC236}">
                <a16:creationId xmlns:a16="http://schemas.microsoft.com/office/drawing/2014/main" id="{CCBAD36E-38C1-AF1E-D6F7-BA5489BF2D05}"/>
              </a:ext>
            </a:extLst>
          </p:cNvPr>
          <p:cNvSpPr txBox="1"/>
          <p:nvPr/>
        </p:nvSpPr>
        <p:spPr>
          <a:xfrm>
            <a:off x="1227222" y="4693867"/>
            <a:ext cx="6208294" cy="923330"/>
          </a:xfrm>
          <a:prstGeom prst="rect">
            <a:avLst/>
          </a:prstGeom>
          <a:noFill/>
        </p:spPr>
        <p:txBody>
          <a:bodyPr wrap="square">
            <a:spAutoFit/>
          </a:bodyPr>
          <a:lstStyle/>
          <a:p>
            <a:r>
              <a:rPr lang="en-US" dirty="0"/>
              <a:t>focal length ≈ image width</a:t>
            </a:r>
          </a:p>
          <a:p>
            <a:r>
              <a:rPr lang="en-US" dirty="0"/>
              <a:t>optical center = exact image center</a:t>
            </a:r>
          </a:p>
          <a:p>
            <a:r>
              <a:rPr lang="en-US" dirty="0"/>
              <a:t>lens distortion = zero</a:t>
            </a:r>
          </a:p>
        </p:txBody>
      </p:sp>
      <p:sp>
        <p:nvSpPr>
          <p:cNvPr id="16" name="TextBox 15">
            <a:extLst>
              <a:ext uri="{FF2B5EF4-FFF2-40B4-BE49-F238E27FC236}">
                <a16:creationId xmlns:a16="http://schemas.microsoft.com/office/drawing/2014/main" id="{5D2180DB-012E-D491-8D8B-252B494EA27F}"/>
              </a:ext>
            </a:extLst>
          </p:cNvPr>
          <p:cNvSpPr txBox="1"/>
          <p:nvPr/>
        </p:nvSpPr>
        <p:spPr>
          <a:xfrm>
            <a:off x="649705" y="4324535"/>
            <a:ext cx="6208294" cy="369332"/>
          </a:xfrm>
          <a:prstGeom prst="rect">
            <a:avLst/>
          </a:prstGeom>
          <a:noFill/>
        </p:spPr>
        <p:txBody>
          <a:bodyPr wrap="square">
            <a:spAutoFit/>
          </a:bodyPr>
          <a:lstStyle/>
          <a:p>
            <a:r>
              <a:rPr lang="en-US" dirty="0"/>
              <a:t>No calibration and assuming…</a:t>
            </a:r>
          </a:p>
        </p:txBody>
      </p:sp>
      <p:sp>
        <p:nvSpPr>
          <p:cNvPr id="20" name="TextBox 19">
            <a:extLst>
              <a:ext uri="{FF2B5EF4-FFF2-40B4-BE49-F238E27FC236}">
                <a16:creationId xmlns:a16="http://schemas.microsoft.com/office/drawing/2014/main" id="{574E8277-B169-E9BA-2B24-FFC0F1C3F813}"/>
              </a:ext>
            </a:extLst>
          </p:cNvPr>
          <p:cNvSpPr txBox="1"/>
          <p:nvPr/>
        </p:nvSpPr>
        <p:spPr>
          <a:xfrm>
            <a:off x="7002377" y="3552010"/>
            <a:ext cx="2791327" cy="2308324"/>
          </a:xfrm>
          <a:prstGeom prst="rect">
            <a:avLst/>
          </a:prstGeom>
          <a:noFill/>
        </p:spPr>
        <p:txBody>
          <a:bodyPr wrap="square">
            <a:spAutoFit/>
          </a:bodyPr>
          <a:lstStyle/>
          <a:p>
            <a:r>
              <a:rPr lang="en-US" dirty="0"/>
              <a:t>MODEL_POINTS = [</a:t>
            </a:r>
          </a:p>
          <a:p>
            <a:r>
              <a:rPr lang="en-US" dirty="0"/>
              <a:t>    nose,</a:t>
            </a:r>
          </a:p>
          <a:p>
            <a:r>
              <a:rPr lang="en-US" dirty="0"/>
              <a:t>    chin,</a:t>
            </a:r>
          </a:p>
          <a:p>
            <a:r>
              <a:rPr lang="en-US" dirty="0"/>
              <a:t>    left eye,</a:t>
            </a:r>
          </a:p>
          <a:p>
            <a:r>
              <a:rPr lang="en-US" dirty="0"/>
              <a:t>    right eye,</a:t>
            </a:r>
          </a:p>
          <a:p>
            <a:r>
              <a:rPr lang="en-US" dirty="0"/>
              <a:t>    left mouth,</a:t>
            </a:r>
          </a:p>
          <a:p>
            <a:r>
              <a:rPr lang="en-US" dirty="0"/>
              <a:t>    right mouth</a:t>
            </a:r>
          </a:p>
          <a:p>
            <a:r>
              <a:rPr lang="en-US" dirty="0"/>
              <a:t>]</a:t>
            </a:r>
          </a:p>
        </p:txBody>
      </p:sp>
      <p:sp>
        <p:nvSpPr>
          <p:cNvPr id="22" name="TextBox 21">
            <a:extLst>
              <a:ext uri="{FF2B5EF4-FFF2-40B4-BE49-F238E27FC236}">
                <a16:creationId xmlns:a16="http://schemas.microsoft.com/office/drawing/2014/main" id="{3B8C2035-D7B0-31DC-0B1B-27B7E22AEFCF}"/>
              </a:ext>
            </a:extLst>
          </p:cNvPr>
          <p:cNvSpPr txBox="1"/>
          <p:nvPr/>
        </p:nvSpPr>
        <p:spPr>
          <a:xfrm>
            <a:off x="8349914" y="5675668"/>
            <a:ext cx="1588168" cy="369332"/>
          </a:xfrm>
          <a:prstGeom prst="rect">
            <a:avLst/>
          </a:prstGeom>
          <a:noFill/>
        </p:spPr>
        <p:txBody>
          <a:bodyPr wrap="square">
            <a:spAutoFit/>
          </a:bodyPr>
          <a:lstStyle/>
          <a:p>
            <a:r>
              <a:rPr lang="en-US" dirty="0">
                <a:solidFill>
                  <a:srgbClr val="FF0000"/>
                </a:solidFill>
              </a:rPr>
              <a:t>generic face</a:t>
            </a:r>
          </a:p>
        </p:txBody>
      </p:sp>
    </p:spTree>
    <p:extLst>
      <p:ext uri="{BB962C8B-B14F-4D97-AF65-F5344CB8AC3E}">
        <p14:creationId xmlns:p14="http://schemas.microsoft.com/office/powerpoint/2010/main" val="3742452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A6671-A05A-AFCF-AC62-81B465C0C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602CA-7EB0-374E-0143-5D2F0AD4404C}"/>
              </a:ext>
            </a:extLst>
          </p:cNvPr>
          <p:cNvSpPr>
            <a:spLocks noGrp="1"/>
          </p:cNvSpPr>
          <p:nvPr>
            <p:ph type="title"/>
          </p:nvPr>
        </p:nvSpPr>
        <p:spPr>
          <a:xfrm>
            <a:off x="0" y="18255"/>
            <a:ext cx="12192000" cy="587801"/>
          </a:xfrm>
        </p:spPr>
        <p:txBody>
          <a:bodyPr>
            <a:normAutofit fontScale="90000"/>
          </a:bodyPr>
          <a:lstStyle/>
          <a:p>
            <a:r>
              <a:rPr lang="en-US" dirty="0" err="1"/>
              <a:t>pointTracker</a:t>
            </a:r>
            <a:endParaRPr lang="en-US" dirty="0"/>
          </a:p>
        </p:txBody>
      </p:sp>
      <p:sp>
        <p:nvSpPr>
          <p:cNvPr id="6" name="TextBox 5">
            <a:extLst>
              <a:ext uri="{FF2B5EF4-FFF2-40B4-BE49-F238E27FC236}">
                <a16:creationId xmlns:a16="http://schemas.microsoft.com/office/drawing/2014/main" id="{C733E953-8672-A4F7-F656-A9C840DA5E75}"/>
              </a:ext>
            </a:extLst>
          </p:cNvPr>
          <p:cNvSpPr txBox="1"/>
          <p:nvPr/>
        </p:nvSpPr>
        <p:spPr>
          <a:xfrm>
            <a:off x="745958" y="801515"/>
            <a:ext cx="8867274" cy="646331"/>
          </a:xfrm>
          <a:prstGeom prst="rect">
            <a:avLst/>
          </a:prstGeom>
          <a:noFill/>
        </p:spPr>
        <p:txBody>
          <a:bodyPr wrap="square">
            <a:spAutoFit/>
          </a:bodyPr>
          <a:lstStyle/>
          <a:p>
            <a:pPr marL="342900" lvl="0" indent="-342900">
              <a:buFont typeface="Arial" panose="020B0604020202020204" pitchFamily="34" charset="0"/>
              <a:buChar char="•"/>
            </a:pPr>
            <a:r>
              <a:rPr lang="en-US" b="1" dirty="0"/>
              <a:t>Main Project Repository:</a:t>
            </a:r>
            <a:r>
              <a:rPr lang="en-US" dirty="0"/>
              <a:t> </a:t>
            </a:r>
            <a:r>
              <a:rPr lang="en-US" dirty="0">
                <a:hlinkClick r:id="rId2"/>
              </a:rPr>
              <a:t>github.com/opentrack/opentrack</a:t>
            </a:r>
            <a:endParaRPr lang="en-US" dirty="0"/>
          </a:p>
          <a:p>
            <a:pPr marL="342900" lvl="0" indent="-342900">
              <a:buFont typeface="Arial" panose="020B0604020202020204" pitchFamily="34" charset="0"/>
              <a:buChar char="•"/>
            </a:pPr>
            <a:r>
              <a:rPr lang="en-US" b="1" dirty="0" err="1"/>
              <a:t>PointTracker</a:t>
            </a:r>
            <a:r>
              <a:rPr lang="en-US" b="1" dirty="0"/>
              <a:t> Source Code Subdirectory:</a:t>
            </a:r>
            <a:r>
              <a:rPr lang="en-US" dirty="0"/>
              <a:t> </a:t>
            </a:r>
            <a:r>
              <a:rPr lang="en-US" dirty="0">
                <a:hlinkClick r:id="rId3"/>
              </a:rPr>
              <a:t>opentrack/tracker-pt</a:t>
            </a:r>
            <a:endParaRPr lang="en-US" dirty="0"/>
          </a:p>
        </p:txBody>
      </p:sp>
      <p:sp>
        <p:nvSpPr>
          <p:cNvPr id="8" name="TextBox 7">
            <a:extLst>
              <a:ext uri="{FF2B5EF4-FFF2-40B4-BE49-F238E27FC236}">
                <a16:creationId xmlns:a16="http://schemas.microsoft.com/office/drawing/2014/main" id="{5A1D4E4A-BF75-CDF3-F5E1-1BEBA57C514B}"/>
              </a:ext>
            </a:extLst>
          </p:cNvPr>
          <p:cNvSpPr txBox="1"/>
          <p:nvPr/>
        </p:nvSpPr>
        <p:spPr>
          <a:xfrm>
            <a:off x="1094873" y="1920452"/>
            <a:ext cx="9577138" cy="646331"/>
          </a:xfrm>
          <a:prstGeom prst="rect">
            <a:avLst/>
          </a:prstGeom>
          <a:noFill/>
        </p:spPr>
        <p:txBody>
          <a:bodyPr wrap="square">
            <a:spAutoFit/>
          </a:bodyPr>
          <a:lstStyle/>
          <a:p>
            <a:r>
              <a:rPr lang="en-US" b="1" dirty="0"/>
              <a:t>Pose Calculation (PnP Solver):</a:t>
            </a:r>
            <a:r>
              <a:rPr lang="en-US" dirty="0"/>
              <a:t> </a:t>
            </a:r>
            <a:r>
              <a:rPr lang="en-US" dirty="0">
                <a:latin typeface="+mn-lt"/>
              </a:rPr>
              <a:t>tracker-pt/</a:t>
            </a:r>
            <a:r>
              <a:rPr lang="en-US" dirty="0" err="1">
                <a:latin typeface="+mn-lt"/>
              </a:rPr>
              <a:t>ftnoir_tracker_pt.cpp</a:t>
            </a:r>
            <a:r>
              <a:rPr lang="en-US" dirty="0"/>
              <a:t> (takes the detected 2D points and calculates the 6-DoF pose against your specified model dimensions)</a:t>
            </a:r>
          </a:p>
        </p:txBody>
      </p:sp>
    </p:spTree>
    <p:extLst>
      <p:ext uri="{BB962C8B-B14F-4D97-AF65-F5344CB8AC3E}">
        <p14:creationId xmlns:p14="http://schemas.microsoft.com/office/powerpoint/2010/main" val="95818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24C92-3928-2D61-D5F9-6167C7670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D8C70-05D6-2944-CFFE-8D6A89C11283}"/>
              </a:ext>
            </a:extLst>
          </p:cNvPr>
          <p:cNvSpPr>
            <a:spLocks noGrp="1"/>
          </p:cNvSpPr>
          <p:nvPr>
            <p:ph type="title"/>
          </p:nvPr>
        </p:nvSpPr>
        <p:spPr>
          <a:xfrm>
            <a:off x="0" y="18255"/>
            <a:ext cx="12192000" cy="587801"/>
          </a:xfrm>
        </p:spPr>
        <p:txBody>
          <a:bodyPr>
            <a:normAutofit fontScale="90000"/>
          </a:bodyPr>
          <a:lstStyle/>
          <a:p>
            <a:r>
              <a:rPr lang="en-US" dirty="0"/>
              <a:t>LED Response</a:t>
            </a:r>
          </a:p>
        </p:txBody>
      </p:sp>
      <p:sp>
        <p:nvSpPr>
          <p:cNvPr id="4" name="TextBox 3">
            <a:extLst>
              <a:ext uri="{FF2B5EF4-FFF2-40B4-BE49-F238E27FC236}">
                <a16:creationId xmlns:a16="http://schemas.microsoft.com/office/drawing/2014/main" id="{5BC827EC-2A3B-3EC8-0DF5-89921C297220}"/>
              </a:ext>
            </a:extLst>
          </p:cNvPr>
          <p:cNvSpPr txBox="1"/>
          <p:nvPr/>
        </p:nvSpPr>
        <p:spPr>
          <a:xfrm>
            <a:off x="737616" y="906518"/>
            <a:ext cx="6205728" cy="369332"/>
          </a:xfrm>
          <a:prstGeom prst="rect">
            <a:avLst/>
          </a:prstGeom>
          <a:noFill/>
        </p:spPr>
        <p:txBody>
          <a:bodyPr wrap="square">
            <a:spAutoFit/>
          </a:bodyPr>
          <a:lstStyle/>
          <a:p>
            <a:r>
              <a:rPr lang="en-US" dirty="0"/>
              <a:t>Input Adapter → </a:t>
            </a:r>
            <a:r>
              <a:rPr lang="en-US" dirty="0" err="1"/>
              <a:t>LEDResponseController</a:t>
            </a:r>
            <a:r>
              <a:rPr lang="en-US" dirty="0"/>
              <a:t> → Output Adapter</a:t>
            </a:r>
          </a:p>
        </p:txBody>
      </p:sp>
      <p:sp>
        <p:nvSpPr>
          <p:cNvPr id="6" name="TextBox 5">
            <a:extLst>
              <a:ext uri="{FF2B5EF4-FFF2-40B4-BE49-F238E27FC236}">
                <a16:creationId xmlns:a16="http://schemas.microsoft.com/office/drawing/2014/main" id="{72487D25-7942-30E7-933A-BEB798BFDB82}"/>
              </a:ext>
            </a:extLst>
          </p:cNvPr>
          <p:cNvSpPr txBox="1"/>
          <p:nvPr/>
        </p:nvSpPr>
        <p:spPr>
          <a:xfrm>
            <a:off x="737616" y="1663899"/>
            <a:ext cx="2493264" cy="2585323"/>
          </a:xfrm>
          <a:prstGeom prst="rect">
            <a:avLst/>
          </a:prstGeom>
          <a:noFill/>
        </p:spPr>
        <p:txBody>
          <a:bodyPr wrap="square">
            <a:spAutoFit/>
          </a:bodyPr>
          <a:lstStyle/>
          <a:p>
            <a:r>
              <a:rPr lang="en-US" dirty="0"/>
              <a:t>Raw Wii orientation</a:t>
            </a:r>
          </a:p>
          <a:p>
            <a:r>
              <a:rPr lang="en-US" dirty="0"/>
              <a:t>        ↓</a:t>
            </a:r>
          </a:p>
          <a:p>
            <a:r>
              <a:rPr lang="en-US" dirty="0"/>
              <a:t>Set Zero Reference</a:t>
            </a:r>
          </a:p>
          <a:p>
            <a:r>
              <a:rPr lang="en-US" dirty="0"/>
              <a:t>        ↓</a:t>
            </a:r>
          </a:p>
          <a:p>
            <a:r>
              <a:rPr lang="en-US" dirty="0"/>
              <a:t>Relative angle</a:t>
            </a:r>
          </a:p>
          <a:p>
            <a:r>
              <a:rPr lang="en-US" dirty="0"/>
              <a:t>        ↓</a:t>
            </a:r>
          </a:p>
          <a:p>
            <a:r>
              <a:rPr lang="en-US" dirty="0"/>
              <a:t>Response azimuth</a:t>
            </a:r>
          </a:p>
          <a:p>
            <a:r>
              <a:rPr lang="en-US" dirty="0"/>
              <a:t>        ↓</a:t>
            </a:r>
          </a:p>
          <a:p>
            <a:r>
              <a:rPr lang="en-US" dirty="0"/>
              <a:t>LED index</a:t>
            </a:r>
          </a:p>
        </p:txBody>
      </p:sp>
      <p:sp>
        <p:nvSpPr>
          <p:cNvPr id="8" name="TextBox 7">
            <a:extLst>
              <a:ext uri="{FF2B5EF4-FFF2-40B4-BE49-F238E27FC236}">
                <a16:creationId xmlns:a16="http://schemas.microsoft.com/office/drawing/2014/main" id="{71C3E663-0A18-F0C3-E620-87136088A639}"/>
              </a:ext>
            </a:extLst>
          </p:cNvPr>
          <p:cNvSpPr txBox="1"/>
          <p:nvPr/>
        </p:nvSpPr>
        <p:spPr>
          <a:xfrm>
            <a:off x="7943088" y="1705464"/>
            <a:ext cx="3212592" cy="1754326"/>
          </a:xfrm>
          <a:prstGeom prst="rect">
            <a:avLst/>
          </a:prstGeom>
          <a:noFill/>
        </p:spPr>
        <p:txBody>
          <a:bodyPr wrap="square">
            <a:spAutoFit/>
          </a:bodyPr>
          <a:lstStyle/>
          <a:p>
            <a:r>
              <a:rPr lang="en-US" dirty="0"/>
              <a:t>Raw orientation at center = 87°</a:t>
            </a:r>
          </a:p>
          <a:p>
            <a:r>
              <a:rPr lang="en-US" dirty="0"/>
              <a:t>User presses Set Zero</a:t>
            </a:r>
          </a:p>
          <a:p>
            <a:endParaRPr lang="en-US" dirty="0"/>
          </a:p>
          <a:p>
            <a:r>
              <a:rPr lang="en-US" dirty="0"/>
              <a:t>87° → response 0°</a:t>
            </a:r>
          </a:p>
          <a:p>
            <a:r>
              <a:rPr lang="en-US" dirty="0"/>
              <a:t>117° → response +30°</a:t>
            </a:r>
          </a:p>
          <a:p>
            <a:r>
              <a:rPr lang="en-US" dirty="0"/>
              <a:t>57° → response -30°</a:t>
            </a:r>
          </a:p>
        </p:txBody>
      </p:sp>
      <p:sp>
        <p:nvSpPr>
          <p:cNvPr id="10" name="TextBox 9">
            <a:extLst>
              <a:ext uri="{FF2B5EF4-FFF2-40B4-BE49-F238E27FC236}">
                <a16:creationId xmlns:a16="http://schemas.microsoft.com/office/drawing/2014/main" id="{50102CF9-226C-CDA9-C434-179F2FD4BE16}"/>
              </a:ext>
            </a:extLst>
          </p:cNvPr>
          <p:cNvSpPr txBox="1"/>
          <p:nvPr/>
        </p:nvSpPr>
        <p:spPr>
          <a:xfrm>
            <a:off x="5614416" y="5351317"/>
            <a:ext cx="6205728" cy="1200329"/>
          </a:xfrm>
          <a:prstGeom prst="rect">
            <a:avLst/>
          </a:prstGeom>
          <a:noFill/>
        </p:spPr>
        <p:txBody>
          <a:bodyPr wrap="square">
            <a:spAutoFit/>
          </a:bodyPr>
          <a:lstStyle/>
          <a:p>
            <a:r>
              <a:rPr lang="en-US" dirty="0"/>
              <a:t>the Wii Remote works once connected, but Windows Bluetooth pairing/reconnection is still inconsistent, so connection handling is one of the things that needs improvement </a:t>
            </a:r>
          </a:p>
        </p:txBody>
      </p:sp>
    </p:spTree>
    <p:extLst>
      <p:ext uri="{BB962C8B-B14F-4D97-AF65-F5344CB8AC3E}">
        <p14:creationId xmlns:p14="http://schemas.microsoft.com/office/powerpoint/2010/main" val="3629318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86EE4-E5DC-43B5-E064-58B21B1C4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18A8B-98C7-AAD4-4ADC-501887777473}"/>
              </a:ext>
            </a:extLst>
          </p:cNvPr>
          <p:cNvSpPr>
            <a:spLocks noGrp="1"/>
          </p:cNvSpPr>
          <p:nvPr>
            <p:ph type="title"/>
          </p:nvPr>
        </p:nvSpPr>
        <p:spPr>
          <a:xfrm>
            <a:off x="0" y="18255"/>
            <a:ext cx="12192000" cy="587801"/>
          </a:xfrm>
        </p:spPr>
        <p:txBody>
          <a:bodyPr>
            <a:normAutofit fontScale="90000"/>
          </a:bodyPr>
          <a:lstStyle/>
          <a:p>
            <a:r>
              <a:rPr lang="en-US" dirty="0"/>
              <a:t>Workflow</a:t>
            </a:r>
          </a:p>
        </p:txBody>
      </p:sp>
      <p:sp>
        <p:nvSpPr>
          <p:cNvPr id="4" name="TextBox 3">
            <a:extLst>
              <a:ext uri="{FF2B5EF4-FFF2-40B4-BE49-F238E27FC236}">
                <a16:creationId xmlns:a16="http://schemas.microsoft.com/office/drawing/2014/main" id="{77DA0718-939E-4523-B84D-DB614629FC1F}"/>
              </a:ext>
            </a:extLst>
          </p:cNvPr>
          <p:cNvSpPr txBox="1"/>
          <p:nvPr/>
        </p:nvSpPr>
        <p:spPr>
          <a:xfrm>
            <a:off x="2810256" y="376437"/>
            <a:ext cx="6205728" cy="6463308"/>
          </a:xfrm>
          <a:prstGeom prst="rect">
            <a:avLst/>
          </a:prstGeom>
          <a:noFill/>
        </p:spPr>
        <p:txBody>
          <a:bodyPr wrap="square">
            <a:spAutoFit/>
          </a:bodyPr>
          <a:lstStyle/>
          <a:p>
            <a:r>
              <a:rPr lang="en-US" dirty="0" err="1"/>
              <a:t>LEDResponseCore</a:t>
            </a:r>
            <a:r>
              <a:rPr lang="en-US" dirty="0"/>
              <a:t> V1.2.0</a:t>
            </a:r>
          </a:p>
          <a:p>
            <a:r>
              <a:rPr lang="en-US" dirty="0"/>
              <a:t>        ↓</a:t>
            </a:r>
          </a:p>
          <a:p>
            <a:r>
              <a:rPr lang="en-US" dirty="0"/>
              <a:t>Show physical LED/Arduino setup</a:t>
            </a:r>
          </a:p>
          <a:p>
            <a:r>
              <a:rPr lang="en-US" dirty="0"/>
              <a:t>        ↓</a:t>
            </a:r>
          </a:p>
          <a:p>
            <a:r>
              <a:rPr lang="en-US" dirty="0"/>
              <a:t>Keyboard control</a:t>
            </a:r>
          </a:p>
          <a:p>
            <a:r>
              <a:rPr lang="en-US" dirty="0"/>
              <a:t>        ↓</a:t>
            </a:r>
          </a:p>
          <a:p>
            <a:r>
              <a:rPr lang="en-US" dirty="0"/>
              <a:t>Show modular architecture</a:t>
            </a:r>
          </a:p>
          <a:p>
            <a:r>
              <a:rPr lang="en-US" dirty="0"/>
              <a:t>        ↓</a:t>
            </a:r>
          </a:p>
          <a:p>
            <a:r>
              <a:rPr lang="en-US" dirty="0"/>
              <a:t>Wii Remote connection</a:t>
            </a:r>
          </a:p>
          <a:p>
            <a:r>
              <a:rPr lang="en-US" dirty="0"/>
              <a:t>        ↓</a:t>
            </a:r>
          </a:p>
          <a:p>
            <a:r>
              <a:rPr lang="en-US" dirty="0"/>
              <a:t>Wheel mode</a:t>
            </a:r>
          </a:p>
          <a:p>
            <a:r>
              <a:rPr lang="en-US" dirty="0"/>
              <a:t>        ↓</a:t>
            </a:r>
          </a:p>
          <a:p>
            <a:r>
              <a:rPr lang="en-US" dirty="0"/>
              <a:t>Set Zero Reference</a:t>
            </a:r>
          </a:p>
          <a:p>
            <a:r>
              <a:rPr lang="en-US" dirty="0"/>
              <a:t>        ↓</a:t>
            </a:r>
          </a:p>
          <a:p>
            <a:r>
              <a:rPr lang="en-US" dirty="0"/>
              <a:t>Rotate left / center / right</a:t>
            </a:r>
          </a:p>
          <a:p>
            <a:r>
              <a:rPr lang="en-US" dirty="0"/>
              <a:t>        ↓</a:t>
            </a:r>
          </a:p>
          <a:p>
            <a:r>
              <a:rPr lang="en-US" dirty="0"/>
              <a:t>Show corresponding LEDs / azimuth</a:t>
            </a:r>
          </a:p>
          <a:p>
            <a:r>
              <a:rPr lang="en-US" dirty="0"/>
              <a:t>        ↓</a:t>
            </a:r>
          </a:p>
          <a:p>
            <a:r>
              <a:rPr lang="en-US" dirty="0"/>
              <a:t>Briefly show experimental free-pointing mode</a:t>
            </a:r>
          </a:p>
          <a:p>
            <a:r>
              <a:rPr lang="en-US" dirty="0"/>
              <a:t>        ↓</a:t>
            </a:r>
          </a:p>
          <a:p>
            <a:r>
              <a:rPr lang="en-US" dirty="0"/>
              <a:t>Discuss limitations</a:t>
            </a:r>
          </a:p>
          <a:p>
            <a:r>
              <a:rPr lang="en-US" dirty="0"/>
              <a:t>        ↓</a:t>
            </a:r>
          </a:p>
          <a:p>
            <a:r>
              <a:rPr lang="en-US" dirty="0"/>
              <a:t>Ask for requirements / next-phase direction</a:t>
            </a:r>
          </a:p>
        </p:txBody>
      </p:sp>
    </p:spTree>
    <p:extLst>
      <p:ext uri="{BB962C8B-B14F-4D97-AF65-F5344CB8AC3E}">
        <p14:creationId xmlns:p14="http://schemas.microsoft.com/office/powerpoint/2010/main" val="1292806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3DEF8-02E1-4097-03CF-ADD93551E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08C8D-5ACE-2839-1DB1-BA509AD5ABFC}"/>
              </a:ext>
            </a:extLst>
          </p:cNvPr>
          <p:cNvSpPr>
            <a:spLocks noGrp="1"/>
          </p:cNvSpPr>
          <p:nvPr>
            <p:ph type="title"/>
          </p:nvPr>
        </p:nvSpPr>
        <p:spPr>
          <a:xfrm>
            <a:off x="0" y="18255"/>
            <a:ext cx="12192000" cy="587801"/>
          </a:xfrm>
        </p:spPr>
        <p:txBody>
          <a:bodyPr>
            <a:normAutofit fontScale="90000"/>
          </a:bodyPr>
          <a:lstStyle/>
          <a:p>
            <a:r>
              <a:rPr lang="en-US" dirty="0" err="1"/>
              <a:t>Main.py</a:t>
            </a:r>
            <a:endParaRPr lang="en-US" dirty="0"/>
          </a:p>
        </p:txBody>
      </p:sp>
    </p:spTree>
    <p:extLst>
      <p:ext uri="{BB962C8B-B14F-4D97-AF65-F5344CB8AC3E}">
        <p14:creationId xmlns:p14="http://schemas.microsoft.com/office/powerpoint/2010/main" val="1328439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427A5-30D7-5231-346C-BB17D1AFA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356DB-68DE-7E39-63A7-51208242363C}"/>
              </a:ext>
            </a:extLst>
          </p:cNvPr>
          <p:cNvSpPr>
            <a:spLocks noGrp="1"/>
          </p:cNvSpPr>
          <p:nvPr>
            <p:ph type="title"/>
          </p:nvPr>
        </p:nvSpPr>
        <p:spPr>
          <a:xfrm>
            <a:off x="0" y="18255"/>
            <a:ext cx="12192000" cy="587801"/>
          </a:xfrm>
        </p:spPr>
        <p:txBody>
          <a:bodyPr>
            <a:normAutofit fontScale="90000"/>
          </a:bodyPr>
          <a:lstStyle/>
          <a:p>
            <a:r>
              <a:rPr lang="en-US" dirty="0" err="1"/>
              <a:t>Main.py</a:t>
            </a:r>
            <a:endParaRPr lang="en-US" dirty="0"/>
          </a:p>
        </p:txBody>
      </p:sp>
    </p:spTree>
    <p:extLst>
      <p:ext uri="{BB962C8B-B14F-4D97-AF65-F5344CB8AC3E}">
        <p14:creationId xmlns:p14="http://schemas.microsoft.com/office/powerpoint/2010/main" val="3777777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AD416-CA09-C10D-983A-E989E87B6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419DF-EC1C-39D6-D3F8-2B9D2F779135}"/>
              </a:ext>
            </a:extLst>
          </p:cNvPr>
          <p:cNvSpPr>
            <a:spLocks noGrp="1"/>
          </p:cNvSpPr>
          <p:nvPr>
            <p:ph type="title"/>
          </p:nvPr>
        </p:nvSpPr>
        <p:spPr>
          <a:xfrm>
            <a:off x="0" y="18255"/>
            <a:ext cx="12192000" cy="587801"/>
          </a:xfrm>
        </p:spPr>
        <p:txBody>
          <a:bodyPr>
            <a:normAutofit fontScale="90000"/>
          </a:bodyPr>
          <a:lstStyle/>
          <a:p>
            <a:r>
              <a:rPr lang="en-US" dirty="0"/>
              <a:t>Ideas</a:t>
            </a:r>
          </a:p>
        </p:txBody>
      </p:sp>
      <p:sp>
        <p:nvSpPr>
          <p:cNvPr id="4" name="TextBox 3">
            <a:extLst>
              <a:ext uri="{FF2B5EF4-FFF2-40B4-BE49-F238E27FC236}">
                <a16:creationId xmlns:a16="http://schemas.microsoft.com/office/drawing/2014/main" id="{0989B220-98E6-A1DA-7B6C-15E50B151C77}"/>
              </a:ext>
            </a:extLst>
          </p:cNvPr>
          <p:cNvSpPr txBox="1"/>
          <p:nvPr/>
        </p:nvSpPr>
        <p:spPr>
          <a:xfrm>
            <a:off x="658368" y="946047"/>
            <a:ext cx="10911840" cy="2862322"/>
          </a:xfrm>
          <a:prstGeom prst="rect">
            <a:avLst/>
          </a:prstGeom>
          <a:noFill/>
        </p:spPr>
        <p:txBody>
          <a:bodyPr wrap="square">
            <a:spAutoFit/>
          </a:bodyPr>
          <a:lstStyle/>
          <a:p>
            <a:pPr marL="342900" lvl="0" indent="-342900">
              <a:buFont typeface="Arial" panose="020B0604020202020204" pitchFamily="34" charset="0"/>
              <a:buChar char="•"/>
            </a:pPr>
            <a:r>
              <a:rPr lang="en-US" dirty="0"/>
              <a:t>Should the participant response be </a:t>
            </a:r>
            <a:r>
              <a:rPr lang="en-US" b="1" dirty="0"/>
              <a:t>wheel-based</a:t>
            </a:r>
            <a:r>
              <a:rPr lang="en-US" dirty="0"/>
              <a:t>, </a:t>
            </a:r>
            <a:r>
              <a:rPr lang="en-US" b="1" dirty="0"/>
              <a:t>free pointing</a:t>
            </a:r>
            <a:r>
              <a:rPr lang="en-US" dirty="0"/>
              <a:t>, or should we continue supporting both? </a:t>
            </a:r>
          </a:p>
          <a:p>
            <a:pPr marL="342900" lvl="0" indent="-342900">
              <a:buFont typeface="Arial" panose="020B0604020202020204" pitchFamily="34" charset="0"/>
              <a:buChar char="•"/>
            </a:pPr>
            <a:r>
              <a:rPr lang="en-US" dirty="0"/>
              <a:t>Is the LED strip primarily participant feedback, experimenter feedback, or part of the actual response mechanism? </a:t>
            </a:r>
          </a:p>
          <a:p>
            <a:pPr marL="342900" lvl="0" indent="-342900">
              <a:buFont typeface="Arial" panose="020B0604020202020204" pitchFamily="34" charset="0"/>
              <a:buChar char="•"/>
            </a:pPr>
            <a:r>
              <a:rPr lang="en-US" dirty="0"/>
              <a:t>What angular range do we really need: </a:t>
            </a:r>
            <a:r>
              <a:rPr lang="en-US" dirty="0">
                <a:latin typeface="+mn-lt"/>
              </a:rPr>
              <a:t>±90°</a:t>
            </a:r>
            <a:r>
              <a:rPr lang="en-US" dirty="0"/>
              <a:t>, </a:t>
            </a:r>
            <a:r>
              <a:rPr lang="en-US" dirty="0">
                <a:latin typeface="+mn-lt"/>
              </a:rPr>
              <a:t>±120°</a:t>
            </a:r>
            <a:r>
              <a:rPr lang="en-US" dirty="0"/>
              <a:t>, </a:t>
            </a:r>
            <a:r>
              <a:rPr lang="en-US" dirty="0">
                <a:latin typeface="+mn-lt"/>
              </a:rPr>
              <a:t>±180°</a:t>
            </a:r>
            <a:r>
              <a:rPr lang="en-US" dirty="0"/>
              <a:t>, etc.? </a:t>
            </a:r>
          </a:p>
          <a:p>
            <a:pPr marL="342900" lvl="0" indent="-342900">
              <a:buFont typeface="Arial" panose="020B0604020202020204" pitchFamily="34" charset="0"/>
              <a:buChar char="•"/>
            </a:pPr>
            <a:r>
              <a:rPr lang="en-US" dirty="0"/>
              <a:t>How many speaker positions / LED positions should the final system represent? </a:t>
            </a:r>
          </a:p>
          <a:p>
            <a:pPr marL="342900" lvl="0" indent="-342900">
              <a:buFont typeface="Arial" panose="020B0604020202020204" pitchFamily="34" charset="0"/>
              <a:buChar char="•"/>
            </a:pPr>
            <a:r>
              <a:rPr lang="en-US" dirty="0"/>
              <a:t>Should responses be continuous azimuth values or snapped to speaker locations? </a:t>
            </a:r>
          </a:p>
          <a:p>
            <a:pPr marL="342900" lvl="0" indent="-342900">
              <a:buFont typeface="Arial" panose="020B0604020202020204" pitchFamily="34" charset="0"/>
              <a:buChar char="•"/>
            </a:pPr>
            <a:r>
              <a:rPr lang="en-US" dirty="0"/>
              <a:t>Should </a:t>
            </a:r>
            <a:r>
              <a:rPr lang="en-US" dirty="0" err="1"/>
              <a:t>LEDResponseCore</a:t>
            </a:r>
            <a:r>
              <a:rPr lang="en-US" dirty="0"/>
              <a:t> communicate directly with the experiment software, probably through </a:t>
            </a:r>
            <a:r>
              <a:rPr lang="en-US" b="1" dirty="0"/>
              <a:t>LSL</a:t>
            </a:r>
            <a:r>
              <a:rPr lang="en-US" dirty="0"/>
              <a:t>, rather than operate as a standalone tool? </a:t>
            </a:r>
          </a:p>
          <a:p>
            <a:pPr marL="342900" lvl="0" indent="-342900">
              <a:buFont typeface="Arial" panose="020B0604020202020204" pitchFamily="34" charset="0"/>
              <a:buChar char="•"/>
            </a:pPr>
            <a:r>
              <a:rPr lang="en-US" dirty="0"/>
              <a:t>Do we want Wii Remote to remain the target controller given the Bluetooth friction, or is it mainly useful for proving the interaction concept?</a:t>
            </a:r>
          </a:p>
        </p:txBody>
      </p:sp>
    </p:spTree>
    <p:extLst>
      <p:ext uri="{BB962C8B-B14F-4D97-AF65-F5344CB8AC3E}">
        <p14:creationId xmlns:p14="http://schemas.microsoft.com/office/powerpoint/2010/main" val="2637071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1173</TotalTime>
  <Words>1695</Words>
  <Application>Microsoft Macintosh PowerPoint</Application>
  <PresentationFormat>Widescreen</PresentationFormat>
  <Paragraphs>321</Paragraphs>
  <Slides>22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Helvetica</vt:lpstr>
      <vt:lpstr>Office Theme</vt:lpstr>
      <vt:lpstr>PowerPoint Presentation</vt:lpstr>
      <vt:lpstr>PowerPoint Presentation</vt:lpstr>
      <vt:lpstr>Camera Calibration</vt:lpstr>
      <vt:lpstr>Camera Calibration</vt:lpstr>
      <vt:lpstr>Camera Calibration</vt:lpstr>
      <vt:lpstr>After Calibration</vt:lpstr>
      <vt:lpstr>extrinsic calibration</vt:lpstr>
      <vt:lpstr>Recalibration? Or every session?</vt:lpstr>
      <vt:lpstr>Calibration Steps</vt:lpstr>
      <vt:lpstr>Calibration Steps (Continued)</vt:lpstr>
      <vt:lpstr>Main.py</vt:lpstr>
      <vt:lpstr>Main.py</vt:lpstr>
      <vt:lpstr>Main.py</vt:lpstr>
      <vt:lpstr>Main.py</vt:lpstr>
      <vt:lpstr>Response azimuth</vt:lpstr>
      <vt:lpstr>Mediapipe</vt:lpstr>
      <vt:lpstr>pointTracker</vt:lpstr>
      <vt:lpstr>LED Response</vt:lpstr>
      <vt:lpstr>Workflow</vt:lpstr>
      <vt:lpstr>Main.py</vt:lpstr>
      <vt:lpstr>Main.py</vt:lpstr>
      <vt:lpstr>Ideas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Jang, Won</dc:creator>
  <cp:lastModifiedBy>Jang, Won</cp:lastModifiedBy>
  <cp:revision>4</cp:revision>
  <dcterms:created xsi:type="dcterms:W3CDTF">2026-09-16T18:06:47Z</dcterms:created>
  <dcterms:modified xsi:type="dcterms:W3CDTF">2026-09-17T14:22:09Z</dcterms:modified>
</cp:coreProperties>
</file>